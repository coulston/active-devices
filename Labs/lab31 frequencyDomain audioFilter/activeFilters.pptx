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2" r:id="rId2"/>
    <p:sldId id="538" r:id="rId3"/>
    <p:sldId id="629" r:id="rId4"/>
    <p:sldId id="625" r:id="rId5"/>
    <p:sldId id="557" r:id="rId6"/>
    <p:sldId id="622" r:id="rId7"/>
    <p:sldId id="630" r:id="rId8"/>
    <p:sldId id="623" r:id="rId9"/>
    <p:sldId id="624" r:id="rId10"/>
    <p:sldId id="627" r:id="rId11"/>
    <p:sldId id="621" r:id="rId12"/>
    <p:sldId id="626" r:id="rId13"/>
    <p:sldId id="628" r:id="rId14"/>
    <p:sldId id="6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6058" autoAdjust="0"/>
  </p:normalViewPr>
  <p:slideViewPr>
    <p:cSldViewPr snapToGrid="0" snapToObjects="1">
      <p:cViewPr varScale="1">
        <p:scale>
          <a:sx n="112" d="100"/>
          <a:sy n="11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31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69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29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03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95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70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6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75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71" y="1661652"/>
            <a:ext cx="10803672" cy="1300983"/>
          </a:xfrm>
        </p:spPr>
        <p:txBody>
          <a:bodyPr>
            <a:normAutofit/>
          </a:bodyPr>
          <a:lstStyle/>
          <a:p>
            <a:r>
              <a:rPr lang="en-US" dirty="0"/>
              <a:t>EENG 385</a:t>
            </a:r>
            <a:br>
              <a:rPr lang="en-US" dirty="0"/>
            </a:br>
            <a:r>
              <a:rPr lang="en-US" dirty="0"/>
              <a:t>Filter Design: Assembly through Test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Lab Assistant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4175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The EENG 385 lab assistant position pays 4-hours a week.  Responsibilities of a lab assistant include:</a:t>
            </a:r>
          </a:p>
          <a:p>
            <a:r>
              <a:rPr lang="en-US" dirty="0"/>
              <a:t>Attending a 4-hour EE Lab Assistant training event at the start of the term,</a:t>
            </a:r>
          </a:p>
          <a:p>
            <a:r>
              <a:rPr lang="en-US" dirty="0"/>
              <a:t>Working with another undergraduate lab assistant to run the lab.  This includes helping students:</a:t>
            </a:r>
          </a:p>
          <a:p>
            <a:pPr lvl="1"/>
            <a:r>
              <a:rPr lang="en-US" dirty="0"/>
              <a:t>Troubleshoot circuits,</a:t>
            </a:r>
          </a:p>
          <a:p>
            <a:pPr lvl="1"/>
            <a:r>
              <a:rPr lang="en-US" dirty="0"/>
              <a:t>Interpreting lab instructions,</a:t>
            </a:r>
          </a:p>
          <a:p>
            <a:pPr lvl="1"/>
            <a:r>
              <a:rPr lang="en-US" dirty="0"/>
              <a:t>Configuring test and measurement equipment</a:t>
            </a:r>
          </a:p>
          <a:p>
            <a:pPr lvl="1"/>
            <a:r>
              <a:rPr lang="en-US" dirty="0"/>
              <a:t>Working with the software</a:t>
            </a:r>
          </a:p>
          <a:p>
            <a:r>
              <a:rPr lang="en-US" dirty="0"/>
              <a:t>Introducing the lab at the start of the class,</a:t>
            </a:r>
          </a:p>
          <a:p>
            <a:r>
              <a:rPr lang="en-US" dirty="0"/>
              <a:t>Grading the weekly lab deliverables and entering the grades in Canvas,</a:t>
            </a:r>
          </a:p>
          <a:p>
            <a:r>
              <a:rPr lang="en-US" dirty="0"/>
              <a:t>Spending 30 minutes reviewing the lab materials,</a:t>
            </a:r>
          </a:p>
          <a:p>
            <a:r>
              <a:rPr lang="en-US" dirty="0"/>
              <a:t>Meeting 30 minutes a week with the course instructor to review the lab.</a:t>
            </a:r>
          </a:p>
          <a:p>
            <a:pPr marL="0" indent="0">
              <a:buNone/>
            </a:pPr>
            <a:r>
              <a:rPr lang="en-US" dirty="0"/>
              <a:t>This is a great way to both learn the materials and develop teamwork, leadership </a:t>
            </a:r>
          </a:p>
          <a:p>
            <a:pPr marL="0" indent="0">
              <a:buNone/>
            </a:pPr>
            <a:r>
              <a:rPr lang="en-US" dirty="0"/>
              <a:t>and communication skills. </a:t>
            </a:r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objective of this lab is to study the design, simulation and construction of the filters on the audio board and measure their performance.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11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Audio Board has 3 filters</a:t>
            </a:r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LPF and HPF are </a:t>
            </a:r>
            <a:r>
              <a:rPr lang="en-US" sz="2800" dirty="0" err="1"/>
              <a:t>Sallen</a:t>
            </a:r>
            <a:r>
              <a:rPr lang="en-US" sz="2800" dirty="0"/>
              <a:t> Key architecture</a:t>
            </a:r>
          </a:p>
          <a:p>
            <a:r>
              <a:rPr lang="en-US" sz="2800" dirty="0"/>
              <a:t>BPF is hybrid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04A5D-F419-5057-85F9-021EFD7BDE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302" y="2336924"/>
            <a:ext cx="7984492" cy="15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1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sz="2800" dirty="0"/>
              <a:t>Sine wave input produces sine wave output</a:t>
            </a:r>
          </a:p>
          <a:p>
            <a:r>
              <a:rPr lang="en-US" sz="2800" dirty="0"/>
              <a:t>Frequency is preserved</a:t>
            </a:r>
          </a:p>
          <a:p>
            <a:r>
              <a:rPr lang="en-US" sz="2800" dirty="0"/>
              <a:t>Amplitude and Phase change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85986-0550-FA22-6049-A3B94DC2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39" y="3296590"/>
            <a:ext cx="5465594" cy="26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sz="2800" dirty="0"/>
              <a:t>Using the Audio Board Interface</a:t>
            </a:r>
          </a:p>
          <a:p>
            <a:r>
              <a:rPr lang="en-US" sz="2800" dirty="0"/>
              <a:t>Use the Analog Devices Wizard </a:t>
            </a:r>
          </a:p>
          <a:p>
            <a:r>
              <a:rPr lang="en-US" sz="2800" dirty="0"/>
              <a:t>Simulation: LTspice Time Domain</a:t>
            </a:r>
          </a:p>
          <a:p>
            <a:r>
              <a:rPr lang="en-US" sz="2800" dirty="0"/>
              <a:t>Simulation: LTspice Frequency Sweep</a:t>
            </a:r>
          </a:p>
          <a:p>
            <a:r>
              <a:rPr lang="en-US" sz="2800" dirty="0"/>
              <a:t>Circuit: Time Domain</a:t>
            </a:r>
          </a:p>
          <a:p>
            <a:r>
              <a:rPr lang="en-US" sz="2800" dirty="0"/>
              <a:t>Circuit: Frequency Response Analysis</a:t>
            </a:r>
          </a:p>
        </p:txBody>
      </p:sp>
    </p:spTree>
    <p:extLst>
      <p:ext uri="{BB962C8B-B14F-4D97-AF65-F5344CB8AC3E}">
        <p14:creationId xmlns:p14="http://schemas.microsoft.com/office/powerpoint/2010/main" val="1184289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C8DC-2AF6-2FFD-C860-0399D6C9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Audio Board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08AC9-FA4A-1FF2-E257-3E23DD2E9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filter is connected to an input and output header.</a:t>
            </a:r>
          </a:p>
          <a:p>
            <a:r>
              <a:rPr lang="en-US" dirty="0"/>
              <a:t>Labeled on the  PCB</a:t>
            </a:r>
          </a:p>
          <a:p>
            <a:r>
              <a:rPr lang="en-US" dirty="0"/>
              <a:t>Daisy chain signals</a:t>
            </a:r>
          </a:p>
          <a:p>
            <a:pPr lvl="1"/>
            <a:r>
              <a:rPr lang="en-US" dirty="0"/>
              <a:t>Connect Signal input to </a:t>
            </a:r>
            <a:r>
              <a:rPr lang="en-US" dirty="0" err="1"/>
              <a:t>LEVEL</a:t>
            </a:r>
            <a:r>
              <a:rPr lang="en-US" baseline="-25000" dirty="0" err="1"/>
              <a:t>in</a:t>
            </a:r>
            <a:endParaRPr lang="en-US" baseline="-25000" dirty="0"/>
          </a:p>
          <a:p>
            <a:pPr lvl="1"/>
            <a:r>
              <a:rPr lang="en-US" dirty="0"/>
              <a:t>Connect </a:t>
            </a:r>
            <a:r>
              <a:rPr lang="en-US" dirty="0" err="1"/>
              <a:t>LEVEL</a:t>
            </a:r>
            <a:r>
              <a:rPr lang="en-US" baseline="-25000" dirty="0" err="1"/>
              <a:t>out</a:t>
            </a:r>
            <a:r>
              <a:rPr lang="en-US" dirty="0"/>
              <a:t> to </a:t>
            </a:r>
            <a:r>
              <a:rPr lang="en-US" dirty="0" err="1"/>
              <a:t>LPF</a:t>
            </a:r>
            <a:r>
              <a:rPr lang="en-US" baseline="-25000" dirty="0" err="1"/>
              <a:t>in</a:t>
            </a:r>
            <a:endParaRPr lang="en-US" baseline="-25000" dirty="0"/>
          </a:p>
          <a:p>
            <a:pPr lvl="1"/>
            <a:r>
              <a:rPr lang="en-US" dirty="0"/>
              <a:t>Connect </a:t>
            </a:r>
            <a:r>
              <a:rPr lang="en-US" dirty="0" err="1"/>
              <a:t>LPF</a:t>
            </a:r>
            <a:r>
              <a:rPr lang="en-US" baseline="-25000" dirty="0" err="1"/>
              <a:t>out</a:t>
            </a:r>
            <a:r>
              <a:rPr lang="en-US" dirty="0"/>
              <a:t> to audio header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B7729C-20D7-8050-6099-040170F7D9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080" y="2345635"/>
            <a:ext cx="4883585" cy="347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53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to: Analog Devices Wizard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Specify filter performance, </a:t>
            </a:r>
            <a:r>
              <a:rPr lang="en-US" b="1" u="sng" dirty="0"/>
              <a:t>use RC slider to get decade caps!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Get filter topology and component values.  Use E6 resistors!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96206B-C917-BBD7-CD11-A2AAB945C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45" y="2257340"/>
            <a:ext cx="4222955" cy="1643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0F4E10-A3D7-AFE5-A613-ED7559D0C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645" y="4332712"/>
            <a:ext cx="3569110" cy="171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4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to: LTspice Point-by-point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93235"/>
          </a:xfrm>
        </p:spPr>
        <p:txBody>
          <a:bodyPr>
            <a:normAutofit/>
          </a:bodyPr>
          <a:lstStyle/>
          <a:p>
            <a:r>
              <a:rPr lang="en-US" sz="2800" dirty="0"/>
              <a:t>Build model in LTspice</a:t>
            </a:r>
          </a:p>
          <a:p>
            <a:r>
              <a:rPr lang="en-US" sz="2800" dirty="0"/>
              <a:t>Apply sin wave at some frequency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Measure change in amplitude in dB</a:t>
            </a:r>
          </a:p>
          <a:p>
            <a:r>
              <a:rPr lang="en-US" sz="2800" dirty="0"/>
              <a:t>Measure change in phase in degrees</a:t>
            </a:r>
          </a:p>
          <a:p>
            <a:r>
              <a:rPr lang="en-US" sz="2800" dirty="0"/>
              <a:t>Plot dB and phase as a function of frequency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5E1C2C-BE2F-FB36-71D3-7E4DB2207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25" y="2880621"/>
            <a:ext cx="5946140" cy="133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8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to: LTspice Frequency Sweep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293235"/>
          </a:xfrm>
        </p:spPr>
        <p:txBody>
          <a:bodyPr>
            <a:normAutofit/>
          </a:bodyPr>
          <a:lstStyle/>
          <a:p>
            <a:r>
              <a:rPr lang="en-US" sz="2800" dirty="0"/>
              <a:t>Build model in LTspice</a:t>
            </a:r>
          </a:p>
          <a:p>
            <a:r>
              <a:rPr lang="en-US" sz="2800" dirty="0"/>
              <a:t>Use AC </a:t>
            </a:r>
            <a:r>
              <a:rPr lang="en-US" dirty="0"/>
              <a:t>Analysis</a:t>
            </a:r>
            <a:r>
              <a:rPr lang="en-US" sz="2800" dirty="0"/>
              <a:t> tool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Plot dB and phase as a function of frequency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BC033-6206-AF7E-58CD-F4D93FC7E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969" y="2749659"/>
            <a:ext cx="5465594" cy="26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47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to: Circuit Point-by-Point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3"/>
            <a:ext cx="10515600" cy="4026537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Assemble filter on Audio board</a:t>
            </a:r>
          </a:p>
          <a:p>
            <a:r>
              <a:rPr lang="en-US" sz="2800" dirty="0"/>
              <a:t>Apply sin wave at some frequency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Measure change in amplitude in dB</a:t>
            </a:r>
          </a:p>
          <a:p>
            <a:r>
              <a:rPr lang="en-US" sz="2800" dirty="0"/>
              <a:t>Measure change in phase in degrees</a:t>
            </a:r>
          </a:p>
          <a:p>
            <a:r>
              <a:rPr lang="en-US" sz="2800" dirty="0"/>
              <a:t>Plot dB and phase as a function of frequency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26D7BF-30ED-EDA6-0B7F-C089A6F02D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50" y="1690690"/>
            <a:ext cx="4491006" cy="2874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424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to: Circuit Frequency Sweep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3"/>
            <a:ext cx="10515600" cy="4026537"/>
          </a:xfrm>
        </p:spPr>
        <p:txBody>
          <a:bodyPr>
            <a:normAutofit/>
          </a:bodyPr>
          <a:lstStyle/>
          <a:p>
            <a:r>
              <a:rPr lang="en-US" sz="2800" dirty="0"/>
              <a:t>Configure Audio board</a:t>
            </a:r>
          </a:p>
          <a:p>
            <a:pPr lvl="1"/>
            <a:r>
              <a:rPr lang="en-US" dirty="0"/>
              <a:t>Function gen into level shifter</a:t>
            </a:r>
          </a:p>
          <a:p>
            <a:pPr lvl="1"/>
            <a:r>
              <a:rPr lang="en-US" dirty="0"/>
              <a:t>Level shift out to filter in</a:t>
            </a:r>
          </a:p>
          <a:p>
            <a:r>
              <a:rPr lang="en-US" sz="2800" dirty="0"/>
              <a:t>Configure oscilloscope probes</a:t>
            </a:r>
          </a:p>
          <a:p>
            <a:pPr lvl="1"/>
            <a:r>
              <a:rPr lang="en-US" dirty="0"/>
              <a:t>Ch 1 = filter input</a:t>
            </a:r>
          </a:p>
          <a:p>
            <a:pPr lvl="1"/>
            <a:r>
              <a:rPr lang="en-US" dirty="0"/>
              <a:t>Ch 2 = filter output</a:t>
            </a:r>
          </a:p>
          <a:p>
            <a:r>
              <a:rPr lang="en-US" sz="2800" dirty="0"/>
              <a:t>Use oscilloscope FRA function</a:t>
            </a:r>
          </a:p>
          <a:p>
            <a:r>
              <a:rPr lang="en-US" sz="2800" dirty="0"/>
              <a:t>Scope plots mag and phase as a function of frequency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75F0C-01C2-8320-41D8-736C735EA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780" y="1690689"/>
            <a:ext cx="4962207" cy="317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81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3"/>
            <a:ext cx="10515600" cy="4026537"/>
          </a:xfrm>
        </p:spPr>
        <p:txBody>
          <a:bodyPr>
            <a:normAutofit/>
          </a:bodyPr>
          <a:lstStyle/>
          <a:p>
            <a:r>
              <a:rPr lang="en-US" sz="2800" dirty="0"/>
              <a:t>Use Wizard to</a:t>
            </a:r>
          </a:p>
          <a:p>
            <a:pPr lvl="1"/>
            <a:r>
              <a:rPr lang="en-US" dirty="0"/>
              <a:t>Meet design requirements</a:t>
            </a:r>
          </a:p>
          <a:p>
            <a:pPr lvl="1"/>
            <a:r>
              <a:rPr lang="en-US" dirty="0"/>
              <a:t>Determine topology – should match PCB</a:t>
            </a:r>
          </a:p>
          <a:p>
            <a:pPr lvl="1"/>
            <a:r>
              <a:rPr lang="en-US" dirty="0"/>
              <a:t>Determine component values</a:t>
            </a:r>
          </a:p>
          <a:p>
            <a:pPr lvl="2"/>
            <a:r>
              <a:rPr lang="en-US" dirty="0"/>
              <a:t>Use E6 resistors 100, 150, 220, 330, 470, 680</a:t>
            </a:r>
          </a:p>
          <a:p>
            <a:pPr lvl="2"/>
            <a:r>
              <a:rPr lang="en-US" dirty="0"/>
              <a:t>Use E1 capacitors 1nF, 10nF, 100nF, 1uF,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If needed, </a:t>
            </a:r>
          </a:p>
          <a:p>
            <a:pPr lvl="2"/>
            <a:r>
              <a:rPr lang="en-US" dirty="0"/>
              <a:t>Put components in parallel to create needed values</a:t>
            </a:r>
          </a:p>
        </p:txBody>
      </p:sp>
    </p:spTree>
    <p:extLst>
      <p:ext uri="{BB962C8B-B14F-4D97-AF65-F5344CB8AC3E}">
        <p14:creationId xmlns:p14="http://schemas.microsoft.com/office/powerpoint/2010/main" val="62237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Level Shifter </a:t>
            </a:r>
          </a:p>
          <a:p>
            <a:pPr lvl="1"/>
            <a:r>
              <a:rPr lang="en-US" dirty="0"/>
              <a:t>Analysis</a:t>
            </a:r>
          </a:p>
          <a:p>
            <a:r>
              <a:rPr lang="en-US" dirty="0"/>
              <a:t>Low Pass Filter</a:t>
            </a:r>
          </a:p>
          <a:p>
            <a:pPr lvl="1"/>
            <a:r>
              <a:rPr lang="en-US" dirty="0"/>
              <a:t>Design using Wizard</a:t>
            </a:r>
          </a:p>
          <a:p>
            <a:pPr lvl="1"/>
            <a:r>
              <a:rPr lang="en-US" dirty="0"/>
              <a:t>Simulation analysis using point-by-point and FRA </a:t>
            </a:r>
          </a:p>
          <a:p>
            <a:pPr lvl="1"/>
            <a:r>
              <a:rPr lang="en-US" dirty="0"/>
              <a:t>Assemble and test using point-by-point and FRA</a:t>
            </a:r>
          </a:p>
          <a:p>
            <a:r>
              <a:rPr lang="en-US" dirty="0"/>
              <a:t>High Pass and Band Pass Filter</a:t>
            </a:r>
          </a:p>
          <a:p>
            <a:pPr lvl="1"/>
            <a:r>
              <a:rPr lang="en-US" dirty="0"/>
              <a:t>Design using Wizard</a:t>
            </a:r>
          </a:p>
          <a:p>
            <a:pPr lvl="1"/>
            <a:r>
              <a:rPr lang="en-US" dirty="0"/>
              <a:t>Assemble and test using FRA</a:t>
            </a:r>
          </a:p>
          <a:p>
            <a:pPr lvl="1"/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3367</TotalTime>
  <Words>649</Words>
  <Application>Microsoft Office PowerPoint</Application>
  <PresentationFormat>Widescreen</PresentationFormat>
  <Paragraphs>127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Gotham</vt:lpstr>
      <vt:lpstr>Gotham Book</vt:lpstr>
      <vt:lpstr>Office Theme</vt:lpstr>
      <vt:lpstr>EENG 385 Filter Design: Assembly through Test</vt:lpstr>
      <vt:lpstr>Taking Lab Assistant Applications</vt:lpstr>
      <vt:lpstr>Lab Objectives</vt:lpstr>
      <vt:lpstr>Theory</vt:lpstr>
      <vt:lpstr>Theory</vt:lpstr>
      <vt:lpstr>Lab Content</vt:lpstr>
      <vt:lpstr>Using the Audio Board Interface</vt:lpstr>
      <vt:lpstr>How to: Analog Devices Wizard </vt:lpstr>
      <vt:lpstr>How to: LTspice Point-by-point</vt:lpstr>
      <vt:lpstr>How to: LTspice Frequency Sweep</vt:lpstr>
      <vt:lpstr>How to: Circuit Point-by-Point</vt:lpstr>
      <vt:lpstr>How to: Circuit Frequency Sweep</vt:lpstr>
      <vt:lpstr>Assemble</vt:lpstr>
      <vt:lpstr>Turn 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Christopher Coulston</cp:lastModifiedBy>
  <cp:revision>105</cp:revision>
  <dcterms:created xsi:type="dcterms:W3CDTF">2017-08-01T15:06:47Z</dcterms:created>
  <dcterms:modified xsi:type="dcterms:W3CDTF">2026-07-21T19:31:18Z</dcterms:modified>
  <cp:category/>
</cp:coreProperties>
</file>