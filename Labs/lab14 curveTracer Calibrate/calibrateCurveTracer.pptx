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0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01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02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3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5D6616F-D320-4F2B-9642-147B21049BD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Usually the &lt;title of the lab&gt; is what will be called the “System” through the rest of this document</a:t>
            </a:r>
          </a:p>
        </p:txBody>
      </p:sp>
      <p:sp>
        <p:nvSpPr>
          <p:cNvPr id="13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8BCDDFA-B7D8-4675-BD31-77CFBA83E2D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CAC3B2-DB92-4A84-B30F-DCB2DE8C60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Replace &lt;System&gt; with the name of the </a:t>
            </a:r>
          </a:p>
        </p:txBody>
      </p:sp>
      <p:sp>
        <p:nvSpPr>
          <p:cNvPr id="14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516A008-F6D0-46C0-8D5E-7C583F93DB4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Replace &lt;System&gt; with the name of the </a:t>
            </a:r>
          </a:p>
        </p:txBody>
      </p:sp>
      <p:sp>
        <p:nvSpPr>
          <p:cNvPr id="14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46D651-3F86-463F-A907-C78359ECA96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Replace &lt;System&gt; with the name of the </a:t>
            </a:r>
          </a:p>
        </p:txBody>
      </p:sp>
      <p:sp>
        <p:nvSpPr>
          <p:cNvPr id="14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11AE12A-4015-4355-8069-7A050E735DB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Replace &lt;System&gt; with the name of the </a:t>
            </a:r>
          </a:p>
        </p:txBody>
      </p:sp>
      <p:sp>
        <p:nvSpPr>
          <p:cNvPr id="15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C4451D0-1E28-40FA-9B5F-716A596D68A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Replace &lt;System&gt; with the name of the </a:t>
            </a:r>
          </a:p>
        </p:txBody>
      </p:sp>
      <p:sp>
        <p:nvSpPr>
          <p:cNvPr id="155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6A7226-5E61-41CE-9891-DC473C5A2C0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Replace &lt;System&gt; with the name of the </a:t>
            </a:r>
          </a:p>
        </p:txBody>
      </p:sp>
      <p:sp>
        <p:nvSpPr>
          <p:cNvPr id="158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CEC707-C9B3-420B-9973-CE516E9C1E8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Replace &lt;System&gt; with the name of the </a:t>
            </a:r>
          </a:p>
        </p:txBody>
      </p:sp>
      <p:sp>
        <p:nvSpPr>
          <p:cNvPr id="161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164042-6049-4BF9-A72A-DFA0FB0FA4A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926A5F7-E83B-42E5-AABF-667D68677DD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5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1834920" y="171000"/>
            <a:ext cx="10356480" cy="582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Rectangle 20"/>
          <p:cNvSpPr/>
          <p:nvPr/>
        </p:nvSpPr>
        <p:spPr>
          <a:xfrm>
            <a:off x="-34200" y="0"/>
            <a:ext cx="12259800" cy="6265080"/>
          </a:xfrm>
          <a:prstGeom prst="rect">
            <a:avLst/>
          </a:prstGeom>
          <a:solidFill>
            <a:srgbClr val="21314D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7343F8C-565B-498B-B9D1-AF84212C3A2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‹#›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5" name="Straight Connector 13"/>
          <p:cNvCxnSpPr/>
          <p:nvPr/>
        </p:nvCxnSpPr>
        <p:spPr>
          <a:xfrm>
            <a:off x="520560" y="3286800"/>
            <a:ext cx="911520" cy="360"/>
          </a:xfrm>
          <a:prstGeom prst="straightConnector1">
            <a:avLst/>
          </a:prstGeom>
          <a:ln w="28575">
            <a:solidFill>
              <a:srgbClr val="D2492A"/>
            </a:solidFill>
          </a:ln>
        </p:spPr>
      </p:cxnSp>
      <p:pic>
        <p:nvPicPr>
          <p:cNvPr id="6" name="Picture 21"/>
          <p:cNvPicPr/>
          <p:nvPr/>
        </p:nvPicPr>
        <p:blipFill>
          <a:blip r:embed="rId3"/>
          <a:stretch/>
        </p:blipFill>
        <p:spPr>
          <a:xfrm>
            <a:off x="380880" y="6373080"/>
            <a:ext cx="3200040" cy="36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TextBox 22"/>
          <p:cNvSpPr/>
          <p:nvPr/>
        </p:nvSpPr>
        <p:spPr>
          <a:xfrm>
            <a:off x="7477920" y="6408000"/>
            <a:ext cx="44892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21314D"/>
                </a:solidFill>
                <a:effectLst/>
                <a:uFillTx/>
                <a:latin typeface="Gotham"/>
                <a:ea typeface="Gotham"/>
              </a:rPr>
              <a:t>MINES</a:t>
            </a:r>
            <a:r>
              <a:rPr lang="en-US" sz="1800" b="1" u="none" strike="noStrike">
                <a:solidFill>
                  <a:srgbClr val="D2492A"/>
                </a:solidFill>
                <a:effectLst/>
                <a:uFillTx/>
                <a:latin typeface="Gotham"/>
                <a:ea typeface="Gotham"/>
              </a:rPr>
              <a:t>.</a:t>
            </a:r>
            <a:r>
              <a:rPr lang="en-US" sz="1800" b="0" u="none" strike="noStrike">
                <a:solidFill>
                  <a:srgbClr val="92A2BD"/>
                </a:solidFill>
                <a:effectLst/>
                <a:uFillTx/>
                <a:latin typeface="Gotham Book"/>
                <a:ea typeface="Gotham Book"/>
              </a:rPr>
              <a:t>EDU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Picture 23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1834920" y="171000"/>
            <a:ext cx="10356480" cy="582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395280" y="2243520"/>
            <a:ext cx="10803240" cy="71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Presentation Title Goes Here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1" u="none" strike="noStrike">
                <a:solidFill>
                  <a:srgbClr val="21314D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6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45946F4-F3EA-43EB-8B24-1F74EE8DDBE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‹#›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Rectangle 8"/>
          <p:cNvSpPr/>
          <p:nvPr/>
        </p:nvSpPr>
        <p:spPr>
          <a:xfrm>
            <a:off x="-9720" y="6265440"/>
            <a:ext cx="12201480" cy="592200"/>
          </a:xfrm>
          <a:prstGeom prst="rect">
            <a:avLst/>
          </a:prstGeom>
          <a:solidFill>
            <a:srgbClr val="21314D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Box 10"/>
          <p:cNvSpPr/>
          <p:nvPr/>
        </p:nvSpPr>
        <p:spPr>
          <a:xfrm>
            <a:off x="7477920" y="6398640"/>
            <a:ext cx="44892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Gotham"/>
                <a:ea typeface="Gotham"/>
              </a:rPr>
              <a:t>MINES</a:t>
            </a:r>
            <a:r>
              <a:rPr lang="en-US" sz="1800" b="1" u="none" strike="noStrike">
                <a:solidFill>
                  <a:srgbClr val="D2492A"/>
                </a:solidFill>
                <a:effectLst/>
                <a:uFillTx/>
                <a:latin typeface="Gotham"/>
                <a:ea typeface="Gotham"/>
              </a:rPr>
              <a:t>.</a:t>
            </a:r>
            <a:r>
              <a:rPr lang="en-US" sz="1800" b="0" u="none" strike="noStrike">
                <a:solidFill>
                  <a:srgbClr val="92A2BD"/>
                </a:solidFill>
                <a:effectLst/>
                <a:uFillTx/>
                <a:latin typeface="Gotham Book"/>
                <a:ea typeface="Gotham Book"/>
              </a:rPr>
              <a:t>EDU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Picture 13"/>
          <p:cNvPicPr/>
          <p:nvPr/>
        </p:nvPicPr>
        <p:blipFill>
          <a:blip r:embed="rId2"/>
          <a:stretch/>
        </p:blipFill>
        <p:spPr>
          <a:xfrm>
            <a:off x="380880" y="6381360"/>
            <a:ext cx="3200040" cy="363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"/>
          <p:cNvSpPr/>
          <p:nvPr/>
        </p:nvSpPr>
        <p:spPr>
          <a:xfrm>
            <a:off x="-10080" y="-10080"/>
            <a:ext cx="5182920" cy="6942960"/>
          </a:xfrm>
          <a:prstGeom prst="rect">
            <a:avLst/>
          </a:prstGeom>
          <a:solidFill>
            <a:srgbClr val="21314D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0000" y="47232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Copy goes here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183280" y="0"/>
            <a:ext cx="700848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50000" y="207252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0" indent="-4572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Supporting text goes here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6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0E5232F-93D5-466C-87D2-94DBC47517D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‹#›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" name="Picture 11"/>
          <p:cNvPicPr/>
          <p:nvPr/>
        </p:nvPicPr>
        <p:blipFill>
          <a:blip r:embed="rId2"/>
          <a:stretch/>
        </p:blipFill>
        <p:spPr>
          <a:xfrm>
            <a:off x="380880" y="6381360"/>
            <a:ext cx="3200040" cy="363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21314D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2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A50D384-FA80-46ED-A05C-5A55EDBC5A7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‹#›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Rectangle 6"/>
          <p:cNvSpPr/>
          <p:nvPr/>
        </p:nvSpPr>
        <p:spPr>
          <a:xfrm>
            <a:off x="-10080" y="6265440"/>
            <a:ext cx="12201840" cy="601200"/>
          </a:xfrm>
          <a:prstGeom prst="rect">
            <a:avLst/>
          </a:prstGeom>
          <a:solidFill>
            <a:srgbClr val="21314D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" name="TextBox 11"/>
          <p:cNvSpPr/>
          <p:nvPr/>
        </p:nvSpPr>
        <p:spPr>
          <a:xfrm>
            <a:off x="7477920" y="6398640"/>
            <a:ext cx="44892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Gotham"/>
                <a:ea typeface="Gotham"/>
              </a:rPr>
              <a:t>MINES</a:t>
            </a:r>
            <a:r>
              <a:rPr lang="en-US" sz="1800" b="1" u="none" strike="noStrike">
                <a:solidFill>
                  <a:srgbClr val="D2492A"/>
                </a:solidFill>
                <a:effectLst/>
                <a:uFillTx/>
                <a:latin typeface="Gotham"/>
                <a:ea typeface="Gotham"/>
              </a:rPr>
              <a:t>.</a:t>
            </a:r>
            <a:r>
              <a:rPr lang="en-US" sz="1800" b="0" u="none" strike="noStrike">
                <a:solidFill>
                  <a:srgbClr val="92A2BD"/>
                </a:solidFill>
                <a:effectLst/>
                <a:uFillTx/>
                <a:latin typeface="Gotham Book"/>
                <a:ea typeface="Gotham Book"/>
              </a:rPr>
              <a:t>EDU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Picture 12"/>
          <p:cNvPicPr/>
          <p:nvPr/>
        </p:nvPicPr>
        <p:blipFill>
          <a:blip r:embed="rId2"/>
          <a:stretch/>
        </p:blipFill>
        <p:spPr>
          <a:xfrm>
            <a:off x="380880" y="6381360"/>
            <a:ext cx="3200040" cy="363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21314D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0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ACB7302-C3A8-4F6C-A4C4-BF52B73F975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‹#›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Rectangle 6"/>
          <p:cNvSpPr/>
          <p:nvPr/>
        </p:nvSpPr>
        <p:spPr>
          <a:xfrm>
            <a:off x="-10080" y="6265440"/>
            <a:ext cx="12201840" cy="601200"/>
          </a:xfrm>
          <a:prstGeom prst="rect">
            <a:avLst/>
          </a:prstGeom>
          <a:solidFill>
            <a:srgbClr val="21314D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" name="TextBox 11"/>
          <p:cNvSpPr/>
          <p:nvPr/>
        </p:nvSpPr>
        <p:spPr>
          <a:xfrm>
            <a:off x="7477920" y="6398640"/>
            <a:ext cx="44892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Gotham"/>
                <a:ea typeface="Gotham"/>
              </a:rPr>
              <a:t>MINES</a:t>
            </a:r>
            <a:r>
              <a:rPr lang="en-US" sz="1800" b="1" u="none" strike="noStrike">
                <a:solidFill>
                  <a:srgbClr val="D2492A"/>
                </a:solidFill>
                <a:effectLst/>
                <a:uFillTx/>
                <a:latin typeface="Gotham"/>
                <a:ea typeface="Gotham"/>
              </a:rPr>
              <a:t>.</a:t>
            </a:r>
            <a:r>
              <a:rPr lang="en-US" sz="1800" b="0" u="none" strike="noStrike">
                <a:solidFill>
                  <a:srgbClr val="92A2BD"/>
                </a:solidFill>
                <a:effectLst/>
                <a:uFillTx/>
                <a:latin typeface="Gotham Book"/>
                <a:ea typeface="Gotham Book"/>
              </a:rPr>
              <a:t>EDU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Picture 12"/>
          <p:cNvPicPr/>
          <p:nvPr/>
        </p:nvPicPr>
        <p:blipFill>
          <a:blip r:embed="rId2"/>
          <a:stretch/>
        </p:blipFill>
        <p:spPr>
          <a:xfrm>
            <a:off x="380880" y="6381360"/>
            <a:ext cx="3200040" cy="363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9"/>
          <p:cNvSpPr/>
          <p:nvPr/>
        </p:nvSpPr>
        <p:spPr>
          <a:xfrm>
            <a:off x="-9720" y="-9720"/>
            <a:ext cx="12201480" cy="6265080"/>
          </a:xfrm>
          <a:prstGeom prst="rect">
            <a:avLst/>
          </a:prstGeom>
          <a:solidFill>
            <a:srgbClr val="21314D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Section header goes here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92A2BD"/>
                </a:solidFill>
                <a:effectLst/>
                <a:uFillTx/>
                <a:latin typeface="Arial"/>
                <a:ea typeface="Arial"/>
              </a:rPr>
              <a:t>Section subhead goes here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9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0A81293-338B-4E01-BC92-672745C42A0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‹#›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" name="Picture 11"/>
          <p:cNvPicPr/>
          <p:nvPr/>
        </p:nvPicPr>
        <p:blipFill>
          <a:blip r:embed="rId2"/>
          <a:stretch/>
        </p:blipFill>
        <p:spPr>
          <a:xfrm>
            <a:off x="380880" y="6373080"/>
            <a:ext cx="3200040" cy="36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Box 12"/>
          <p:cNvSpPr/>
          <p:nvPr/>
        </p:nvSpPr>
        <p:spPr>
          <a:xfrm>
            <a:off x="7477920" y="6408000"/>
            <a:ext cx="44892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21314D"/>
                </a:solidFill>
                <a:effectLst/>
                <a:uFillTx/>
                <a:latin typeface="Gotham"/>
                <a:ea typeface="Gotham"/>
              </a:rPr>
              <a:t>MINES</a:t>
            </a:r>
            <a:r>
              <a:rPr lang="en-US" sz="1800" b="1" u="none" strike="noStrike">
                <a:solidFill>
                  <a:srgbClr val="D2492A"/>
                </a:solidFill>
                <a:effectLst/>
                <a:uFillTx/>
                <a:latin typeface="Gotham"/>
                <a:ea typeface="Gotham"/>
              </a:rPr>
              <a:t>.</a:t>
            </a:r>
            <a:r>
              <a:rPr lang="en-US" sz="1800" b="0" u="none" strike="noStrike">
                <a:solidFill>
                  <a:srgbClr val="92A2BD"/>
                </a:solidFill>
                <a:effectLst/>
                <a:uFillTx/>
                <a:latin typeface="Gotham Book"/>
                <a:ea typeface="Gotham Book"/>
              </a:rPr>
              <a:t>EDU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21314D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Rectangle 14"/>
          <p:cNvSpPr/>
          <p:nvPr/>
        </p:nvSpPr>
        <p:spPr>
          <a:xfrm>
            <a:off x="-9720" y="6265440"/>
            <a:ext cx="12201480" cy="601200"/>
          </a:xfrm>
          <a:prstGeom prst="rect">
            <a:avLst/>
          </a:prstGeom>
          <a:solidFill>
            <a:srgbClr val="21314D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7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DE391D8-63C4-4340-9AE7-0846A418A2D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‹#›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TextBox 13"/>
          <p:cNvSpPr/>
          <p:nvPr/>
        </p:nvSpPr>
        <p:spPr>
          <a:xfrm>
            <a:off x="7477920" y="6398640"/>
            <a:ext cx="44892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Gotham"/>
                <a:ea typeface="Gotham"/>
              </a:rPr>
              <a:t>MINES</a:t>
            </a:r>
            <a:r>
              <a:rPr lang="en-US" sz="1800" b="1" u="none" strike="noStrike">
                <a:solidFill>
                  <a:srgbClr val="D2492A"/>
                </a:solidFill>
                <a:effectLst/>
                <a:uFillTx/>
                <a:latin typeface="Gotham"/>
                <a:ea typeface="Gotham"/>
              </a:rPr>
              <a:t>.</a:t>
            </a:r>
            <a:r>
              <a:rPr lang="en-US" sz="1800" b="0" u="none" strike="noStrike">
                <a:solidFill>
                  <a:srgbClr val="92A2BD"/>
                </a:solidFill>
                <a:effectLst/>
                <a:uFillTx/>
                <a:latin typeface="Gotham Book"/>
                <a:ea typeface="Gotham Book"/>
              </a:rPr>
              <a:t>EDU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9"/>
          <p:cNvPicPr/>
          <p:nvPr/>
        </p:nvPicPr>
        <p:blipFill>
          <a:blip r:embed="rId2"/>
          <a:stretch/>
        </p:blipFill>
        <p:spPr>
          <a:xfrm>
            <a:off x="380880" y="6381360"/>
            <a:ext cx="3200040" cy="363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21314D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5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AC96387-ECC4-4028-BD62-50E72656CB8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‹#›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Rectangle 7"/>
          <p:cNvSpPr/>
          <p:nvPr/>
        </p:nvSpPr>
        <p:spPr>
          <a:xfrm>
            <a:off x="-9720" y="6265440"/>
            <a:ext cx="12201480" cy="592200"/>
          </a:xfrm>
          <a:prstGeom prst="rect">
            <a:avLst/>
          </a:prstGeom>
          <a:solidFill>
            <a:srgbClr val="21314D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12"/>
          <p:cNvSpPr/>
          <p:nvPr/>
        </p:nvSpPr>
        <p:spPr>
          <a:xfrm>
            <a:off x="7477920" y="6398640"/>
            <a:ext cx="44892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Gotham"/>
                <a:ea typeface="Gotham"/>
              </a:rPr>
              <a:t>MINES</a:t>
            </a:r>
            <a:r>
              <a:rPr lang="en-US" sz="1800" b="1" u="none" strike="noStrike">
                <a:solidFill>
                  <a:srgbClr val="D2492A"/>
                </a:solidFill>
                <a:effectLst/>
                <a:uFillTx/>
                <a:latin typeface="Gotham"/>
                <a:ea typeface="Gotham"/>
              </a:rPr>
              <a:t>.</a:t>
            </a:r>
            <a:r>
              <a:rPr lang="en-US" sz="1800" b="0" u="none" strike="noStrike">
                <a:solidFill>
                  <a:srgbClr val="92A2BD"/>
                </a:solidFill>
                <a:effectLst/>
                <a:uFillTx/>
                <a:latin typeface="Gotham Book"/>
                <a:ea typeface="Gotham Book"/>
              </a:rPr>
              <a:t>EDU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13"/>
          <p:cNvPicPr/>
          <p:nvPr/>
        </p:nvPicPr>
        <p:blipFill>
          <a:blip r:embed="rId2"/>
          <a:stretch/>
        </p:blipFill>
        <p:spPr>
          <a:xfrm>
            <a:off x="380880" y="6381360"/>
            <a:ext cx="3200040" cy="363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21314D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6" name="PlaceHolder 8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CA52E31-1DB5-410A-9945-50ACED32004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‹#›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Rectangle 9"/>
          <p:cNvSpPr/>
          <p:nvPr/>
        </p:nvSpPr>
        <p:spPr>
          <a:xfrm>
            <a:off x="-9720" y="6265440"/>
            <a:ext cx="12201480" cy="592200"/>
          </a:xfrm>
          <a:prstGeom prst="rect">
            <a:avLst/>
          </a:prstGeom>
          <a:solidFill>
            <a:srgbClr val="21314D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14"/>
          <p:cNvSpPr/>
          <p:nvPr/>
        </p:nvSpPr>
        <p:spPr>
          <a:xfrm>
            <a:off x="7477920" y="6398640"/>
            <a:ext cx="44892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Gotham"/>
                <a:ea typeface="Gotham"/>
              </a:rPr>
              <a:t>MINES</a:t>
            </a:r>
            <a:r>
              <a:rPr lang="en-US" sz="1800" b="1" u="none" strike="noStrike">
                <a:solidFill>
                  <a:srgbClr val="D2492A"/>
                </a:solidFill>
                <a:effectLst/>
                <a:uFillTx/>
                <a:latin typeface="Gotham"/>
                <a:ea typeface="Gotham"/>
              </a:rPr>
              <a:t>.</a:t>
            </a:r>
            <a:r>
              <a:rPr lang="en-US" sz="1800" b="0" u="none" strike="noStrike">
                <a:solidFill>
                  <a:srgbClr val="92A2BD"/>
                </a:solidFill>
                <a:effectLst/>
                <a:uFillTx/>
                <a:latin typeface="Gotham Book"/>
                <a:ea typeface="Gotham Book"/>
              </a:rPr>
              <a:t>EDU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15"/>
          <p:cNvPicPr/>
          <p:nvPr/>
        </p:nvPicPr>
        <p:blipFill>
          <a:blip r:embed="rId2"/>
          <a:stretch/>
        </p:blipFill>
        <p:spPr>
          <a:xfrm>
            <a:off x="380880" y="6381360"/>
            <a:ext cx="3200040" cy="363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21314D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3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8075578-D7FB-4732-B208-2C2530C8490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‹#›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Rectangle 5"/>
          <p:cNvSpPr/>
          <p:nvPr/>
        </p:nvSpPr>
        <p:spPr>
          <a:xfrm>
            <a:off x="-9720" y="6265440"/>
            <a:ext cx="12201480" cy="592200"/>
          </a:xfrm>
          <a:prstGeom prst="rect">
            <a:avLst/>
          </a:prstGeom>
          <a:solidFill>
            <a:srgbClr val="21314D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7477920" y="6398640"/>
            <a:ext cx="44892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Gotham"/>
                <a:ea typeface="Gotham"/>
              </a:rPr>
              <a:t>MINES</a:t>
            </a:r>
            <a:r>
              <a:rPr lang="en-US" sz="1800" b="1" u="none" strike="noStrike">
                <a:solidFill>
                  <a:srgbClr val="D2492A"/>
                </a:solidFill>
                <a:effectLst/>
                <a:uFillTx/>
                <a:latin typeface="Gotham"/>
                <a:ea typeface="Gotham"/>
              </a:rPr>
              <a:t>.</a:t>
            </a:r>
            <a:r>
              <a:rPr lang="en-US" sz="1800" b="0" u="none" strike="noStrike">
                <a:solidFill>
                  <a:srgbClr val="92A2BD"/>
                </a:solidFill>
                <a:effectLst/>
                <a:uFillTx/>
                <a:latin typeface="Gotham Book"/>
                <a:ea typeface="Gotham Book"/>
              </a:rPr>
              <a:t>EDU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11"/>
          <p:cNvPicPr/>
          <p:nvPr/>
        </p:nvPicPr>
        <p:blipFill>
          <a:blip r:embed="rId2"/>
          <a:stretch/>
        </p:blipFill>
        <p:spPr>
          <a:xfrm>
            <a:off x="380880" y="6381360"/>
            <a:ext cx="3200040" cy="363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9" name="PlaceHolder 3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EF76A7A-BEEE-4C1B-A090-007A01911D8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‹#›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Title 2"/>
          <p:cNvSpPr/>
          <p:nvPr/>
        </p:nvSpPr>
        <p:spPr>
          <a:xfrm>
            <a:off x="838080" y="5746680"/>
            <a:ext cx="13016520" cy="77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400" b="1" u="none" strike="noStrike">
                <a:solidFill>
                  <a:srgbClr val="21314D"/>
                </a:solidFill>
                <a:effectLst/>
                <a:uFillTx/>
                <a:latin typeface="Arial"/>
                <a:ea typeface="Gotham Medium"/>
              </a:rPr>
              <a:t>Headline Copy Goes Here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5576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ustom Layou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2"/>
          <p:cNvSpPr/>
          <p:nvPr/>
        </p:nvSpPr>
        <p:spPr>
          <a:xfrm>
            <a:off x="-10080" y="-10080"/>
            <a:ext cx="12201840" cy="6867720"/>
          </a:xfrm>
          <a:prstGeom prst="rect">
            <a:avLst/>
          </a:prstGeom>
          <a:solidFill>
            <a:srgbClr val="21314D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Picture 3"/>
          <p:cNvPicPr/>
          <p:nvPr/>
        </p:nvPicPr>
        <p:blipFill>
          <a:blip r:embed="rId2">
            <a:alphaModFix amt="25000"/>
          </a:blip>
          <a:stretch/>
        </p:blipFill>
        <p:spPr>
          <a:xfrm>
            <a:off x="1834920" y="552960"/>
            <a:ext cx="10356480" cy="58255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 Layou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060320" y="982440"/>
            <a:ext cx="4862160" cy="179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21314D"/>
                </a:solidFill>
                <a:effectLst/>
                <a:uFillTx/>
                <a:latin typeface="Arial"/>
                <a:ea typeface="Arial"/>
              </a:rPr>
              <a:t>Headline Copy Goes Here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060320" y="3052440"/>
            <a:ext cx="4862160" cy="197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add text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add text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0" y="0"/>
            <a:ext cx="689076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7" name="TextBox 7"/>
          <p:cNvSpPr/>
          <p:nvPr/>
        </p:nvSpPr>
        <p:spPr>
          <a:xfrm>
            <a:off x="7477920" y="6408000"/>
            <a:ext cx="44892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21314D"/>
                </a:solidFill>
                <a:effectLst/>
                <a:uFillTx/>
                <a:latin typeface="Gotham"/>
                <a:ea typeface="Gotham"/>
              </a:rPr>
              <a:t>MINES</a:t>
            </a:r>
            <a:r>
              <a:rPr lang="en-US" sz="1800" b="1" u="none" strike="noStrike">
                <a:solidFill>
                  <a:srgbClr val="D2492A"/>
                </a:solidFill>
                <a:effectLst/>
                <a:uFillTx/>
                <a:latin typeface="Gotham"/>
                <a:ea typeface="Gotham"/>
              </a:rPr>
              <a:t>.</a:t>
            </a:r>
            <a:r>
              <a:rPr lang="en-US" sz="1800" b="0" u="none" strike="noStrike">
                <a:solidFill>
                  <a:srgbClr val="92A2BD"/>
                </a:solidFill>
                <a:effectLst/>
                <a:uFillTx/>
                <a:latin typeface="Gotham Book"/>
                <a:ea typeface="Gotham Book"/>
              </a:rPr>
              <a:t>EDU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0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7.png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0.png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3.png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395280" y="1661760"/>
            <a:ext cx="10803240" cy="130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EENG 385</a:t>
            </a:r>
            <a:br>
              <a:rPr sz="4400"/>
            </a:b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BJT Curve Tracer Calibration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" name="Video 7">
            <a:hlinkClick r:id="" action="ppaction://media"/>
            <a:extLst>
              <a:ext uri="{FF2B5EF4-FFF2-40B4-BE49-F238E27FC236}">
                <a16:creationId xmlns:a16="http://schemas.microsoft.com/office/drawing/2014/main" id="{341B5025-4815-A7D6-8085-1CB71BD9AC9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78"/>
    </mc:Choice>
    <mc:Fallback>
      <p:transition spd="slow" advTm="64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21314D"/>
                </a:solidFill>
                <a:effectLst/>
                <a:uFillTx/>
                <a:latin typeface="Arial"/>
                <a:ea typeface="Arial"/>
              </a:rPr>
              <a:t>Lab Objectives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359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Objective: Finish assembly of BJT Curve Tracer and use it to measure the gain and Early voltage of three BJTs.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" name="Video 9">
            <a:hlinkClick r:id="" action="ppaction://media"/>
            <a:extLst>
              <a:ext uri="{FF2B5EF4-FFF2-40B4-BE49-F238E27FC236}">
                <a16:creationId xmlns:a16="http://schemas.microsoft.com/office/drawing/2014/main" id="{389148E0-4ABC-9828-06C8-B262793E47CF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57"/>
    </mc:Choice>
    <mc:Fallback>
      <p:transition spd="slow" advTm="10257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21314D"/>
                </a:solidFill>
                <a:effectLst/>
                <a:uFillTx/>
                <a:latin typeface="Arial"/>
                <a:ea typeface="Arial"/>
              </a:rPr>
              <a:t>Theory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339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Device Under Test = DUT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Draw family of characteristic curves on oscilloscope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Provide vce and ib as inputs then measure ic as the output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9" name="Picture 3"/>
          <p:cNvPicPr/>
          <p:nvPr/>
        </p:nvPicPr>
        <p:blipFill>
          <a:blip r:embed="rId5"/>
          <a:stretch/>
        </p:blipFill>
        <p:spPr>
          <a:xfrm>
            <a:off x="1396800" y="3288960"/>
            <a:ext cx="6036480" cy="303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Video 6">
            <a:hlinkClick r:id="" action="ppaction://media"/>
            <a:extLst>
              <a:ext uri="{FF2B5EF4-FFF2-40B4-BE49-F238E27FC236}">
                <a16:creationId xmlns:a16="http://schemas.microsoft.com/office/drawing/2014/main" id="{E5DF0518-DF58-4318-369C-E3856CB144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383"/>
    </mc:Choice>
    <mc:Fallback>
      <p:transition spd="slow" advTm="133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21314D"/>
                </a:solidFill>
                <a:effectLst/>
                <a:uFillTx/>
                <a:latin typeface="Arial"/>
                <a:ea typeface="Arial"/>
              </a:rPr>
              <a:t>Theory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339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Imagine oscilloscope drawing an image using a beam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Oscilloscopes used CRTs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X-position of beam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Controlled by voltage on Ch1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Y-position of beam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Controlled by voltage on Ch2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Can create complex images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IC vs. VCE family of curves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2" name="Picture 2" descr="The Cathode-Ray Tube"/>
          <p:cNvPicPr/>
          <p:nvPr/>
        </p:nvPicPr>
        <p:blipFill>
          <a:blip r:embed="rId5"/>
          <a:stretch/>
        </p:blipFill>
        <p:spPr>
          <a:xfrm>
            <a:off x="9043200" y="1298160"/>
            <a:ext cx="2636280" cy="161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Picture 4" descr="Oscilloscope Art - YouTube"/>
          <p:cNvPicPr/>
          <p:nvPr/>
        </p:nvPicPr>
        <p:blipFill>
          <a:blip r:embed="rId6"/>
          <a:stretch/>
        </p:blipFill>
        <p:spPr>
          <a:xfrm>
            <a:off x="8006760" y="3220560"/>
            <a:ext cx="3672360" cy="244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Video 2">
            <a:hlinkClick r:id="" action="ppaction://media"/>
            <a:extLst>
              <a:ext uri="{FF2B5EF4-FFF2-40B4-BE49-F238E27FC236}">
                <a16:creationId xmlns:a16="http://schemas.microsoft.com/office/drawing/2014/main" id="{51411EA1-3757-631C-F377-519F4C9D3ED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7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41"/>
    </mc:Choice>
    <mc:Fallback>
      <p:transition spd="slow" advTm="65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21314D"/>
                </a:solidFill>
                <a:effectLst/>
                <a:uFillTx/>
                <a:latin typeface="Arial"/>
                <a:ea typeface="Arial"/>
              </a:rPr>
              <a:t>Analyze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339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Ramp - 0.7V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is applied to collector of DUT 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Current mirror converts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-US" sz="2800" b="0" u="none" strike="noStrike" baseline="-25000" dirty="0" err="1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into voltage across 100Ω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</a:t>
            </a:r>
            <a:r>
              <a:rPr lang="en-US" sz="2800" b="0" u="none" strike="noStrike" baseline="-25000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STAIR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is converted to base current through 100kΩ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You will measure the voltage of each step convert to base current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You can do this before soldering in components 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6" name="Table 4"/>
          <p:cNvGraphicFramePr/>
          <p:nvPr/>
        </p:nvGraphicFramePr>
        <p:xfrm>
          <a:off x="8304840" y="3853800"/>
          <a:ext cx="2516400" cy="2054352"/>
        </p:xfrm>
        <a:graphic>
          <a:graphicData uri="http://schemas.openxmlformats.org/drawingml/2006/table">
            <a:tbl>
              <a:tblPr/>
              <a:tblGrid>
                <a:gridCol w="797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720"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FC000"/>
                          </a:solidFill>
                          <a:effectLst/>
                          <a:uFillTx/>
                          <a:latin typeface="Calibri"/>
                        </a:rPr>
                        <a:t>Step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FC000"/>
                          </a:solidFill>
                          <a:effectLst/>
                          <a:uFillTx/>
                          <a:latin typeface="Calibri"/>
                        </a:rPr>
                        <a:t>V</a:t>
                      </a:r>
                      <a:r>
                        <a:rPr lang="en-US" sz="1100" b="0" u="none" strike="noStrike" baseline="-25000">
                          <a:solidFill>
                            <a:srgbClr val="FFC000"/>
                          </a:solidFill>
                          <a:effectLst/>
                          <a:uFillTx/>
                          <a:latin typeface="Calibri"/>
                        </a:rPr>
                        <a:t>STAIR</a:t>
                      </a:r>
                      <a:r>
                        <a:rPr lang="en-US" sz="1100" b="0" u="none" strike="noStrike">
                          <a:solidFill>
                            <a:srgbClr val="FFC000"/>
                          </a:solidFill>
                          <a:effectLst/>
                          <a:uFillTx/>
                          <a:latin typeface="Calibri"/>
                        </a:rPr>
                        <a:t>(V)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FC000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r>
                        <a:rPr lang="en-US" sz="1100" b="0" u="none" strike="noStrike" baseline="-25000">
                          <a:solidFill>
                            <a:srgbClr val="FFC000"/>
                          </a:solidFill>
                          <a:effectLst/>
                          <a:uFillTx/>
                          <a:latin typeface="Calibri"/>
                        </a:rPr>
                        <a:t>b</a:t>
                      </a:r>
                      <a:r>
                        <a:rPr lang="en-US" sz="1100" b="0" u="none" strike="noStrike">
                          <a:solidFill>
                            <a:srgbClr val="FFC000"/>
                          </a:solidFill>
                          <a:effectLst/>
                          <a:uFillTx/>
                          <a:latin typeface="Calibri"/>
                        </a:rPr>
                        <a:t> (uA)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720"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7.6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anchor="b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15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720"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anchor="b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12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720"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5.1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anchor="b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9.4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720"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3.9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anchor="b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6.8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720"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2.6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anchor="b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4.0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720"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1.4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 anchor="b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1.5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720"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0V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480" indent="-6480" defTabSz="914400">
                        <a:lnSpc>
                          <a:spcPct val="103000"/>
                        </a:lnSpc>
                        <a:spcAft>
                          <a:spcPts val="680"/>
                        </a:spcAft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 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FFC000"/>
                      </a:solidFill>
                      <a:prstDash val="solid"/>
                    </a:lnL>
                    <a:lnR w="12240">
                      <a:solidFill>
                        <a:srgbClr val="FFC000"/>
                      </a:solidFill>
                      <a:prstDash val="solid"/>
                    </a:lnR>
                    <a:lnT w="12240">
                      <a:solidFill>
                        <a:srgbClr val="FFC000"/>
                      </a:solidFill>
                      <a:prstDash val="solid"/>
                    </a:lnT>
                    <a:lnB w="12240">
                      <a:solidFill>
                        <a:srgbClr val="FFC000"/>
                      </a:solidFill>
                      <a:prstDash val="solid"/>
                    </a:lnB>
                    <a:solidFill>
                      <a:srgbClr val="FFC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17" name="Picture 6"/>
          <p:cNvPicPr/>
          <p:nvPr/>
        </p:nvPicPr>
        <p:blipFill>
          <a:blip r:embed="rId5"/>
          <a:stretch/>
        </p:blipFill>
        <p:spPr>
          <a:xfrm>
            <a:off x="4364280" y="4196160"/>
            <a:ext cx="3243600" cy="206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Video 2">
            <a:hlinkClick r:id="" action="ppaction://media"/>
            <a:extLst>
              <a:ext uri="{FF2B5EF4-FFF2-40B4-BE49-F238E27FC236}">
                <a16:creationId xmlns:a16="http://schemas.microsoft.com/office/drawing/2014/main" id="{5AE68CB0-8A98-814A-5CE4-53382206339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113"/>
    </mc:Choice>
    <mc:Fallback>
      <p:transition spd="slow" advTm="281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21314D"/>
                </a:solidFill>
                <a:effectLst/>
                <a:uFillTx/>
                <a:latin typeface="Arial"/>
                <a:ea typeface="Arial"/>
              </a:rPr>
              <a:t>Assemble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339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Two 2N3906 PNP in 385 parts bin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One 2N7000 NMOS in 385 parts bin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Misc. resistors and 3-pin DUT socket in parts bin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Use resistor leads for GND, CH_X and CH_Y loops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4"/>
          <p:cNvPicPr/>
          <p:nvPr/>
        </p:nvPicPr>
        <p:blipFill>
          <a:blip r:embed="rId5"/>
          <a:stretch/>
        </p:blipFill>
        <p:spPr>
          <a:xfrm>
            <a:off x="7931160" y="4013640"/>
            <a:ext cx="2847600" cy="211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Video 2">
            <a:hlinkClick r:id="" action="ppaction://media"/>
            <a:extLst>
              <a:ext uri="{FF2B5EF4-FFF2-40B4-BE49-F238E27FC236}">
                <a16:creationId xmlns:a16="http://schemas.microsoft.com/office/drawing/2014/main" id="{CA007F2A-4F47-3407-B22D-024A9D45631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424"/>
    </mc:Choice>
    <mc:Fallback>
      <p:transition spd="slow" advTm="154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21314D"/>
                </a:solidFill>
                <a:effectLst/>
                <a:uFillTx/>
                <a:latin typeface="Arial"/>
                <a:ea typeface="Arial"/>
              </a:rPr>
              <a:t>Matching transistors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339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Current mirror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Circled in red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Works perfectly when beta are same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Choose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Same font = same lot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Use DCA75 Pro measure Beta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23" name="Picture 5"/>
          <p:cNvPicPr/>
          <p:nvPr/>
        </p:nvPicPr>
        <p:blipFill>
          <a:blip r:embed="rId5"/>
          <a:stretch/>
        </p:blipFill>
        <p:spPr>
          <a:xfrm>
            <a:off x="8824320" y="365040"/>
            <a:ext cx="2529360" cy="275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Picture 2" descr="Picture 1 of 6"/>
          <p:cNvPicPr/>
          <p:nvPr/>
        </p:nvPicPr>
        <p:blipFill>
          <a:blip r:embed="rId6"/>
          <a:stretch/>
        </p:blipFill>
        <p:spPr>
          <a:xfrm>
            <a:off x="8432640" y="3124080"/>
            <a:ext cx="2920680" cy="261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Video 2">
            <a:hlinkClick r:id="" action="ppaction://media"/>
            <a:extLst>
              <a:ext uri="{FF2B5EF4-FFF2-40B4-BE49-F238E27FC236}">
                <a16:creationId xmlns:a16="http://schemas.microsoft.com/office/drawing/2014/main" id="{35A7732F-6CC6-4F06-B0E2-2AA1F3C61F3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7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850"/>
    </mc:Choice>
    <mc:Fallback>
      <p:transition spd="slow" advTm="188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21314D"/>
                </a:solidFill>
                <a:effectLst/>
                <a:uFillTx/>
                <a:latin typeface="Arial"/>
                <a:ea typeface="Arial"/>
              </a:rPr>
              <a:t>Test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339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Different BJTs will have different pinouts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Will not harm DUT BJT if you put it in backwards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Check datasheet for pinout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Use jumper wires as needed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3"/>
          <p:cNvPicPr/>
          <p:nvPr/>
        </p:nvPicPr>
        <p:blipFill>
          <a:blip r:embed="rId5"/>
          <a:stretch/>
        </p:blipFill>
        <p:spPr>
          <a:xfrm>
            <a:off x="4987080" y="3837600"/>
            <a:ext cx="3089520" cy="196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Picture 4"/>
          <p:cNvPicPr/>
          <p:nvPr/>
        </p:nvPicPr>
        <p:blipFill>
          <a:blip r:embed="rId6"/>
          <a:stretch/>
        </p:blipFill>
        <p:spPr>
          <a:xfrm rot="16200000">
            <a:off x="8545320" y="2682720"/>
            <a:ext cx="3567600" cy="267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Video 2">
            <a:hlinkClick r:id="" action="ppaction://media"/>
            <a:extLst>
              <a:ext uri="{FF2B5EF4-FFF2-40B4-BE49-F238E27FC236}">
                <a16:creationId xmlns:a16="http://schemas.microsoft.com/office/drawing/2014/main" id="{86EB17FF-BE1F-E601-5878-5A8E4CE2CCC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7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096"/>
    </mc:Choice>
    <mc:Fallback>
      <p:transition spd="slow" advTm="220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21314D"/>
                </a:solidFill>
                <a:effectLst/>
                <a:uFillTx/>
                <a:latin typeface="Arial"/>
                <a:ea typeface="Arial"/>
              </a:rPr>
              <a:t>Test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339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r>
              <a:rPr lang="en-US" sz="2800" b="0" u="none" strike="noStrike" dirty="0">
                <a:solidFill>
                  <a:srgbClr val="FF0000"/>
                </a:solidFill>
                <a:effectLst/>
                <a:uFillTx/>
                <a:latin typeface="Times New Roman"/>
                <a:ea typeface="Arial"/>
              </a:rPr>
              <a:t>Base current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B050"/>
              </a:buClr>
              <a:buFont typeface="Arial"/>
              <a:buChar char="•"/>
            </a:pPr>
            <a:r>
              <a:rPr lang="en-US" sz="2800" b="0" u="none" strike="noStrike" dirty="0">
                <a:solidFill>
                  <a:srgbClr val="00B050"/>
                </a:solidFill>
                <a:effectLst/>
                <a:uFillTx/>
                <a:latin typeface="Times New Roman"/>
                <a:ea typeface="Arial"/>
              </a:rPr>
              <a:t>Measure V</a:t>
            </a:r>
            <a:r>
              <a:rPr lang="en-US" sz="2800" b="0" u="none" strike="noStrike" baseline="-25000" dirty="0">
                <a:solidFill>
                  <a:srgbClr val="00B050"/>
                </a:solidFill>
                <a:effectLst/>
                <a:uFillTx/>
                <a:latin typeface="Times New Roman"/>
                <a:ea typeface="Arial"/>
              </a:rPr>
              <a:t>ic</a:t>
            </a:r>
            <a:r>
              <a:rPr lang="en-US" sz="2800" b="0" u="none" strike="noStrike" dirty="0">
                <a:solidFill>
                  <a:srgbClr val="00B050"/>
                </a:solidFill>
                <a:effectLst/>
                <a:uFillTx/>
                <a:latin typeface="Times New Roman"/>
                <a:ea typeface="Arial"/>
              </a:rPr>
              <a:t> at </a:t>
            </a:r>
            <a:r>
              <a:rPr lang="en-US" sz="2800" b="0" u="none" strike="noStrike" dirty="0" err="1">
                <a:solidFill>
                  <a:srgbClr val="00B050"/>
                </a:solidFill>
                <a:effectLst/>
                <a:uFillTx/>
                <a:latin typeface="Times New Roman"/>
                <a:ea typeface="Arial"/>
              </a:rPr>
              <a:t>V</a:t>
            </a:r>
            <a:r>
              <a:rPr lang="en-US" sz="2800" b="0" u="none" strike="noStrike" baseline="-25000" dirty="0" err="1">
                <a:solidFill>
                  <a:srgbClr val="00B050"/>
                </a:solidFill>
                <a:effectLst/>
                <a:uFillTx/>
                <a:latin typeface="Times New Roman"/>
                <a:ea typeface="Arial"/>
              </a:rPr>
              <a:t>ce</a:t>
            </a:r>
            <a:r>
              <a:rPr lang="en-US" sz="2800" b="0" u="none" strike="noStrike" dirty="0">
                <a:solidFill>
                  <a:srgbClr val="00B050"/>
                </a:solidFill>
                <a:effectLst/>
                <a:uFillTx/>
                <a:latin typeface="Times New Roman"/>
                <a:ea typeface="Arial"/>
              </a:rPr>
              <a:t> = 1V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FF"/>
              </a:buClr>
              <a:buFont typeface="Arial"/>
              <a:buChar char="•"/>
            </a:pPr>
            <a:r>
              <a:rPr lang="en-US" sz="2800" b="0" u="none" strike="noStrike" dirty="0">
                <a:solidFill>
                  <a:srgbClr val="0000FF"/>
                </a:solidFill>
                <a:effectLst/>
                <a:uFillTx/>
                <a:latin typeface="Times New Roman"/>
                <a:ea typeface="Arial"/>
              </a:rPr>
              <a:t>Use cursors for Early voltage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1" name="Picture 4"/>
          <p:cNvPicPr/>
          <p:nvPr/>
        </p:nvPicPr>
        <p:blipFill>
          <a:blip r:embed="rId5"/>
          <a:stretch/>
        </p:blipFill>
        <p:spPr>
          <a:xfrm>
            <a:off x="1045080" y="3429000"/>
            <a:ext cx="4245840" cy="271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Picture 3"/>
          <p:cNvPicPr/>
          <p:nvPr/>
        </p:nvPicPr>
        <p:blipFill>
          <a:blip r:embed="rId6"/>
          <a:stretch/>
        </p:blipFill>
        <p:spPr>
          <a:xfrm>
            <a:off x="7279920" y="365040"/>
            <a:ext cx="3846240" cy="573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Video 2">
            <a:hlinkClick r:id="" action="ppaction://media"/>
            <a:extLst>
              <a:ext uri="{FF2B5EF4-FFF2-40B4-BE49-F238E27FC236}">
                <a16:creationId xmlns:a16="http://schemas.microsoft.com/office/drawing/2014/main" id="{62DE8252-7860-8C2D-16DF-7DAF55E945F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7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510"/>
    </mc:Choice>
    <mc:Fallback>
      <p:transition spd="slow" advTm="845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rgbClr val="21314D"/>
                </a:solidFill>
                <a:effectLst/>
                <a:uFillTx/>
                <a:latin typeface="Arial"/>
                <a:ea typeface="Arial"/>
              </a:rPr>
              <a:t>Turn In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This is an individual assignment – turn in your performance cards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You can work in teams of two during this lab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Fill out 3 BJT Performance Cards for: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2N2222 (in 385 parts bin)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2N3904 (in 385 parts bin)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BD139 (in 385 parts bin)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!!!RETURN WHEN DONE!!!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Save BJT card as PDF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Due before start of class next week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Every student uses their own board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Everyone brings their board to class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" name="Video 2">
            <a:hlinkClick r:id="" action="ppaction://media"/>
            <a:extLst>
              <a:ext uri="{FF2B5EF4-FFF2-40B4-BE49-F238E27FC236}">
                <a16:creationId xmlns:a16="http://schemas.microsoft.com/office/drawing/2014/main" id="{FE290DE7-6EDD-DD2D-8122-39F6F0E6AB0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568"/>
    </mc:Choice>
    <mc:Fallback>
      <p:transition spd="slow" advTm="285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3738</TotalTime>
  <Words>452</Words>
  <Application>Microsoft Office PowerPoint</Application>
  <PresentationFormat>Widescreen</PresentationFormat>
  <Paragraphs>97</Paragraphs>
  <Slides>10</Slides>
  <Notes>10</Notes>
  <HiddenSlides>0</HiddenSlides>
  <MMClips>10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Cambria</vt:lpstr>
      <vt:lpstr>Gotham</vt:lpstr>
      <vt:lpstr>Gotham Book</vt:lpstr>
      <vt:lpstr>Symbol</vt:lpstr>
      <vt:lpstr>Times New Roman</vt:lpstr>
      <vt:lpstr>Wingdings</vt:lpstr>
      <vt:lpstr>Office Theme</vt:lpstr>
      <vt:lpstr>EENG 385 BJT Curve Tracer Calibration</vt:lpstr>
      <vt:lpstr>Lab Objectives</vt:lpstr>
      <vt:lpstr>Theory</vt:lpstr>
      <vt:lpstr>Theory</vt:lpstr>
      <vt:lpstr>Analyze</vt:lpstr>
      <vt:lpstr>Assemble</vt:lpstr>
      <vt:lpstr>Matching transistors</vt:lpstr>
      <vt:lpstr>Test</vt:lpstr>
      <vt:lpstr>Test</vt:lpstr>
      <vt:lpstr>Turn 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dc:description/>
  <cp:lastModifiedBy>Christopher Coulston</cp:lastModifiedBy>
  <cp:revision>103</cp:revision>
  <dcterms:created xsi:type="dcterms:W3CDTF">2017-08-01T15:06:47Z</dcterms:created>
  <dcterms:modified xsi:type="dcterms:W3CDTF">2026-10-22T21:27:31Z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Widescreen</vt:lpwstr>
  </property>
  <property fmtid="{D5CDD505-2E9C-101B-9397-08002B2CF9AE}" pid="4" name="Slides">
    <vt:i4>10</vt:i4>
  </property>
</Properties>
</file>