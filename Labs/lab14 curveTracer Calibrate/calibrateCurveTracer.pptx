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01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02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03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5D6616F-D320-4F2B-9642-147B21049BD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Usually the &lt;title of the lab&gt; is what will be called the “System” through the rest of this document</a:t>
            </a:r>
          </a:p>
        </p:txBody>
      </p:sp>
      <p:sp>
        <p:nvSpPr>
          <p:cNvPr id="13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BCDDFA-B7D8-4675-BD31-77CFBA83E2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0"/>
            <a:ext cx="6400440" cy="360000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CAC3B2-DB92-4A84-B30F-DCB2DE8C60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4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516A008-F6D0-46C0-8D5E-7C583F93DB4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4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B46D651-3F86-463F-A907-C78359ECA96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4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11AE12A-4015-4355-8069-7A050E735DB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5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C4451D0-1E28-40FA-9B5F-716A596D68A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5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6A7226-5E61-41CE-9891-DC473C5A2C0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5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7CEC707-C9B3-420B-9973-CE516E9C1E8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 &lt;System&gt; with the name of the </a:t>
            </a:r>
          </a:p>
        </p:txBody>
      </p:sp>
      <p:sp>
        <p:nvSpPr>
          <p:cNvPr id="16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164042-6049-4BF9-A72A-DFA0FB0FA4A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926A5F7-E83B-42E5-AABF-667D68677DD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10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5"/>
          <p:cNvPicPr/>
          <p:nvPr/>
        </p:nvPicPr>
        <p:blipFill>
          <a:blip r:embed="rId2">
            <a:alphaModFix amt="25000"/>
          </a:blip>
          <a:stretch/>
        </p:blipFill>
        <p:spPr>
          <a:xfrm>
            <a:off x="1834920" y="171000"/>
            <a:ext cx="10356480" cy="582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Rectangle 20"/>
          <p:cNvSpPr/>
          <p:nvPr/>
        </p:nvSpPr>
        <p:spPr>
          <a:xfrm>
            <a:off x="-34200" y="0"/>
            <a:ext cx="12259800" cy="626508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F7343F8C-565B-498B-B9D1-AF84212C3A2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5" name="Straight Connector 13"/>
          <p:cNvCxnSpPr/>
          <p:nvPr/>
        </p:nvCxnSpPr>
        <p:spPr>
          <a:xfrm>
            <a:off x="520560" y="3286800"/>
            <a:ext cx="911520" cy="360"/>
          </a:xfrm>
          <a:prstGeom prst="straightConnector1">
            <a:avLst/>
          </a:prstGeom>
          <a:ln w="28575">
            <a:solidFill>
              <a:srgbClr val="D2492A"/>
            </a:solidFill>
          </a:ln>
        </p:spPr>
      </p:cxnSp>
      <p:pic>
        <p:nvPicPr>
          <p:cNvPr id="6" name="Picture 21"/>
          <p:cNvPicPr/>
          <p:nvPr/>
        </p:nvPicPr>
        <p:blipFill>
          <a:blip r:embed="rId3"/>
          <a:stretch/>
        </p:blipFill>
        <p:spPr>
          <a:xfrm>
            <a:off x="380880" y="6373080"/>
            <a:ext cx="3200040" cy="3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" name="TextBox 22"/>
          <p:cNvSpPr/>
          <p:nvPr/>
        </p:nvSpPr>
        <p:spPr>
          <a:xfrm>
            <a:off x="7477920" y="640800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21314D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" name="Picture 23"/>
          <p:cNvPicPr/>
          <p:nvPr/>
        </p:nvPicPr>
        <p:blipFill>
          <a:blip r:embed="rId2">
            <a:alphaModFix amt="25000"/>
          </a:blip>
          <a:stretch/>
        </p:blipFill>
        <p:spPr>
          <a:xfrm>
            <a:off x="1834920" y="171000"/>
            <a:ext cx="10356480" cy="582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4"/>
          <p:cNvSpPr>
            <a:spLocks noGrp="1"/>
          </p:cNvSpPr>
          <p:nvPr>
            <p:ph type="title"/>
          </p:nvPr>
        </p:nvSpPr>
        <p:spPr>
          <a:xfrm>
            <a:off x="395280" y="2243520"/>
            <a:ext cx="10803240" cy="71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5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Presentation Title Goes Here</a:t>
            </a:r>
            <a:endParaRPr lang="en-US" sz="5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6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45946F4-F3EA-43EB-8B24-1F74EE8DDB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Rectangle 8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Box 10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Picture 13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7"/>
          <p:cNvSpPr/>
          <p:nvPr/>
        </p:nvSpPr>
        <p:spPr>
          <a:xfrm>
            <a:off x="-10080" y="-10080"/>
            <a:ext cx="5182920" cy="694296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0000" y="47232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Copy goes here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183280" y="0"/>
            <a:ext cx="700848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0000" y="207252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0" indent="-4572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Supporting text goes here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6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0E5232F-93D5-466C-87D2-94DBC47517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" name="Picture 11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A50D384-FA80-46ED-A05C-5A55EDBC5A7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Rectangle 6"/>
          <p:cNvSpPr/>
          <p:nvPr/>
        </p:nvSpPr>
        <p:spPr>
          <a:xfrm>
            <a:off x="-10080" y="6265440"/>
            <a:ext cx="12201840" cy="601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Box 11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12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0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EACB7302-C3A8-4F6C-A4C4-BF52B73F97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Rectangle 6"/>
          <p:cNvSpPr/>
          <p:nvPr/>
        </p:nvSpPr>
        <p:spPr>
          <a:xfrm>
            <a:off x="-10080" y="6265440"/>
            <a:ext cx="12201840" cy="601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Box 11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12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9"/>
          <p:cNvSpPr/>
          <p:nvPr/>
        </p:nvSpPr>
        <p:spPr>
          <a:xfrm>
            <a:off x="-9720" y="-9720"/>
            <a:ext cx="12201480" cy="626508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Section header goes here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rgbClr val="92A2BD"/>
                </a:solidFill>
                <a:effectLst/>
                <a:uFillTx/>
                <a:latin typeface="Arial"/>
                <a:ea typeface="Arial"/>
              </a:rPr>
              <a:t>Section subhead goes here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4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A0A81293-338B-4E01-BC92-672745C42A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" name="Picture 11"/>
          <p:cNvPicPr/>
          <p:nvPr/>
        </p:nvPicPr>
        <p:blipFill>
          <a:blip r:embed="rId2"/>
          <a:stretch/>
        </p:blipFill>
        <p:spPr>
          <a:xfrm>
            <a:off x="380880" y="6373080"/>
            <a:ext cx="3200040" cy="3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Box 12"/>
          <p:cNvSpPr/>
          <p:nvPr/>
        </p:nvSpPr>
        <p:spPr>
          <a:xfrm>
            <a:off x="7477920" y="640800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21314D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Rectangle 14"/>
          <p:cNvSpPr/>
          <p:nvPr/>
        </p:nvSpPr>
        <p:spPr>
          <a:xfrm>
            <a:off x="-9720" y="6265440"/>
            <a:ext cx="12201480" cy="601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57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DE391D8-63C4-4340-9AE7-0846A418A2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TextBox 13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9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5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AC96387-ECC4-4028-BD62-50E72656CB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12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Picture 13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6" name="PlaceHolder 8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DCA52E31-1DB5-410A-9945-50ACED32004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Rectangle 9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4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15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3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78075578-D7FB-4732-B208-2C2530C849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Rectangle 5"/>
          <p:cNvSpPr/>
          <p:nvPr/>
        </p:nvSpPr>
        <p:spPr>
          <a:xfrm>
            <a:off x="-9720" y="6265440"/>
            <a:ext cx="12201480" cy="59220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>
            <a:off x="7477920" y="639864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11"/>
          <p:cNvPicPr/>
          <p:nvPr/>
        </p:nvPicPr>
        <p:blipFill>
          <a:blip r:embed="rId2"/>
          <a:stretch/>
        </p:blipFill>
        <p:spPr>
          <a:xfrm>
            <a:off x="380880" y="6381360"/>
            <a:ext cx="3200040" cy="36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&lt;date/time&gt;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9" name="PlaceHolder 3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EF76A7A-BEEE-4C1B-A090-007A01911D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‹#›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Title 2"/>
          <p:cNvSpPr/>
          <p:nvPr/>
        </p:nvSpPr>
        <p:spPr>
          <a:xfrm>
            <a:off x="838080" y="5746680"/>
            <a:ext cx="13016520" cy="779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Gotham Medium"/>
              </a:rPr>
              <a:t>Headline Copy Goes Here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5576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Custom Layou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2"/>
          <p:cNvSpPr/>
          <p:nvPr/>
        </p:nvSpPr>
        <p:spPr>
          <a:xfrm>
            <a:off x="-10080" y="-10080"/>
            <a:ext cx="12201840" cy="6867720"/>
          </a:xfrm>
          <a:prstGeom prst="rect">
            <a:avLst/>
          </a:prstGeom>
          <a:solidFill>
            <a:srgbClr val="21314D"/>
          </a:solidFill>
          <a:ln>
            <a:solidFill>
              <a:srgbClr val="3254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/>
          <p:cNvPicPr/>
          <p:nvPr/>
        </p:nvPicPr>
        <p:blipFill>
          <a:blip r:embed="rId2">
            <a:alphaModFix amt="25000"/>
          </a:blip>
          <a:stretch/>
        </p:blipFill>
        <p:spPr>
          <a:xfrm>
            <a:off x="1834920" y="552960"/>
            <a:ext cx="10356480" cy="5825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 Layou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7060320" y="982440"/>
            <a:ext cx="4862160" cy="179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Headline Copy Goes Here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060320" y="3052440"/>
            <a:ext cx="4862160" cy="19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add text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Click to add text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0" y="0"/>
            <a:ext cx="68907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97" name="TextBox 7"/>
          <p:cNvSpPr/>
          <p:nvPr/>
        </p:nvSpPr>
        <p:spPr>
          <a:xfrm>
            <a:off x="7477920" y="6408000"/>
            <a:ext cx="44892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21314D"/>
                </a:solidFill>
                <a:effectLst/>
                <a:uFillTx/>
                <a:latin typeface="Gotham"/>
                <a:ea typeface="Gotham"/>
              </a:rPr>
              <a:t>MINES</a:t>
            </a:r>
            <a:r>
              <a:rPr lang="en-US" sz="1800" b="1" u="none" strike="noStrike">
                <a:solidFill>
                  <a:srgbClr val="D2492A"/>
                </a:solidFill>
                <a:effectLst/>
                <a:uFillTx/>
                <a:latin typeface="Gotham"/>
                <a:ea typeface="Gotham"/>
              </a:rPr>
              <a:t>.</a:t>
            </a:r>
            <a:r>
              <a:rPr lang="en-US" sz="1800" b="0" u="none" strike="noStrike">
                <a:solidFill>
                  <a:srgbClr val="92A2BD"/>
                </a:solidFill>
                <a:effectLst/>
                <a:uFillTx/>
                <a:latin typeface="Gotham Book"/>
                <a:ea typeface="Gotham Book"/>
              </a:rPr>
              <a:t>EDU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395280" y="1661760"/>
            <a:ext cx="10803240" cy="1300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EENG 385</a:t>
            </a:r>
            <a:br>
              <a:rPr sz="4400"/>
            </a:b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BJT Curve Tracer Calibration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Lab Objectives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59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Objective: Finish assembly of BJT Curve Tracer and use it to measure the gain and Early voltage of three BJTs.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Theory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Device Under Test = DUT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Draw family of characteristic curves on oscilloscope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Provide vce and ib as inputs then measure ic as the output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3"/>
          <p:cNvPicPr/>
          <p:nvPr/>
        </p:nvPicPr>
        <p:blipFill>
          <a:blip r:embed="rId3"/>
          <a:stretch/>
        </p:blipFill>
        <p:spPr>
          <a:xfrm>
            <a:off x="1396800" y="3288960"/>
            <a:ext cx="6036480" cy="3030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Theory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Imagine oscilloscope drawing an image using a beam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Oscilloscopes used CRTs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X-position of beam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Controlled by voltage on Ch1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Y-position of beam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Controlled by voltage on Ch2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Can create complex images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Arial"/>
              </a:rPr>
              <a:t>IC vs. VCE family of curves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12" name="Picture 2" descr="The Cathode-Ray Tube"/>
          <p:cNvPicPr/>
          <p:nvPr/>
        </p:nvPicPr>
        <p:blipFill>
          <a:blip r:embed="rId3"/>
          <a:stretch/>
        </p:blipFill>
        <p:spPr>
          <a:xfrm>
            <a:off x="9043200" y="1298160"/>
            <a:ext cx="2636280" cy="161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" name="Picture 4" descr="Oscilloscope Art - YouTube"/>
          <p:cNvPicPr/>
          <p:nvPr/>
        </p:nvPicPr>
        <p:blipFill>
          <a:blip r:embed="rId4"/>
          <a:stretch/>
        </p:blipFill>
        <p:spPr>
          <a:xfrm>
            <a:off x="8006760" y="3220560"/>
            <a:ext cx="3672360" cy="2448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Analyze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1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Ramp - 0.7V 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is applied to collector of DUT 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Current mirror converts </a:t>
            </a:r>
            <a:r>
              <a:rPr lang="en-US" sz="2800" b="0" u="none" strike="noStrike" dirty="0" err="1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I</a:t>
            </a:r>
            <a:r>
              <a:rPr lang="en-US" sz="2800" b="0" u="none" strike="noStrike" baseline="-25000" dirty="0" err="1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into voltage across 100Ω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</a:t>
            </a:r>
            <a:r>
              <a:rPr lang="en-US" sz="2800" b="0" u="none" strike="noStrike" baseline="-25000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STAIR</a:t>
            </a:r>
            <a:r>
              <a:rPr lang="en-US" sz="28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is converted to base current through 100kΩ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You will measure the voltage of each step convert to base current</a:t>
            </a:r>
            <a:endParaRPr lang="en-US" sz="24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 dirty="0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You can do this before soldering in components </a:t>
            </a:r>
            <a:endParaRPr lang="en-US" sz="24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4"/>
          <p:cNvGraphicFramePr/>
          <p:nvPr/>
        </p:nvGraphicFramePr>
        <p:xfrm>
          <a:off x="8304840" y="3853800"/>
          <a:ext cx="2516400" cy="2054352"/>
        </p:xfrm>
        <a:graphic>
          <a:graphicData uri="http://schemas.openxmlformats.org/drawingml/2006/table">
            <a:tbl>
              <a:tblPr/>
              <a:tblGrid>
                <a:gridCol w="797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V</a:t>
                      </a:r>
                      <a:r>
                        <a:rPr lang="en-US" sz="1100" b="0" u="none" strike="noStrike" baseline="-25000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STAIR</a:t>
                      </a:r>
                      <a:r>
                        <a:rPr lang="en-US" sz="1100" b="0" u="none" strike="noStrik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(V)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i</a:t>
                      </a:r>
                      <a:r>
                        <a:rPr lang="en-US" sz="1100" b="0" u="none" strike="noStrike" baseline="-25000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b</a:t>
                      </a:r>
                      <a:r>
                        <a:rPr lang="en-US" sz="1100" b="0" u="none" strike="noStrike">
                          <a:solidFill>
                            <a:srgbClr val="FFC000"/>
                          </a:solidFill>
                          <a:effectLst/>
                          <a:uFillTx/>
                          <a:latin typeface="Calibri"/>
                        </a:rPr>
                        <a:t> (uA)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7.6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anchor="b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15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6.4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anchor="b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12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5.1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anchor="b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9.4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3.9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anchor="b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6.8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2.6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anchor="b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4.0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1.4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anchor="b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mbria"/>
                          <a:ea typeface="Cambria"/>
                        </a:rPr>
                        <a:t>1.5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720"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0V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480" indent="-6480" defTabSz="914400">
                        <a:lnSpc>
                          <a:spcPct val="103000"/>
                        </a:lnSpc>
                        <a:spcAft>
                          <a:spcPts val="680"/>
                        </a:spcAft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 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FFC000"/>
                      </a:solidFill>
                      <a:prstDash val="solid"/>
                    </a:lnL>
                    <a:lnR w="12240">
                      <a:solidFill>
                        <a:srgbClr val="FFC000"/>
                      </a:solidFill>
                      <a:prstDash val="solid"/>
                    </a:lnR>
                    <a:lnT w="12240">
                      <a:solidFill>
                        <a:srgbClr val="FFC000"/>
                      </a:solidFill>
                      <a:prstDash val="solid"/>
                    </a:lnT>
                    <a:lnB w="12240">
                      <a:solidFill>
                        <a:srgbClr val="FFC000"/>
                      </a:solidFill>
                      <a:prstDash val="solid"/>
                    </a:lnB>
                    <a:solidFill>
                      <a:srgbClr val="FFC00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17" name="Picture 6"/>
          <p:cNvPicPr/>
          <p:nvPr/>
        </p:nvPicPr>
        <p:blipFill>
          <a:blip r:embed="rId3"/>
          <a:stretch/>
        </p:blipFill>
        <p:spPr>
          <a:xfrm>
            <a:off x="4364280" y="4196160"/>
            <a:ext cx="3243600" cy="2069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Assemble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Two 2N3906 PNP in 385 parts bin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One 2N7000 NMOS in 385 parts bin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Misc. resistors and 3-pin DUT socket in parts bin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Use resistor leads for GND, CH_X and CH_Y loops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0" name="Picture 4"/>
          <p:cNvPicPr/>
          <p:nvPr/>
        </p:nvPicPr>
        <p:blipFill>
          <a:blip r:embed="rId3"/>
          <a:stretch/>
        </p:blipFill>
        <p:spPr>
          <a:xfrm>
            <a:off x="7931160" y="4013640"/>
            <a:ext cx="2847600" cy="2113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Matching transistors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Current mirror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Circled in red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Works perfectly when beta are same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Choose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Same font = same lot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Use DCA75 Pro measure Beta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3" name="Picture 5"/>
          <p:cNvPicPr/>
          <p:nvPr/>
        </p:nvPicPr>
        <p:blipFill>
          <a:blip r:embed="rId3"/>
          <a:stretch/>
        </p:blipFill>
        <p:spPr>
          <a:xfrm>
            <a:off x="8824320" y="365040"/>
            <a:ext cx="2529360" cy="275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Picture 2" descr="Picture 1 of 6"/>
          <p:cNvPicPr/>
          <p:nvPr/>
        </p:nvPicPr>
        <p:blipFill>
          <a:blip r:embed="rId4"/>
          <a:stretch/>
        </p:blipFill>
        <p:spPr>
          <a:xfrm>
            <a:off x="8432640" y="3124080"/>
            <a:ext cx="2920680" cy="2619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Test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Different BJTs will have different pinouts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Will not harm DUT BJT if you put it in backwards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Check datasheet for pinout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Use jumper wires as needed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27" name="Picture 3"/>
          <p:cNvPicPr/>
          <p:nvPr/>
        </p:nvPicPr>
        <p:blipFill>
          <a:blip r:embed="rId3"/>
          <a:stretch/>
        </p:blipFill>
        <p:spPr>
          <a:xfrm>
            <a:off x="4987080" y="3837600"/>
            <a:ext cx="3089520" cy="1967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Picture 4"/>
          <p:cNvPicPr/>
          <p:nvPr/>
        </p:nvPicPr>
        <p:blipFill>
          <a:blip r:embed="rId4"/>
          <a:stretch/>
        </p:blipFill>
        <p:spPr>
          <a:xfrm rot="16200000">
            <a:off x="8545320" y="2682720"/>
            <a:ext cx="3567600" cy="2676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Test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3396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000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FF0000"/>
                </a:solidFill>
                <a:effectLst/>
                <a:uFillTx/>
                <a:latin typeface="Times New Roman"/>
                <a:ea typeface="Arial"/>
              </a:rPr>
              <a:t>Base current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B050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Measure V</a:t>
            </a:r>
            <a:r>
              <a:rPr lang="en-US" sz="2800" b="0" u="none" strike="noStrike" baseline="-25000" dirty="0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ic</a:t>
            </a:r>
            <a:r>
              <a:rPr lang="en-US" sz="2800" b="0" u="none" strike="noStrike" dirty="0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 at </a:t>
            </a:r>
            <a:r>
              <a:rPr lang="en-US" sz="2800" b="0" u="none" strike="noStrike" dirty="0" err="1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V</a:t>
            </a:r>
            <a:r>
              <a:rPr lang="en-US" sz="2800" b="0" u="none" strike="noStrike" baseline="-25000" dirty="0" err="1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ce</a:t>
            </a:r>
            <a:r>
              <a:rPr lang="en-US" sz="2800" b="0" u="none" strike="noStrike" dirty="0">
                <a:solidFill>
                  <a:srgbClr val="00B050"/>
                </a:solidFill>
                <a:effectLst/>
                <a:uFillTx/>
                <a:latin typeface="Times New Roman"/>
                <a:ea typeface="Arial"/>
              </a:rPr>
              <a:t> = 1V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FF"/>
              </a:buClr>
              <a:buFont typeface="Arial"/>
              <a:buChar char="•"/>
            </a:pPr>
            <a:r>
              <a:rPr lang="en-US" sz="2800" b="0" u="none" strike="noStrike" dirty="0">
                <a:solidFill>
                  <a:srgbClr val="0000FF"/>
                </a:solidFill>
                <a:effectLst/>
                <a:uFillTx/>
                <a:latin typeface="Times New Roman"/>
                <a:ea typeface="Arial"/>
              </a:rPr>
              <a:t>Use cursors for Early voltage</a:t>
            </a: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1" name="Picture 4"/>
          <p:cNvPicPr/>
          <p:nvPr/>
        </p:nvPicPr>
        <p:blipFill>
          <a:blip r:embed="rId3"/>
          <a:stretch/>
        </p:blipFill>
        <p:spPr>
          <a:xfrm>
            <a:off x="1045080" y="3429000"/>
            <a:ext cx="4245840" cy="271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Picture 3"/>
          <p:cNvPicPr/>
          <p:nvPr/>
        </p:nvPicPr>
        <p:blipFill>
          <a:blip r:embed="rId4"/>
          <a:stretch/>
        </p:blipFill>
        <p:spPr>
          <a:xfrm>
            <a:off x="7279920" y="365040"/>
            <a:ext cx="3846240" cy="5731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rgbClr val="21314D"/>
                </a:solidFill>
                <a:effectLst/>
                <a:uFillTx/>
                <a:latin typeface="Arial"/>
                <a:ea typeface="Arial"/>
              </a:rPr>
              <a:t>Turn In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This is an individual assignment – turn in your performance cards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You can work in teams of two during this lab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Fill out 3 BJT Performance Cards for: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2N2222 (in 385 parts bin)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2N3904 (in 385 parts bin)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BD139 (in 385 parts bin)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!!!RETURN WHEN DONE!!!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Save BJT card as PDF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Due before start of class next week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Every student uses their own board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Everyone brings their board to class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3725</TotalTime>
  <Words>452</Words>
  <Application>Microsoft Office PowerPoint</Application>
  <PresentationFormat>Widescreen</PresentationFormat>
  <Paragraphs>97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Cambria</vt:lpstr>
      <vt:lpstr>Gotham</vt:lpstr>
      <vt:lpstr>Gotham Book</vt:lpstr>
      <vt:lpstr>Symbol</vt:lpstr>
      <vt:lpstr>Times New Roman</vt:lpstr>
      <vt:lpstr>Wingdings</vt:lpstr>
      <vt:lpstr>Office Theme</vt:lpstr>
      <vt:lpstr>EENG 385 BJT Curve Tracer Calibration</vt:lpstr>
      <vt:lpstr>Lab Objectives</vt:lpstr>
      <vt:lpstr>Theory</vt:lpstr>
      <vt:lpstr>Theory</vt:lpstr>
      <vt:lpstr>Analyze</vt:lpstr>
      <vt:lpstr>Assemble</vt:lpstr>
      <vt:lpstr>Matching transistors</vt:lpstr>
      <vt:lpstr>Test</vt:lpstr>
      <vt:lpstr>Test</vt:lpstr>
      <vt:lpstr>Turn 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Microsoft Office User</dc:creator>
  <dc:description/>
  <cp:lastModifiedBy>Christopher Coulston</cp:lastModifiedBy>
  <cp:revision>102</cp:revision>
  <dcterms:created xsi:type="dcterms:W3CDTF">2017-08-01T15:06:47Z</dcterms:created>
  <dcterms:modified xsi:type="dcterms:W3CDTF">2026-10-08T00:47:04Z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Widescreen</vt:lpwstr>
  </property>
  <property fmtid="{D5CDD505-2E9C-101B-9397-08002B2CF9AE}" pid="4" name="Slides">
    <vt:i4>10</vt:i4>
  </property>
</Properties>
</file>