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media/image14.png" ContentType="image/png"/>
  <Override PartName="/ppt/media/image3.png" ContentType="image/png"/>
  <Override PartName="/ppt/media/image5.jpeg" ContentType="image/jpeg"/>
  <Override PartName="/ppt/media/image4.png" ContentType="image/png"/>
  <Override PartName="/ppt/media/image13.png" ContentType="image/png"/>
  <Override PartName="/ppt/media/image9.png" ContentType="image/png"/>
  <Override PartName="/ppt/media/image7.jpeg" ContentType="image/jpeg"/>
  <Override PartName="/ppt/media/image12.jpeg" ContentType="image/jpeg"/>
  <Override PartName="/ppt/media/image11.png" ContentType="image/png"/>
  <Override PartName="/ppt/media/image2.png" ContentType="image/png"/>
  <Override PartName="/ppt/media/image8.png" ContentType="image/png"/>
  <Override PartName="/ppt/media/image10.png" ContentType="image/png"/>
  <Override PartName="/ppt/media/image6.jpeg" ContentType="image/jpe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5D6616F-D320-4F2B-9642-147B21049BDC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Usually the &lt;title of the lab&gt; is what will be called the “System” through the rest of this document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BCDDFA-B7D8-4675-BD31-77CFBA83E2D1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457200" y="720720"/>
            <a:ext cx="6400440" cy="360000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CAC3B2-DB92-4A84-B30F-DCB2DE8C604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516A008-F6D0-46C0-8D5E-7C583F93DB48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B46D651-3F86-463F-A907-C78359ECA961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1AE12A-4015-4355-8069-7A050E735DBD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C4451D0-1E28-40FA-9B5F-716A596D68A1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6A7226-5E61-41CE-9891-DC473C5A2C06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CEC707-C9B3-420B-9973-CE516E9C1E8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164042-6049-4BF9-A72A-DFA0FB0FA4A6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926A5F7-E83B-42E5-AABF-667D68677DD5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15" descr=""/>
          <p:cNvPicPr/>
          <p:nvPr/>
        </p:nvPicPr>
        <p:blipFill>
          <a:blip r:embed="rId2">
            <a:alphaModFix amt="25000"/>
          </a:blip>
          <a:stretch/>
        </p:blipFill>
        <p:spPr>
          <a:xfrm>
            <a:off x="1834920" y="171000"/>
            <a:ext cx="10356480" cy="582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Rectangle 20"/>
          <p:cNvSpPr/>
          <p:nvPr/>
        </p:nvSpPr>
        <p:spPr>
          <a:xfrm>
            <a:off x="-34200" y="0"/>
            <a:ext cx="12259800" cy="626508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7343F8C-565B-498B-B9D1-AF84212C3A26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5" name="Straight Connector 13"/>
          <p:cNvCxnSpPr/>
          <p:nvPr/>
        </p:nvCxnSpPr>
        <p:spPr>
          <a:xfrm>
            <a:off x="520560" y="3286800"/>
            <a:ext cx="911520" cy="360"/>
          </a:xfrm>
          <a:prstGeom prst="straightConnector1">
            <a:avLst/>
          </a:prstGeom>
          <a:ln w="28575">
            <a:solidFill>
              <a:srgbClr val="d2492a"/>
            </a:solidFill>
          </a:ln>
        </p:spPr>
      </p:cxnSp>
      <p:pic>
        <p:nvPicPr>
          <p:cNvPr id="6" name="Picture 21" descr=""/>
          <p:cNvPicPr/>
          <p:nvPr/>
        </p:nvPicPr>
        <p:blipFill>
          <a:blip r:embed="rId3"/>
          <a:stretch/>
        </p:blipFill>
        <p:spPr>
          <a:xfrm>
            <a:off x="380880" y="6373080"/>
            <a:ext cx="3200040" cy="3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TextBox 22"/>
          <p:cNvSpPr/>
          <p:nvPr/>
        </p:nvSpPr>
        <p:spPr>
          <a:xfrm>
            <a:off x="7477920" y="640800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21314d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23" descr=""/>
          <p:cNvPicPr/>
          <p:nvPr/>
        </p:nvPicPr>
        <p:blipFill>
          <a:blip r:embed="rId4">
            <a:alphaModFix amt="25000"/>
          </a:blip>
          <a:stretch/>
        </p:blipFill>
        <p:spPr>
          <a:xfrm>
            <a:off x="1834920" y="171000"/>
            <a:ext cx="10356480" cy="582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395280" y="2243520"/>
            <a:ext cx="10803240" cy="71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5400" strike="noStrike" u="non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Presentation Title Goes Here</a:t>
            </a:r>
            <a:endParaRPr b="0" lang="en-US" sz="5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45946F4-F3EA-43EB-8B24-1F74EE8DDBEE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Rectangle 8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Box 10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Picture 13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7"/>
          <p:cNvSpPr/>
          <p:nvPr/>
        </p:nvSpPr>
        <p:spPr>
          <a:xfrm>
            <a:off x="-10080" y="-10080"/>
            <a:ext cx="5182920" cy="694296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0000" y="47232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Copy goes here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183280" y="0"/>
            <a:ext cx="7008480" cy="685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0000" y="207252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57200" indent="-4572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Supporting text goes here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0E5232F-93D5-466C-87D2-94DBC47517DD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" name="Picture 11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50D384-FA80-46ED-A05C-5A55EDBC5A74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Rectangle 6"/>
          <p:cNvSpPr/>
          <p:nvPr/>
        </p:nvSpPr>
        <p:spPr>
          <a:xfrm>
            <a:off x="-10080" y="6265440"/>
            <a:ext cx="12201840" cy="601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Box 11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12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ACB7302-C3A8-4F6C-A4C4-BF52B73F9758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Rectangle 6"/>
          <p:cNvSpPr/>
          <p:nvPr/>
        </p:nvSpPr>
        <p:spPr>
          <a:xfrm>
            <a:off x="-10080" y="6265440"/>
            <a:ext cx="12201840" cy="601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Box 11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12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9"/>
          <p:cNvSpPr/>
          <p:nvPr/>
        </p:nvSpPr>
        <p:spPr>
          <a:xfrm>
            <a:off x="-9720" y="-9720"/>
            <a:ext cx="12201480" cy="626508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Section header goes here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92a2bd"/>
                </a:solidFill>
                <a:effectLst/>
                <a:uFillTx/>
                <a:latin typeface="Arial"/>
                <a:ea typeface="Arial"/>
              </a:rPr>
              <a:t>Section subhead goes here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0A81293-338B-4E01-BC92-672745C42A0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" name="Picture 11" descr=""/>
          <p:cNvPicPr/>
          <p:nvPr/>
        </p:nvPicPr>
        <p:blipFill>
          <a:blip r:embed="rId2"/>
          <a:stretch/>
        </p:blipFill>
        <p:spPr>
          <a:xfrm>
            <a:off x="380880" y="6373080"/>
            <a:ext cx="3200040" cy="3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Box 12"/>
          <p:cNvSpPr/>
          <p:nvPr/>
        </p:nvSpPr>
        <p:spPr>
          <a:xfrm>
            <a:off x="7477920" y="640800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21314d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Rectangle 14"/>
          <p:cNvSpPr/>
          <p:nvPr/>
        </p:nvSpPr>
        <p:spPr>
          <a:xfrm>
            <a:off x="-9720" y="6265440"/>
            <a:ext cx="12201480" cy="601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DE391D8-63C4-4340-9AE7-0846A418A2D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TextBox 13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9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AC96387-ECC4-4028-BD62-50E72656CB8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13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8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CA52E31-1DB5-410A-9945-50ACED32004B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Rectangle 9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4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15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8075578-D7FB-4732-B208-2C2530C84902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Rectangle 5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11" descr="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EF76A7A-BEEE-4C1B-A090-007A01911D84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Title 2"/>
          <p:cNvSpPr/>
          <p:nvPr/>
        </p:nvSpPr>
        <p:spPr>
          <a:xfrm>
            <a:off x="838080" y="5746680"/>
            <a:ext cx="13016520" cy="77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Gotham Medium"/>
              </a:rPr>
              <a:t>Headline Copy Goes Here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557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Custom Layou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2"/>
          <p:cNvSpPr/>
          <p:nvPr/>
        </p:nvSpPr>
        <p:spPr>
          <a:xfrm>
            <a:off x="-10080" y="-10080"/>
            <a:ext cx="12201840" cy="686772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"/>
          <p:cNvPicPr/>
          <p:nvPr/>
        </p:nvPicPr>
        <p:blipFill>
          <a:blip r:embed="rId2">
            <a:alphaModFix amt="25000"/>
          </a:blip>
          <a:stretch/>
        </p:blipFill>
        <p:spPr>
          <a:xfrm>
            <a:off x="1834920" y="552960"/>
            <a:ext cx="10356480" cy="5825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 Layou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060320" y="982440"/>
            <a:ext cx="4862160" cy="179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Headline Copy Goes Here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060320" y="3052440"/>
            <a:ext cx="4862160" cy="197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add text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add text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0" y="0"/>
            <a:ext cx="6890760" cy="685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7477920" y="640800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21314d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b="1" lang="en-US" sz="1800" strike="noStrike" u="non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b="0" lang="en-US" sz="1800" strike="noStrike" u="non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95280" y="1661760"/>
            <a:ext cx="10803240" cy="1300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EENG 385</a:t>
            </a:r>
            <a:br>
              <a:rPr sz="4400"/>
            </a:b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BJT Curve Tracer Calibration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Lab Objectives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59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Objective: Finish assembly of BJT Curve Tracer and use it to measure the gain and Early voltage of three BJTs.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Theory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Device Under Test = DUT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Draw family of characteristic curves on oscilloscope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Provide vce and ib as inputs then measure ic as the output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"/>
          <p:cNvPicPr/>
          <p:nvPr/>
        </p:nvPicPr>
        <p:blipFill>
          <a:blip r:embed="rId1"/>
          <a:stretch/>
        </p:blipFill>
        <p:spPr>
          <a:xfrm>
            <a:off x="1396800" y="3288960"/>
            <a:ext cx="6036480" cy="3030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Theory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Imagine oscilloscope drawing an image using a beam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Oscilloscopes used CRTs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X-position of beam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Controlled by voltage on Ch1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Y-position of beam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Controlled by voltage on Ch2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Can create complex images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IC vs. VCE family of curves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12" name="Picture 2" descr="The Cathode-Ray Tube"/>
          <p:cNvPicPr/>
          <p:nvPr/>
        </p:nvPicPr>
        <p:blipFill>
          <a:blip r:embed="rId1"/>
          <a:stretch/>
        </p:blipFill>
        <p:spPr>
          <a:xfrm>
            <a:off x="9043200" y="1298160"/>
            <a:ext cx="2636280" cy="161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Picture 4" descr="Oscilloscope Art - YouTube"/>
          <p:cNvPicPr/>
          <p:nvPr/>
        </p:nvPicPr>
        <p:blipFill>
          <a:blip r:embed="rId2"/>
          <a:stretch/>
        </p:blipFill>
        <p:spPr>
          <a:xfrm>
            <a:off x="8006760" y="3220560"/>
            <a:ext cx="3672360" cy="244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Analyze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Ramp - 0.7V is applied to collector of DUT 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Current mirror converts ic into voltage across 100Ω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VSTAIR is converted to base current through 100kΩ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You will measure the voltage of each step convert to base current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You can do this before soldering in components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4"/>
          <p:cNvGraphicFramePr/>
          <p:nvPr/>
        </p:nvGraphicFramePr>
        <p:xfrm>
          <a:off x="8304840" y="3853800"/>
          <a:ext cx="2516400" cy="1734840"/>
        </p:xfrm>
        <a:graphic>
          <a:graphicData uri="http://schemas.openxmlformats.org/drawingml/2006/table">
            <a:tbl>
              <a:tblPr/>
              <a:tblGrid>
                <a:gridCol w="797040"/>
                <a:gridCol w="859680"/>
                <a:gridCol w="859680"/>
              </a:tblGrid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Step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V</a:t>
                      </a:r>
                      <a:r>
                        <a:rPr b="0" lang="en-US" sz="1100" strike="noStrike" u="none" baseline="-25000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STAIR</a:t>
                      </a:r>
                      <a:r>
                        <a:rPr b="0" lang="en-US" sz="1100" strike="noStrike" u="non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(V)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i</a:t>
                      </a:r>
                      <a:r>
                        <a:rPr b="0" lang="en-US" sz="1100" strike="noStrike" u="none" baseline="-25000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b</a:t>
                      </a:r>
                      <a:r>
                        <a:rPr b="0" lang="en-US" sz="1100" strike="noStrike" u="non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 (uA)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b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7.6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15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b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6.4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12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b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5.1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9.4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b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3.9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6.8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b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2.6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4.0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b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1.4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1.5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</a:tr>
              <a:tr h="216720"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0V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 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117" name="Picture 6" descr=""/>
          <p:cNvPicPr/>
          <p:nvPr/>
        </p:nvPicPr>
        <p:blipFill>
          <a:blip r:embed="rId1"/>
          <a:stretch/>
        </p:blipFill>
        <p:spPr>
          <a:xfrm>
            <a:off x="4364280" y="4196160"/>
            <a:ext cx="3243600" cy="206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Assemble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Two 2N3906 PNP in 385 parts bin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One 2N7000 NMOS in 385 parts bin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Misc. resistors and 3-pin DUT socket in parts bin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Use resistor leads for GND, CH_X and CH_Y loops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4" descr=""/>
          <p:cNvPicPr/>
          <p:nvPr/>
        </p:nvPicPr>
        <p:blipFill>
          <a:blip r:embed="rId1"/>
          <a:stretch/>
        </p:blipFill>
        <p:spPr>
          <a:xfrm>
            <a:off x="7931160" y="4013640"/>
            <a:ext cx="2847600" cy="211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Matching transistors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Current mirror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Circled in red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Works perfectly when beta are same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Choose 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Same font = same lot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Use DCA75 Pro measure Beta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5" descr=""/>
          <p:cNvPicPr/>
          <p:nvPr/>
        </p:nvPicPr>
        <p:blipFill>
          <a:blip r:embed="rId1"/>
          <a:stretch/>
        </p:blipFill>
        <p:spPr>
          <a:xfrm>
            <a:off x="8824320" y="365040"/>
            <a:ext cx="2529360" cy="275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Picture 2" descr="Picture 1 of 6"/>
          <p:cNvPicPr/>
          <p:nvPr/>
        </p:nvPicPr>
        <p:blipFill>
          <a:blip r:embed="rId2"/>
          <a:stretch/>
        </p:blipFill>
        <p:spPr>
          <a:xfrm>
            <a:off x="8432640" y="3124080"/>
            <a:ext cx="2920680" cy="261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Test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Different BJTs will have different pinouts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Will not harm DUT BJT if you put it in backwards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Check datasheet for pinout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Use jumper wires as needed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3" descr=""/>
          <p:cNvPicPr/>
          <p:nvPr/>
        </p:nvPicPr>
        <p:blipFill>
          <a:blip r:embed="rId1"/>
          <a:stretch/>
        </p:blipFill>
        <p:spPr>
          <a:xfrm>
            <a:off x="4987080" y="3837600"/>
            <a:ext cx="3089520" cy="196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Picture 4" descr=""/>
          <p:cNvPicPr/>
          <p:nvPr/>
        </p:nvPicPr>
        <p:blipFill>
          <a:blip r:embed="rId2"/>
          <a:stretch/>
        </p:blipFill>
        <p:spPr>
          <a:xfrm rot="16200000">
            <a:off x="8545320" y="2682720"/>
            <a:ext cx="3567600" cy="267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Test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ff0000"/>
                </a:solidFill>
                <a:effectLst/>
                <a:uFillTx/>
                <a:latin typeface="Times New Roman"/>
                <a:ea typeface="Arial"/>
              </a:rPr>
              <a:t>Base current from Table 3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b05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Measure V</a:t>
            </a:r>
            <a:r>
              <a:rPr b="0" lang="en-US" sz="2800" strike="noStrike" u="none" baseline="-25000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ic</a:t>
            </a:r>
            <a:r>
              <a:rPr b="0" lang="en-US" sz="2800" strike="noStrike" u="none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 at v</a:t>
            </a:r>
            <a:r>
              <a:rPr b="0" lang="en-US" sz="2800" strike="noStrike" u="none" baseline="-25000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ce</a:t>
            </a:r>
            <a:r>
              <a:rPr b="0" lang="en-US" sz="2800" strike="noStrike" u="none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 = 1V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ff"/>
                </a:solidFill>
                <a:effectLst/>
                <a:uFillTx/>
                <a:latin typeface="Times New Roman"/>
                <a:ea typeface="Arial"/>
              </a:rPr>
              <a:t>Use cursors for Early voltage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1" name="Picture 4" descr=""/>
          <p:cNvPicPr/>
          <p:nvPr/>
        </p:nvPicPr>
        <p:blipFill>
          <a:blip r:embed="rId1"/>
          <a:stretch/>
        </p:blipFill>
        <p:spPr>
          <a:xfrm>
            <a:off x="1045080" y="3429000"/>
            <a:ext cx="4245840" cy="271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Picture 3" descr=""/>
          <p:cNvPicPr/>
          <p:nvPr/>
        </p:nvPicPr>
        <p:blipFill>
          <a:blip r:embed="rId2"/>
          <a:stretch/>
        </p:blipFill>
        <p:spPr>
          <a:xfrm>
            <a:off x="7279920" y="365040"/>
            <a:ext cx="3846240" cy="5731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Turn In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This is an individual assignment – turn in your performance cards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You can work in teams of two during this lab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Fill out 3 BJT Performance Cards for: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2N2222 (in 385 parts bin)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2N3904 (in 385 parts bin)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BD139 (in 385 parts bin)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!!!RETURN WHEN DONE!!!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Save BJT card as PDF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Due before start of class next week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Every student uses their own board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Everyone brings their board to class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3723</TotalTime>
  <Application>LibreOffice/25.2.3.2$Linux_X86_64 LibreOffice_project/520$Build-2</Application>
  <AppVersion>15.0000</AppVersion>
  <Words>455</Words>
  <Paragraphs>97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2017-08-01T15:06:47Z</dcterms:created>
  <dc:creator>Microsoft Office User</dc:creator>
  <dc:description/>
  <dc:language>en-US</dc:language>
  <cp:lastModifiedBy/>
  <dcterms:modified xsi:type="dcterms:W3CDTF">2026-02-26T13:51:38Z</dcterms:modified>
  <cp:revision>101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Widescreen</vt:lpwstr>
  </property>
  <property fmtid="{D5CDD505-2E9C-101B-9397-08002B2CF9AE}" pid="4" name="Slides">
    <vt:i4>10</vt:i4>
  </property>
</Properties>
</file>