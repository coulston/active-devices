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660" r:id="rId5"/>
  </p:sldMasterIdLst>
  <p:notesMasterIdLst>
    <p:notesMasterId r:id="rId17"/>
  </p:notesMasterIdLst>
  <p:sldIdLst>
    <p:sldId id="256" r:id="rId6"/>
    <p:sldId id="257" r:id="rId7"/>
    <p:sldId id="258" r:id="rId8"/>
    <p:sldId id="261" r:id="rId9"/>
    <p:sldId id="265" r:id="rId10"/>
    <p:sldId id="260" r:id="rId11"/>
    <p:sldId id="266" r:id="rId12"/>
    <p:sldId id="264" r:id="rId13"/>
    <p:sldId id="267" r:id="rId14"/>
    <p:sldId id="268" r:id="rId15"/>
    <p:sldId id="263" r:id="rId16"/>
  </p:sldIdLst>
  <p:sldSz cx="12192000" cy="6858000"/>
  <p:notesSz cx="6858000" cy="9144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swald" panose="020F0502020204030204" pitchFamily="2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B1134C-FB13-4AFA-8FD6-9174BE769FD5}" v="64" dt="2024-10-26T22:10:04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710" y="5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6.fntdata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AA9C9-0BA5-4F97-8857-454F4B32FCFA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20F4CD-EC7D-493D-A369-E3C9ACFA1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6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8000A-E6E9-4836-9D01-220C39AA9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6F10-E0AA-47B2-897B-D2497C008F0E}" type="datetime1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764435-B17D-E940-07CE-9AC07597F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3E935-1690-63E5-D52C-2A9FA589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3AC2-89D3-421F-985A-BE378E788CE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23D0B9-5976-46E0-7828-7C12B9686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78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6A7E-2CE8-87DD-23D6-A2BB6B872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8245" y="914399"/>
            <a:ext cx="5899355" cy="365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4425B-C705-D7DF-7589-12022D5E8F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8246" y="5029200"/>
            <a:ext cx="5899355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F8BB7-1792-8830-AC91-7731298EA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4F424-33F3-424E-9730-1940609833AE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691DA-E984-0DCC-CD5C-A76DA03C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EA998-0FDA-6EA1-BBF1-374B830F9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3AC2-89D3-421F-985A-BE378E788CE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F7AAF41-6306-D1F9-35F9-7A1B5F4E59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914400"/>
            <a:ext cx="4114800" cy="5029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159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A55B8-ED76-A190-1AE0-4915AD936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2B585-765C-7DEF-79A0-9FE541E02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046DA-7464-E522-7C9E-D5219ABFD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79C9F-E279-4A1F-9682-89A7012FD617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89BED-375E-DE09-A357-1F5F76920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B39B1-E11C-D376-A9EC-9BE402A0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3AC2-89D3-421F-985A-BE378E78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6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E0204-6F95-7073-183C-C6928672E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9441C-99B5-98E5-CC60-61E5BEC95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4A574-214F-2F20-16A1-5961C3CE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629FC-D6E9-4CFE-8394-53481034F4AB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10A6C-1F2C-D303-266B-56A6D65E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E2428-5847-7C3B-329B-D33C606B1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3AC2-89D3-421F-985A-BE378E78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69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CC75D-15EF-E7CD-3DC5-4C022A362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C4170-933D-1AA4-0158-B5B5985F7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92261"/>
            <a:ext cx="5181600" cy="44089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4E247-AE46-B646-946E-DC6E98EC4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1492" y="1592262"/>
            <a:ext cx="5181600" cy="4408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5EB82-3F4D-BE97-91DA-4951C07AB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0097-D4C2-4773-8E85-3E1E591012C1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B7C34-4BDA-11F0-42C0-A373FD7CF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1CB50-E5EB-558E-FA9C-FBFAF6DB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3AC2-89D3-421F-985A-BE378E78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951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9FE3E-CE10-8B3C-661E-6CE52F360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E7204-7036-E799-BC7E-75E46B14D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54163"/>
            <a:ext cx="5157787" cy="6858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87E70-EF3F-55AB-42B7-BE5500146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79406"/>
            <a:ext cx="5157787" cy="36218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69C98D-A136-3D7B-BCBF-5B490D3895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554162"/>
            <a:ext cx="5183188" cy="6858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53A130-8154-69A5-5A13-DA93A5F2A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79406"/>
            <a:ext cx="5183188" cy="36218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4A9D6-832D-EED9-958A-A701B0D6C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4640-D211-4E6C-A7E4-B332280BA0A1}" type="datetime1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20AD42-1806-665A-B346-BB4CB9AF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67BCF8-AF3C-1666-23E9-75EAA160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3AC2-89D3-421F-985A-BE378E78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313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352F9-E338-404F-ADF5-26585E88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8000A-E6E9-4836-9D01-220C39AA9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6F10-E0AA-47B2-897B-D2497C008F0E}" type="datetime1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764435-B17D-E940-07CE-9AC07597F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3E935-1690-63E5-D52C-2A9FA589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3AC2-89D3-421F-985A-BE378E78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54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4247E-51A9-BBA5-4907-2724D0CE3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2B822-C935-48C8-BAFF-D52FD4151B43}" type="datetime1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582E4-17E0-6DA9-A88E-5DA2B40FB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1C93D-8787-2CEC-BFAF-FE9A9AE2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3AC2-89D3-421F-985A-BE378E78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761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A6CC5-EDB9-E3E4-8B5A-C774BE628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6FC9D-17DC-5C39-E429-8BF9E4D41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610A1-383A-55F2-19EE-1FEDE6E5E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BAEE2-D2D3-7131-DFF8-07E855117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5D03C-D2BF-48DD-9C74-FE83E0964AAA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3A1DA-B39C-9CFE-0E2B-D183FE46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9BCB2-3F3C-C501-DD78-78FCDA12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3AC2-89D3-421F-985A-BE378E78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81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3877B-EA38-A56E-9255-586F582A5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C5BC2A-6597-EB8E-7AC5-8F7EE19F4D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ECD80-5821-96E5-3A31-F34965C21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26709-1299-F3D2-6868-E933106D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4270D-98E0-4A74-8855-DC1A0FD74B60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AA077-4348-16FD-5A49-A5B261B6E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Test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DCF4D-C73D-2E9D-D60E-48C16C57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3AC2-89D3-421F-985A-BE378E78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423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8A1F9-FAC0-182B-5FC5-079EB1F3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48907-D7FB-DFCB-2846-7E1B91F8B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1E822-5562-EE37-5B70-E577A6D00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93F56-9C64-43B1-974E-17E9453C6764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36CD5-7EF9-0A3C-CC12-0701ED6B8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Test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C6BE4-CD6C-D2E3-E70B-18AE96AAE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B3AC2-89D3-421F-985A-BE378E78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3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49" r:id="rId2"/>
    <p:sldLayoutId id="2147483651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Oswald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15FEEEC-5ED2-22F1-236F-2153110273DB}"/>
              </a:ext>
            </a:extLst>
          </p:cNvPr>
          <p:cNvSpPr/>
          <p:nvPr userDrawn="1"/>
        </p:nvSpPr>
        <p:spPr>
          <a:xfrm>
            <a:off x="0" y="6172198"/>
            <a:ext cx="12192000" cy="685801"/>
          </a:xfrm>
          <a:prstGeom prst="rect">
            <a:avLst/>
          </a:prstGeom>
          <a:solidFill>
            <a:srgbClr val="AEB3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2A7CDB4-F4F4-093F-315D-320099E95A2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94" y="6230950"/>
            <a:ext cx="1545132" cy="523848"/>
          </a:xfrm>
          <a:prstGeom prst="rect">
            <a:avLst/>
          </a:prstGeom>
        </p:spPr>
      </p:pic>
      <p:pic>
        <p:nvPicPr>
          <p:cNvPr id="17" name="Picture 16" descr="A light bulb with a circuit board inside&#10;&#10;Description automatically generated">
            <a:extLst>
              <a:ext uri="{FF2B5EF4-FFF2-40B4-BE49-F238E27FC236}">
                <a16:creationId xmlns:a16="http://schemas.microsoft.com/office/drawing/2014/main" id="{23C221F2-1CB8-7E3F-0477-C8C273BD50C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686" y="6306532"/>
            <a:ext cx="338545" cy="44484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63655A-4133-EBD2-D013-5CC1A995A04B}"/>
              </a:ext>
            </a:extLst>
          </p:cNvPr>
          <p:cNvCxnSpPr>
            <a:cxnSpLocks/>
          </p:cNvCxnSpPr>
          <p:nvPr userDrawn="1"/>
        </p:nvCxnSpPr>
        <p:spPr>
          <a:xfrm>
            <a:off x="1791284" y="6306532"/>
            <a:ext cx="0" cy="448266"/>
          </a:xfrm>
          <a:prstGeom prst="line">
            <a:avLst/>
          </a:prstGeom>
          <a:ln w="38100" cap="rnd">
            <a:solidFill>
              <a:srgbClr val="2131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8A1F9-FAC0-182B-5FC5-079EB1F3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48907-D7FB-DFCB-2846-7E1B91F8B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4162"/>
            <a:ext cx="10515600" cy="4447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1E822-5562-EE37-5B70-E577A6D00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4632" y="6321929"/>
            <a:ext cx="16064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21314D"/>
                </a:solidFill>
              </a:defRPr>
            </a:lvl1pPr>
          </a:lstStyle>
          <a:p>
            <a:fld id="{2561DD80-2E4E-469C-8788-34E22AF0ECD0}" type="datetime1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36CD5-7EF9-0A3C-CC12-0701ED6B8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98374" y="6321929"/>
            <a:ext cx="7154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1314D"/>
                </a:solidFill>
              </a:defRPr>
            </a:lvl1pPr>
          </a:lstStyle>
          <a:p>
            <a:r>
              <a:rPr lang="en-US"/>
              <a:t>Test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C6BE4-CD6C-D2E3-E70B-18AE96AAE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5492" y="6321929"/>
            <a:ext cx="534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21314D"/>
                </a:solidFill>
              </a:defRPr>
            </a:lvl1pPr>
          </a:lstStyle>
          <a:p>
            <a:fld id="{CD4B3AC2-89D3-421F-985A-BE378E788C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4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Oswald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19C5185-2C24-7BBD-63A2-BC501AFAF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8245" y="914399"/>
            <a:ext cx="5899355" cy="2995750"/>
          </a:xfrm>
        </p:spPr>
        <p:txBody>
          <a:bodyPr/>
          <a:lstStyle/>
          <a:p>
            <a:r>
              <a:rPr lang="en-US" dirty="0"/>
              <a:t>Oscilloscope Basics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163BFFC-1439-B951-8BF3-C22D76338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8244" y="3910149"/>
            <a:ext cx="5899355" cy="914400"/>
          </a:xfrm>
        </p:spPr>
        <p:txBody>
          <a:bodyPr/>
          <a:lstStyle/>
          <a:p>
            <a:r>
              <a:rPr lang="en-US" dirty="0"/>
              <a:t>Mines Maker Society</a:t>
            </a:r>
          </a:p>
          <a:p>
            <a:r>
              <a:rPr lang="en-US" dirty="0"/>
              <a:t>and Mines IEEE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7C2AE26-04BB-6AB3-35D7-AAE7CC5F9F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" name="Picture 26" descr="A light bulb with a circuit board inside&#10;&#10;Description automatically generated">
            <a:extLst>
              <a:ext uri="{FF2B5EF4-FFF2-40B4-BE49-F238E27FC236}">
                <a16:creationId xmlns:a16="http://schemas.microsoft.com/office/drawing/2014/main" id="{949EAAC4-393C-DA6E-3B95-6A520199D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914400"/>
            <a:ext cx="3827397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2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3F322A-9242-AB42-BE08-860744BF2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4400"/>
          </a:xfrm>
        </p:spPr>
        <p:txBody>
          <a:bodyPr/>
          <a:lstStyle/>
          <a:p>
            <a:r>
              <a:rPr lang="en-US" dirty="0"/>
              <a:t>Oscilloscope Parts</a:t>
            </a:r>
          </a:p>
        </p:txBody>
      </p:sp>
      <p:pic>
        <p:nvPicPr>
          <p:cNvPr id="3" name="Picture 2" descr="A close-up of a device&#10;&#10;Description automatically generated">
            <a:extLst>
              <a:ext uri="{FF2B5EF4-FFF2-40B4-BE49-F238E27FC236}">
                <a16:creationId xmlns:a16="http://schemas.microsoft.com/office/drawing/2014/main" id="{6B9D24B5-562A-A3BC-9D2D-AD41206CC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975" y="1447800"/>
            <a:ext cx="7444050" cy="4191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D6DB23-C285-6117-0554-5B3373D5D017}"/>
              </a:ext>
            </a:extLst>
          </p:cNvPr>
          <p:cNvSpPr txBox="1">
            <a:spLocks/>
          </p:cNvSpPr>
          <p:nvPr/>
        </p:nvSpPr>
        <p:spPr>
          <a:xfrm>
            <a:off x="277347" y="2958631"/>
            <a:ext cx="1863229" cy="408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Touchscreen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EE4160-D321-476B-78E8-7A31ED90C05A}"/>
              </a:ext>
            </a:extLst>
          </p:cNvPr>
          <p:cNvSpPr/>
          <p:nvPr/>
        </p:nvSpPr>
        <p:spPr>
          <a:xfrm>
            <a:off x="6409427" y="4787662"/>
            <a:ext cx="1635230" cy="5794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3AD1D2-96C9-010C-F45F-94D248E7F9DB}"/>
              </a:ext>
            </a:extLst>
          </p:cNvPr>
          <p:cNvSpPr/>
          <p:nvPr/>
        </p:nvSpPr>
        <p:spPr>
          <a:xfrm>
            <a:off x="5020573" y="4994517"/>
            <a:ext cx="698739" cy="32798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9A55D9-0E97-1654-952C-3E78F609DF4B}"/>
              </a:ext>
            </a:extLst>
          </p:cNvPr>
          <p:cNvSpPr/>
          <p:nvPr/>
        </p:nvSpPr>
        <p:spPr>
          <a:xfrm>
            <a:off x="2548466" y="4600756"/>
            <a:ext cx="3800576" cy="3279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22AEB4-502F-2ED0-3D9B-FF9A96431D09}"/>
              </a:ext>
            </a:extLst>
          </p:cNvPr>
          <p:cNvSpPr/>
          <p:nvPr/>
        </p:nvSpPr>
        <p:spPr>
          <a:xfrm>
            <a:off x="2585220" y="2015708"/>
            <a:ext cx="4013988" cy="2502738"/>
          </a:xfrm>
          <a:prstGeom prst="roundRect">
            <a:avLst>
              <a:gd name="adj" fmla="val 425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158D27-25AD-BB9F-A43B-54AAE1A643AA}"/>
              </a:ext>
            </a:extLst>
          </p:cNvPr>
          <p:cNvSpPr/>
          <p:nvPr/>
        </p:nvSpPr>
        <p:spPr>
          <a:xfrm>
            <a:off x="6823034" y="2516279"/>
            <a:ext cx="2994991" cy="1106815"/>
          </a:xfrm>
          <a:prstGeom prst="roundRect">
            <a:avLst>
              <a:gd name="adj" fmla="val 401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3AE8C1-91D3-C9DA-6DC4-EE5E31DC9B6A}"/>
              </a:ext>
            </a:extLst>
          </p:cNvPr>
          <p:cNvSpPr/>
          <p:nvPr/>
        </p:nvSpPr>
        <p:spPr>
          <a:xfrm>
            <a:off x="7151298" y="3640231"/>
            <a:ext cx="534838" cy="11068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8FB443-CE8E-CE07-F97B-817734CB0707}"/>
              </a:ext>
            </a:extLst>
          </p:cNvPr>
          <p:cNvSpPr/>
          <p:nvPr/>
        </p:nvSpPr>
        <p:spPr>
          <a:xfrm>
            <a:off x="7830259" y="3657931"/>
            <a:ext cx="534838" cy="11068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51F5D4B-306C-E5A2-352C-95691E9FC0CD}"/>
              </a:ext>
            </a:extLst>
          </p:cNvPr>
          <p:cNvSpPr txBox="1">
            <a:spLocks/>
          </p:cNvSpPr>
          <p:nvPr/>
        </p:nvSpPr>
        <p:spPr>
          <a:xfrm>
            <a:off x="529892" y="4211338"/>
            <a:ext cx="1377286" cy="408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Softkeys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58DBD98-9331-D7AF-F5AD-1B8CB9107481}"/>
              </a:ext>
            </a:extLst>
          </p:cNvPr>
          <p:cNvSpPr txBox="1">
            <a:spLocks/>
          </p:cNvSpPr>
          <p:nvPr/>
        </p:nvSpPr>
        <p:spPr>
          <a:xfrm>
            <a:off x="529891" y="4989472"/>
            <a:ext cx="1377286" cy="408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USB Port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3DEFD74-D117-F221-7F45-597E2EF8D394}"/>
              </a:ext>
            </a:extLst>
          </p:cNvPr>
          <p:cNvSpPr txBox="1">
            <a:spLocks/>
          </p:cNvSpPr>
          <p:nvPr/>
        </p:nvSpPr>
        <p:spPr>
          <a:xfrm>
            <a:off x="10418335" y="2736096"/>
            <a:ext cx="1242440" cy="408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Controls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2023B4C-6A74-5DFC-F62D-543540BB59F8}"/>
              </a:ext>
            </a:extLst>
          </p:cNvPr>
          <p:cNvSpPr txBox="1">
            <a:spLocks/>
          </p:cNvSpPr>
          <p:nvPr/>
        </p:nvSpPr>
        <p:spPr>
          <a:xfrm>
            <a:off x="10182738" y="3353475"/>
            <a:ext cx="1713634" cy="681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Ch. 1 vertical controls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D183D93-DDED-86F4-1BC5-11E7B066B250}"/>
              </a:ext>
            </a:extLst>
          </p:cNvPr>
          <p:cNvSpPr txBox="1">
            <a:spLocks/>
          </p:cNvSpPr>
          <p:nvPr/>
        </p:nvSpPr>
        <p:spPr>
          <a:xfrm>
            <a:off x="10182738" y="4035199"/>
            <a:ext cx="1713634" cy="681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Ch. 2 vertical controls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C7BCF8E-18A5-6EE2-223E-3AAD17925D19}"/>
              </a:ext>
            </a:extLst>
          </p:cNvPr>
          <p:cNvSpPr txBox="1">
            <a:spLocks/>
          </p:cNvSpPr>
          <p:nvPr/>
        </p:nvSpPr>
        <p:spPr>
          <a:xfrm>
            <a:off x="10116649" y="5087437"/>
            <a:ext cx="1863229" cy="681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Probe connectors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33B3694-19B6-C73F-906B-A3FDFC37434D}"/>
              </a:ext>
            </a:extLst>
          </p:cNvPr>
          <p:cNvCxnSpPr>
            <a:cxnSpLocks/>
            <a:stCxn id="17" idx="1"/>
            <a:endCxn id="12" idx="3"/>
          </p:cNvCxnSpPr>
          <p:nvPr/>
        </p:nvCxnSpPr>
        <p:spPr>
          <a:xfrm flipH="1">
            <a:off x="9818025" y="2940211"/>
            <a:ext cx="600310" cy="12947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02C0EB-04F2-D713-BBA6-748C9E64D6AB}"/>
              </a:ext>
            </a:extLst>
          </p:cNvPr>
          <p:cNvCxnSpPr>
            <a:cxnSpLocks/>
            <a:stCxn id="18" idx="1"/>
            <a:endCxn id="13" idx="3"/>
          </p:cNvCxnSpPr>
          <p:nvPr/>
        </p:nvCxnSpPr>
        <p:spPr>
          <a:xfrm flipH="1">
            <a:off x="7686136" y="3694337"/>
            <a:ext cx="2496602" cy="49930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F754EB-3FBE-DA88-4B0E-3310EA00E8D7}"/>
              </a:ext>
            </a:extLst>
          </p:cNvPr>
          <p:cNvCxnSpPr>
            <a:cxnSpLocks/>
            <a:stCxn id="19" idx="1"/>
            <a:endCxn id="14" idx="3"/>
          </p:cNvCxnSpPr>
          <p:nvPr/>
        </p:nvCxnSpPr>
        <p:spPr>
          <a:xfrm flipH="1" flipV="1">
            <a:off x="8365097" y="4211339"/>
            <a:ext cx="1817641" cy="16472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1E9C2A-0777-C3DD-BCBF-ACEACBDB5926}"/>
              </a:ext>
            </a:extLst>
          </p:cNvPr>
          <p:cNvCxnSpPr>
            <a:cxnSpLocks/>
            <a:stCxn id="20" idx="1"/>
            <a:endCxn id="8" idx="3"/>
          </p:cNvCxnSpPr>
          <p:nvPr/>
        </p:nvCxnSpPr>
        <p:spPr>
          <a:xfrm flipH="1" flipV="1">
            <a:off x="8044657" y="5077366"/>
            <a:ext cx="2071992" cy="35093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DC97F50-89B4-603D-A3E6-A16E4A12C6AE}"/>
              </a:ext>
            </a:extLst>
          </p:cNvPr>
          <p:cNvCxnSpPr>
            <a:cxnSpLocks/>
            <a:stCxn id="16" idx="3"/>
            <a:endCxn id="9" idx="1"/>
          </p:cNvCxnSpPr>
          <p:nvPr/>
        </p:nvCxnSpPr>
        <p:spPr>
          <a:xfrm flipV="1">
            <a:off x="1907177" y="5158508"/>
            <a:ext cx="3113396" cy="3507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3B71ABC-325C-C923-11BF-399FD016A8F8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>
            <a:off x="1907178" y="4415453"/>
            <a:ext cx="641288" cy="34929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55CAEC-B81E-ADA0-BC67-FAA75A2280D3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2140576" y="3162746"/>
            <a:ext cx="444644" cy="10433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C7FD358-5CD3-192A-E321-1E886D388C11}"/>
              </a:ext>
            </a:extLst>
          </p:cNvPr>
          <p:cNvSpPr/>
          <p:nvPr/>
        </p:nvSpPr>
        <p:spPr>
          <a:xfrm>
            <a:off x="6897190" y="1698172"/>
            <a:ext cx="1750421" cy="697832"/>
          </a:xfrm>
          <a:prstGeom prst="roundRect">
            <a:avLst>
              <a:gd name="adj" fmla="val 401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9B6A2576-181B-B66D-859C-75AC37589E96}"/>
              </a:ext>
            </a:extLst>
          </p:cNvPr>
          <p:cNvSpPr txBox="1">
            <a:spLocks/>
          </p:cNvSpPr>
          <p:nvPr/>
        </p:nvSpPr>
        <p:spPr>
          <a:xfrm>
            <a:off x="10226743" y="1441840"/>
            <a:ext cx="1434032" cy="663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Horizontal controls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C9D75E3-8B36-8656-A791-1A6873C8F67E}"/>
              </a:ext>
            </a:extLst>
          </p:cNvPr>
          <p:cNvCxnSpPr>
            <a:cxnSpLocks/>
            <a:stCxn id="48" idx="1"/>
            <a:endCxn id="46" idx="3"/>
          </p:cNvCxnSpPr>
          <p:nvPr/>
        </p:nvCxnSpPr>
        <p:spPr>
          <a:xfrm flipH="1">
            <a:off x="8647611" y="1773834"/>
            <a:ext cx="1579132" cy="27325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24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A58EC-F860-4ADF-DBEB-CAD6F45D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Oscilloscope Probe</a:t>
            </a:r>
          </a:p>
        </p:txBody>
      </p:sp>
      <p:pic>
        <p:nvPicPr>
          <p:cNvPr id="4" name="Picture 3" descr="A grey electrical tool with a black wire&#10;&#10;Description automatically generated">
            <a:extLst>
              <a:ext uri="{FF2B5EF4-FFF2-40B4-BE49-F238E27FC236}">
                <a16:creationId xmlns:a16="http://schemas.microsoft.com/office/drawing/2014/main" id="{65D17EDD-528A-BD4D-3837-0F31436BB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748" y="1675311"/>
            <a:ext cx="4676503" cy="350737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154B58-9BA1-2A28-021C-8D0D60FF8656}"/>
              </a:ext>
            </a:extLst>
          </p:cNvPr>
          <p:cNvSpPr/>
          <p:nvPr/>
        </p:nvSpPr>
        <p:spPr>
          <a:xfrm rot="10800000">
            <a:off x="5442856" y="2421456"/>
            <a:ext cx="2403563" cy="635253"/>
          </a:xfrm>
          <a:prstGeom prst="roundRect">
            <a:avLst>
              <a:gd name="adj" fmla="val 401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86004E-C310-132E-E0B5-5E553651EC8B}"/>
              </a:ext>
            </a:extLst>
          </p:cNvPr>
          <p:cNvSpPr txBox="1">
            <a:spLocks/>
          </p:cNvSpPr>
          <p:nvPr/>
        </p:nvSpPr>
        <p:spPr>
          <a:xfrm>
            <a:off x="752908" y="2185093"/>
            <a:ext cx="2697480" cy="11079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Probe</a:t>
            </a:r>
          </a:p>
          <a:p>
            <a:pPr marL="0" indent="0" algn="ctr">
              <a:buNone/>
            </a:pPr>
            <a:r>
              <a:rPr lang="en-US" sz="2000" dirty="0"/>
              <a:t>(Connect to the part of the circuit you want to test.)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B6DB22-68C7-B107-FDD3-E208D916496D}"/>
              </a:ext>
            </a:extLst>
          </p:cNvPr>
          <p:cNvCxnSpPr>
            <a:cxnSpLocks/>
            <a:stCxn id="6" idx="3"/>
            <a:endCxn id="5" idx="3"/>
          </p:cNvCxnSpPr>
          <p:nvPr/>
        </p:nvCxnSpPr>
        <p:spPr>
          <a:xfrm>
            <a:off x="3450388" y="2739082"/>
            <a:ext cx="1992468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D4AF72-25BA-27AD-D0BE-B2DFB4D45D0A}"/>
              </a:ext>
            </a:extLst>
          </p:cNvPr>
          <p:cNvSpPr/>
          <p:nvPr/>
        </p:nvSpPr>
        <p:spPr>
          <a:xfrm rot="10800000">
            <a:off x="5442855" y="4065263"/>
            <a:ext cx="1393373" cy="635253"/>
          </a:xfrm>
          <a:prstGeom prst="roundRect">
            <a:avLst>
              <a:gd name="adj" fmla="val 401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6E38444-C427-1027-DC2E-45BD7D3D2F02}"/>
              </a:ext>
            </a:extLst>
          </p:cNvPr>
          <p:cNvSpPr txBox="1">
            <a:spLocks/>
          </p:cNvSpPr>
          <p:nvPr/>
        </p:nvSpPr>
        <p:spPr>
          <a:xfrm>
            <a:off x="559526" y="3837549"/>
            <a:ext cx="2697480" cy="17259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Ground Clip</a:t>
            </a:r>
          </a:p>
          <a:p>
            <a:pPr marL="0" indent="0" algn="ctr">
              <a:buNone/>
            </a:pPr>
            <a:r>
              <a:rPr lang="en-US" sz="2000" dirty="0"/>
              <a:t>(Connect to the ground reference of your circuit. This is also connected to earth ground through the oscilloscope.)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3A8907-8BD8-6358-AD14-DB57C24E75F2}"/>
              </a:ext>
            </a:extLst>
          </p:cNvPr>
          <p:cNvCxnSpPr>
            <a:cxnSpLocks/>
            <a:stCxn id="14" idx="3"/>
            <a:endCxn id="13" idx="3"/>
          </p:cNvCxnSpPr>
          <p:nvPr/>
        </p:nvCxnSpPr>
        <p:spPr>
          <a:xfrm flipV="1">
            <a:off x="3257006" y="4382889"/>
            <a:ext cx="2185849" cy="31762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734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EC089-98CE-BE25-209E-B7771975E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Attenuation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16269-2A6E-FAB1-2D47-AD4E54B6A4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There are 3 kinds of probes available in our labs</a:t>
            </a:r>
          </a:p>
        </p:txBody>
      </p:sp>
      <p:pic>
        <p:nvPicPr>
          <p:cNvPr id="6" name="Picture 5" descr="A black electrical device with a black cord&#10;&#10;Description automatically generated with medium confidence">
            <a:extLst>
              <a:ext uri="{FF2B5EF4-FFF2-40B4-BE49-F238E27FC236}">
                <a16:creationId xmlns:a16="http://schemas.microsoft.com/office/drawing/2014/main" id="{004CE910-4F6A-50CE-AABB-3B3881A03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" t="15375" r="10995" b="11767"/>
          <a:stretch/>
        </p:blipFill>
        <p:spPr>
          <a:xfrm>
            <a:off x="1123949" y="2921608"/>
            <a:ext cx="4191000" cy="1992780"/>
          </a:xfrm>
          <a:prstGeom prst="rect">
            <a:avLst/>
          </a:prstGeom>
        </p:spPr>
      </p:pic>
      <p:pic>
        <p:nvPicPr>
          <p:cNvPr id="8" name="Picture 7" descr="A grey electrical device with a black label&#10;&#10;Description automatically generated">
            <a:extLst>
              <a:ext uri="{FF2B5EF4-FFF2-40B4-BE49-F238E27FC236}">
                <a16:creationId xmlns:a16="http://schemas.microsoft.com/office/drawing/2014/main" id="{B963CD95-FA88-D8A0-B3D2-90EA7B218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59" b="26631"/>
          <a:stretch/>
        </p:blipFill>
        <p:spPr>
          <a:xfrm>
            <a:off x="7467599" y="1279526"/>
            <a:ext cx="3600452" cy="1428751"/>
          </a:xfrm>
          <a:prstGeom prst="rect">
            <a:avLst/>
          </a:prstGeom>
        </p:spPr>
      </p:pic>
      <p:pic>
        <p:nvPicPr>
          <p:cNvPr id="10" name="Picture 9" descr="A grey cable with black text&#10;&#10;Description automatically generated">
            <a:extLst>
              <a:ext uri="{FF2B5EF4-FFF2-40B4-BE49-F238E27FC236}">
                <a16:creationId xmlns:a16="http://schemas.microsoft.com/office/drawing/2014/main" id="{8E202F7D-5BD9-23A2-2964-DAC68403A0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16" b="23574"/>
          <a:stretch/>
        </p:blipFill>
        <p:spPr>
          <a:xfrm>
            <a:off x="7467599" y="3796757"/>
            <a:ext cx="3600451" cy="142875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E8C437-7217-F031-C39D-764C9A6A1F42}"/>
              </a:ext>
            </a:extLst>
          </p:cNvPr>
          <p:cNvSpPr txBox="1">
            <a:spLocks/>
          </p:cNvSpPr>
          <p:nvPr/>
        </p:nvSpPr>
        <p:spPr>
          <a:xfrm>
            <a:off x="7467599" y="2709892"/>
            <a:ext cx="3600450" cy="912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10x attenuation with pin,</a:t>
            </a:r>
          </a:p>
          <a:p>
            <a:pPr marL="0" indent="0" algn="ctr">
              <a:buNone/>
            </a:pPr>
            <a:r>
              <a:rPr lang="en-US" sz="2000" dirty="0"/>
              <a:t>No need to set manually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B4FC00F-CE88-4E39-CDD1-CDE9BD07B937}"/>
              </a:ext>
            </a:extLst>
          </p:cNvPr>
          <p:cNvSpPr txBox="1">
            <a:spLocks/>
          </p:cNvSpPr>
          <p:nvPr/>
        </p:nvSpPr>
        <p:spPr>
          <a:xfrm>
            <a:off x="7467599" y="5225508"/>
            <a:ext cx="3600450" cy="912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10x attenuation without pin,</a:t>
            </a:r>
          </a:p>
          <a:p>
            <a:pPr marL="0" indent="0" algn="ctr">
              <a:buNone/>
            </a:pPr>
            <a:r>
              <a:rPr lang="en-US" sz="2000" dirty="0"/>
              <a:t>Need to set manually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02437E-CEDB-2770-556D-D0FF785F0D1F}"/>
              </a:ext>
            </a:extLst>
          </p:cNvPr>
          <p:cNvSpPr/>
          <p:nvPr/>
        </p:nvSpPr>
        <p:spPr>
          <a:xfrm>
            <a:off x="7781925" y="1528270"/>
            <a:ext cx="485775" cy="48418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A0D782-2559-9E83-FB65-9C7D59EE240F}"/>
              </a:ext>
            </a:extLst>
          </p:cNvPr>
          <p:cNvSpPr txBox="1">
            <a:spLocks/>
          </p:cNvSpPr>
          <p:nvPr/>
        </p:nvSpPr>
        <p:spPr>
          <a:xfrm>
            <a:off x="1123948" y="4914388"/>
            <a:ext cx="4191001" cy="9127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1x/10x attenuation without pin,</a:t>
            </a:r>
          </a:p>
          <a:p>
            <a:pPr marL="0" indent="0" algn="ctr">
              <a:buNone/>
            </a:pPr>
            <a:r>
              <a:rPr lang="en-US" sz="2000" dirty="0"/>
              <a:t>Need to set manually and match to the switch on the probe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E615A2-AD21-0435-6FA9-D50B5C16F466}"/>
              </a:ext>
            </a:extLst>
          </p:cNvPr>
          <p:cNvSpPr/>
          <p:nvPr/>
        </p:nvSpPr>
        <p:spPr>
          <a:xfrm>
            <a:off x="3867150" y="3166284"/>
            <a:ext cx="1095375" cy="48418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3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84AD8-97D9-DF75-1B46-A7E732E2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F4DFB-0915-3159-1A3E-41E5F61E2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Attenuation</a:t>
            </a:r>
          </a:p>
        </p:txBody>
      </p:sp>
      <p:pic>
        <p:nvPicPr>
          <p:cNvPr id="9" name="Picture 8" descr="A screen shot of a graph&#10;&#10;Description automatically generated">
            <a:extLst>
              <a:ext uri="{FF2B5EF4-FFF2-40B4-BE49-F238E27FC236}">
                <a16:creationId xmlns:a16="http://schemas.microsoft.com/office/drawing/2014/main" id="{664D7F34-C25C-C5CA-782D-9ECFC8623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94"/>
          <a:stretch/>
        </p:blipFill>
        <p:spPr>
          <a:xfrm>
            <a:off x="709614" y="1816608"/>
            <a:ext cx="2514601" cy="3224785"/>
          </a:xfrm>
          <a:prstGeom prst="rect">
            <a:avLst/>
          </a:prstGeom>
        </p:spPr>
      </p:pic>
      <p:pic>
        <p:nvPicPr>
          <p:cNvPr id="17" name="Picture 16" descr="A screen shot of a graph&#10;&#10;Description automatically generated">
            <a:extLst>
              <a:ext uri="{FF2B5EF4-FFF2-40B4-BE49-F238E27FC236}">
                <a16:creationId xmlns:a16="http://schemas.microsoft.com/office/drawing/2014/main" id="{A07F5ED8-046D-1264-1524-9AD79D762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94"/>
          <a:stretch/>
        </p:blipFill>
        <p:spPr>
          <a:xfrm>
            <a:off x="4838700" y="1816608"/>
            <a:ext cx="2514601" cy="3224784"/>
          </a:xfrm>
          <a:prstGeom prst="rect">
            <a:avLst/>
          </a:prstGeom>
        </p:spPr>
      </p:pic>
      <p:pic>
        <p:nvPicPr>
          <p:cNvPr id="19" name="Picture 18" descr="A screen shot of a graph&#10;&#10;Description automatically generated">
            <a:extLst>
              <a:ext uri="{FF2B5EF4-FFF2-40B4-BE49-F238E27FC236}">
                <a16:creationId xmlns:a16="http://schemas.microsoft.com/office/drawing/2014/main" id="{AB6BD923-C5C4-3403-6F1B-5DD2BEEF96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94"/>
          <a:stretch/>
        </p:blipFill>
        <p:spPr>
          <a:xfrm>
            <a:off x="8967786" y="1816608"/>
            <a:ext cx="2514600" cy="3224784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6246BCF-0986-ACF4-C7E7-E9ECB73B75A9}"/>
              </a:ext>
            </a:extLst>
          </p:cNvPr>
          <p:cNvSpPr txBox="1">
            <a:spLocks/>
          </p:cNvSpPr>
          <p:nvPr/>
        </p:nvSpPr>
        <p:spPr>
          <a:xfrm>
            <a:off x="709614" y="5122082"/>
            <a:ext cx="2514601" cy="912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Press here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C81BB9B-437E-9C26-F5DC-4132ACD0A430}"/>
              </a:ext>
            </a:extLst>
          </p:cNvPr>
          <p:cNvSpPr/>
          <p:nvPr/>
        </p:nvSpPr>
        <p:spPr>
          <a:xfrm>
            <a:off x="838200" y="4781551"/>
            <a:ext cx="1073075" cy="2853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EC8B40C-C044-DF82-94AE-9ABD14162429}"/>
              </a:ext>
            </a:extLst>
          </p:cNvPr>
          <p:cNvSpPr txBox="1">
            <a:spLocks/>
          </p:cNvSpPr>
          <p:nvPr/>
        </p:nvSpPr>
        <p:spPr>
          <a:xfrm>
            <a:off x="4838699" y="5122082"/>
            <a:ext cx="2514601" cy="9127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Click “Attenuation” and set to proper value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28DFB18-A40F-955A-2940-2C05EA08FA23}"/>
              </a:ext>
            </a:extLst>
          </p:cNvPr>
          <p:cNvSpPr/>
          <p:nvPr/>
        </p:nvSpPr>
        <p:spPr>
          <a:xfrm>
            <a:off x="4899805" y="4781551"/>
            <a:ext cx="1140556" cy="2853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044F40E-0F09-1EB1-71CF-5E3F1C291933}"/>
              </a:ext>
            </a:extLst>
          </p:cNvPr>
          <p:cNvSpPr txBox="1">
            <a:spLocks/>
          </p:cNvSpPr>
          <p:nvPr/>
        </p:nvSpPr>
        <p:spPr>
          <a:xfrm>
            <a:off x="8967784" y="5122082"/>
            <a:ext cx="2514601" cy="912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Proper value should be shown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CF34637-D77E-0ED6-5751-6F7B12A40FC5}"/>
              </a:ext>
            </a:extLst>
          </p:cNvPr>
          <p:cNvSpPr/>
          <p:nvPr/>
        </p:nvSpPr>
        <p:spPr>
          <a:xfrm>
            <a:off x="9096370" y="4781551"/>
            <a:ext cx="1073075" cy="2853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06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9546E-C477-5103-AAAA-87299E463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Oscilloscope Trigger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D35512-00E7-EC59-534C-B0D70A84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80227"/>
            <a:ext cx="10515600" cy="63477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The trigger determines where it aligns your time cursor</a:t>
            </a:r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D2B6CFD8-1662-45C6-5D3A-929A84964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701446"/>
            <a:ext cx="4772706" cy="3054532"/>
          </a:xfrm>
          <a:prstGeom prst="rect">
            <a:avLst/>
          </a:prstGeom>
        </p:spPr>
      </p:pic>
      <p:pic>
        <p:nvPicPr>
          <p:cNvPr id="6" name="Picture 5" descr="A screen shot of a computer&#10;&#10;Description automatically generated">
            <a:extLst>
              <a:ext uri="{FF2B5EF4-FFF2-40B4-BE49-F238E27FC236}">
                <a16:creationId xmlns:a16="http://schemas.microsoft.com/office/drawing/2014/main" id="{5EED7DAF-C50B-A0CC-387C-5D11554DD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095" y="1701446"/>
            <a:ext cx="4772705" cy="305453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0CEA3B-5360-D818-000A-6D898445F362}"/>
              </a:ext>
            </a:extLst>
          </p:cNvPr>
          <p:cNvCxnSpPr>
            <a:cxnSpLocks/>
          </p:cNvCxnSpPr>
          <p:nvPr/>
        </p:nvCxnSpPr>
        <p:spPr>
          <a:xfrm>
            <a:off x="934064" y="3191839"/>
            <a:ext cx="1907459" cy="0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72FFBB-5988-6470-BB4F-63362384D207}"/>
              </a:ext>
            </a:extLst>
          </p:cNvPr>
          <p:cNvCxnSpPr>
            <a:cxnSpLocks/>
          </p:cNvCxnSpPr>
          <p:nvPr/>
        </p:nvCxnSpPr>
        <p:spPr>
          <a:xfrm flipH="1">
            <a:off x="2841523" y="2074506"/>
            <a:ext cx="9832" cy="1117333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179844C-449E-089D-1C54-F756C9925787}"/>
              </a:ext>
            </a:extLst>
          </p:cNvPr>
          <p:cNvCxnSpPr>
            <a:cxnSpLocks/>
          </p:cNvCxnSpPr>
          <p:nvPr/>
        </p:nvCxnSpPr>
        <p:spPr>
          <a:xfrm>
            <a:off x="6697555" y="2750473"/>
            <a:ext cx="366633" cy="0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83AAE1-72A9-1F5E-A245-E01CDD7F3287}"/>
              </a:ext>
            </a:extLst>
          </p:cNvPr>
          <p:cNvCxnSpPr>
            <a:cxnSpLocks/>
          </p:cNvCxnSpPr>
          <p:nvPr/>
        </p:nvCxnSpPr>
        <p:spPr>
          <a:xfrm>
            <a:off x="7064188" y="2074506"/>
            <a:ext cx="0" cy="675967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295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288E3-E357-DA58-9664-BE0B4655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1A107A8-4D9D-98E8-32C0-4C36BC970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096" y="1701449"/>
            <a:ext cx="4772702" cy="3054529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CE5C74D2-6753-06D9-F6F9-F200682BD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01449"/>
            <a:ext cx="4772705" cy="30545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3B37E0-90CB-FFCD-5DF2-C9BCDB81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Oscilloscope Trigger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7E5F23B-3F08-49F1-A818-84D8B113E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46470"/>
            <a:ext cx="10515600" cy="4755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You can also set the direction for the trigger (rising or falling)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24C853-CD05-7DCC-A4D7-A21F4B2BA5AA}"/>
              </a:ext>
            </a:extLst>
          </p:cNvPr>
          <p:cNvCxnSpPr>
            <a:cxnSpLocks/>
          </p:cNvCxnSpPr>
          <p:nvPr/>
        </p:nvCxnSpPr>
        <p:spPr>
          <a:xfrm flipH="1">
            <a:off x="1310895" y="2094388"/>
            <a:ext cx="9832" cy="1117333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35EC02-5D5B-838A-49B0-D4FAB4D052FF}"/>
              </a:ext>
            </a:extLst>
          </p:cNvPr>
          <p:cNvCxnSpPr>
            <a:cxnSpLocks/>
          </p:cNvCxnSpPr>
          <p:nvPr/>
        </p:nvCxnSpPr>
        <p:spPr>
          <a:xfrm flipH="1">
            <a:off x="7059025" y="2094388"/>
            <a:ext cx="9832" cy="1117333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B0E9DEC3-62A4-A03B-776D-36CC162C1091}"/>
              </a:ext>
            </a:extLst>
          </p:cNvPr>
          <p:cNvSpPr txBox="1">
            <a:spLocks/>
          </p:cNvSpPr>
          <p:nvPr/>
        </p:nvSpPr>
        <p:spPr>
          <a:xfrm>
            <a:off x="838200" y="4909930"/>
            <a:ext cx="4772705" cy="475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Rising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E7471213-2FF6-3920-21A1-35E76A455E9C}"/>
              </a:ext>
            </a:extLst>
          </p:cNvPr>
          <p:cNvSpPr txBox="1">
            <a:spLocks/>
          </p:cNvSpPr>
          <p:nvPr/>
        </p:nvSpPr>
        <p:spPr>
          <a:xfrm>
            <a:off x="6581096" y="4909930"/>
            <a:ext cx="4772705" cy="475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Falling</a:t>
            </a:r>
          </a:p>
        </p:txBody>
      </p:sp>
    </p:spTree>
    <p:extLst>
      <p:ext uri="{BB962C8B-B14F-4D97-AF65-F5344CB8AC3E}">
        <p14:creationId xmlns:p14="http://schemas.microsoft.com/office/powerpoint/2010/main" val="4008803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13B3-9998-147C-F481-F7F9D29E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4400"/>
          </a:xfrm>
        </p:spPr>
        <p:txBody>
          <a:bodyPr/>
          <a:lstStyle/>
          <a:p>
            <a:r>
              <a:rPr lang="en-US" dirty="0"/>
              <a:t>Cursors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08C5843-B58D-3C1E-F980-F4541C0F1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83556" y="1592262"/>
            <a:ext cx="4214192" cy="131990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You can take manual voltage and time measurements using the cursors</a:t>
            </a:r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DB849F49-89D5-22D9-8FE6-B04009838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92262"/>
            <a:ext cx="6672470" cy="4270380"/>
          </a:xfrm>
          <a:prstGeom prst="rect">
            <a:avLst/>
          </a:prstGeom>
        </p:spPr>
      </p:pic>
      <p:pic>
        <p:nvPicPr>
          <p:cNvPr id="10" name="Picture 9" descr="A close-up of a device&#10;&#10;Description automatically generated">
            <a:extLst>
              <a:ext uri="{FF2B5EF4-FFF2-40B4-BE49-F238E27FC236}">
                <a16:creationId xmlns:a16="http://schemas.microsoft.com/office/drawing/2014/main" id="{2F0CF267-43FB-B061-06EF-82BA52FB7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63" t="5974" r="109" b="46798"/>
          <a:stretch/>
        </p:blipFill>
        <p:spPr>
          <a:xfrm>
            <a:off x="7772400" y="3127274"/>
            <a:ext cx="4025348" cy="273536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E3EF593-DE1B-2E9F-A820-B6BDB87AD9C6}"/>
              </a:ext>
            </a:extLst>
          </p:cNvPr>
          <p:cNvSpPr/>
          <p:nvPr/>
        </p:nvSpPr>
        <p:spPr>
          <a:xfrm>
            <a:off x="9432234" y="4353339"/>
            <a:ext cx="506895" cy="298173"/>
          </a:xfrm>
          <a:prstGeom prst="roundRect">
            <a:avLst>
              <a:gd name="adj" fmla="val 2401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20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D77E4-479B-2E74-6827-F55DBC36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9D00D142-DD7F-D2B2-9D17-F48459285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92262"/>
            <a:ext cx="6672469" cy="42703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69117A-5C4C-30AD-0627-CDACC0E2F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4400"/>
          </a:xfrm>
        </p:spPr>
        <p:txBody>
          <a:bodyPr/>
          <a:lstStyle/>
          <a:p>
            <a:r>
              <a:rPr lang="en-US" dirty="0"/>
              <a:t>Measurements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D14D2B-256A-9C93-7AD1-FA5794C80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83556" y="1592262"/>
            <a:ext cx="4214192" cy="1319903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oscope</a:t>
            </a:r>
            <a:r>
              <a:rPr lang="en-US" dirty="0"/>
              <a:t> can also make many standard measurements for you</a:t>
            </a:r>
          </a:p>
        </p:txBody>
      </p:sp>
      <p:pic>
        <p:nvPicPr>
          <p:cNvPr id="10" name="Picture 9" descr="A close-up of a device&#10;&#10;Description automatically generated">
            <a:extLst>
              <a:ext uri="{FF2B5EF4-FFF2-40B4-BE49-F238E27FC236}">
                <a16:creationId xmlns:a16="http://schemas.microsoft.com/office/drawing/2014/main" id="{DED90590-CAEA-E13B-60B0-DA85F2FF2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63" t="5974" r="109" b="46798"/>
          <a:stretch/>
        </p:blipFill>
        <p:spPr>
          <a:xfrm>
            <a:off x="7772400" y="3127274"/>
            <a:ext cx="4025348" cy="273536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CC2E18-471C-FC02-F357-0CC1D8D03069}"/>
              </a:ext>
            </a:extLst>
          </p:cNvPr>
          <p:cNvSpPr/>
          <p:nvPr/>
        </p:nvSpPr>
        <p:spPr>
          <a:xfrm>
            <a:off x="9437204" y="4711148"/>
            <a:ext cx="506895" cy="298173"/>
          </a:xfrm>
          <a:prstGeom prst="roundRect">
            <a:avLst>
              <a:gd name="adj" fmla="val 24018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56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AE8C6-700F-C5AE-550A-4D65BF75F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13711-EC12-FD6A-A2C2-FF5EA5FF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Measurements</a:t>
            </a:r>
          </a:p>
        </p:txBody>
      </p:sp>
      <p:pic>
        <p:nvPicPr>
          <p:cNvPr id="14" name="Picture 13" descr="A screen shot of a computer&#10;&#10;Description automatically generated">
            <a:extLst>
              <a:ext uri="{FF2B5EF4-FFF2-40B4-BE49-F238E27FC236}">
                <a16:creationId xmlns:a16="http://schemas.microsoft.com/office/drawing/2014/main" id="{52AAC4C9-4F83-E121-BE61-BC212034C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66004"/>
            <a:ext cx="3869634" cy="2476566"/>
          </a:xfrm>
          <a:prstGeom prst="rect">
            <a:avLst/>
          </a:prstGeom>
        </p:spPr>
      </p:pic>
      <p:pic>
        <p:nvPicPr>
          <p:cNvPr id="16" name="Picture 15" descr="A screen shot of a computer&#10;&#10;Description automatically generated">
            <a:extLst>
              <a:ext uri="{FF2B5EF4-FFF2-40B4-BE49-F238E27FC236}">
                <a16:creationId xmlns:a16="http://schemas.microsoft.com/office/drawing/2014/main" id="{2ACA4BF3-BFB7-001E-DFA7-A84BCE4D3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168" y="1279526"/>
            <a:ext cx="3869634" cy="2476566"/>
          </a:xfrm>
          <a:prstGeom prst="rect">
            <a:avLst/>
          </a:prstGeom>
        </p:spPr>
      </p:pic>
      <p:pic>
        <p:nvPicPr>
          <p:cNvPr id="18" name="Picture 17" descr="A screen shot of a computer&#10;&#10;Description automatically generated">
            <a:extLst>
              <a:ext uri="{FF2B5EF4-FFF2-40B4-BE49-F238E27FC236}">
                <a16:creationId xmlns:a16="http://schemas.microsoft.com/office/drawing/2014/main" id="{57BAF1AA-0372-3775-656C-F4750D3C08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168" y="4066004"/>
            <a:ext cx="3869634" cy="2476566"/>
          </a:xfrm>
          <a:prstGeom prst="rect">
            <a:avLst/>
          </a:prstGeom>
        </p:spPr>
      </p:pic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14BBEB94-B13B-8174-B7F6-EA8FFC8C3618}"/>
              </a:ext>
            </a:extLst>
          </p:cNvPr>
          <p:cNvSpPr txBox="1">
            <a:spLocks/>
          </p:cNvSpPr>
          <p:nvPr/>
        </p:nvSpPr>
        <p:spPr>
          <a:xfrm>
            <a:off x="4899992" y="1279526"/>
            <a:ext cx="2355574" cy="52133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Top left: Phase</a:t>
            </a:r>
          </a:p>
          <a:p>
            <a:r>
              <a:rPr lang="en-US" dirty="0"/>
              <a:t>Top right: Amplitude</a:t>
            </a:r>
          </a:p>
          <a:p>
            <a:r>
              <a:rPr lang="en-US" dirty="0"/>
              <a:t>Bottom left: Peak-to-peak</a:t>
            </a:r>
          </a:p>
          <a:p>
            <a:r>
              <a:rPr lang="en-US" dirty="0"/>
              <a:t>Bottom Right: Percent overshoot</a:t>
            </a:r>
          </a:p>
        </p:txBody>
      </p:sp>
      <p:pic>
        <p:nvPicPr>
          <p:cNvPr id="24" name="Picture 23" descr="A screen shot of a computer&#10;&#10;Description automatically generated">
            <a:extLst>
              <a:ext uri="{FF2B5EF4-FFF2-40B4-BE49-F238E27FC236}">
                <a16:creationId xmlns:a16="http://schemas.microsoft.com/office/drawing/2014/main" id="{B480C312-5207-E29C-703F-441D4AEDAB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1279526"/>
            <a:ext cx="3869634" cy="247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06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8958-42AA-B554-AEBE-E89938AA4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C55E21A-5FAC-F04F-B275-515422884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24" y="5206121"/>
            <a:ext cx="11164954" cy="914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y</a:t>
            </a:r>
            <a:r>
              <a:rPr lang="en-US" sz="2800" dirty="0"/>
              <a:t>ou have a noisy signal, you can average a number of captures to isolate the signal you want to see</a:t>
            </a:r>
          </a:p>
          <a:p>
            <a:endParaRPr lang="en-US" dirty="0"/>
          </a:p>
        </p:txBody>
      </p:sp>
      <p:pic>
        <p:nvPicPr>
          <p:cNvPr id="4" name="Picture 3" descr="A screen shot of a graph&#10;&#10;Description automatically generated">
            <a:extLst>
              <a:ext uri="{FF2B5EF4-FFF2-40B4-BE49-F238E27FC236}">
                <a16:creationId xmlns:a16="http://schemas.microsoft.com/office/drawing/2014/main" id="{C1C001F9-1B16-0DFD-CCD3-06BA5497C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145" y="1790714"/>
            <a:ext cx="4437358" cy="2839910"/>
          </a:xfrm>
          <a:prstGeom prst="rect">
            <a:avLst/>
          </a:prstGeom>
        </p:spPr>
      </p:pic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C34565B-DB07-6033-4096-91F6DB98A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12" y="1790714"/>
            <a:ext cx="4437358" cy="283991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E7CD4C6-7D62-8433-07A4-7D2B0D336A3B}"/>
              </a:ext>
            </a:extLst>
          </p:cNvPr>
          <p:cNvGrpSpPr/>
          <p:nvPr/>
        </p:nvGrpSpPr>
        <p:grpSpPr>
          <a:xfrm>
            <a:off x="9544878" y="2506067"/>
            <a:ext cx="2279584" cy="1549059"/>
            <a:chOff x="7772400" y="3127274"/>
            <a:chExt cx="4025348" cy="2735368"/>
          </a:xfrm>
        </p:grpSpPr>
        <p:pic>
          <p:nvPicPr>
            <p:cNvPr id="11" name="Picture 10" descr="A close-up of a device&#10;&#10;Description automatically generated">
              <a:extLst>
                <a:ext uri="{FF2B5EF4-FFF2-40B4-BE49-F238E27FC236}">
                  <a16:creationId xmlns:a16="http://schemas.microsoft.com/office/drawing/2014/main" id="{0C3EF7A6-1649-8C40-57E9-1F2238E31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763" t="5974" r="109" b="46798"/>
            <a:stretch/>
          </p:blipFill>
          <p:spPr>
            <a:xfrm>
              <a:off x="7772400" y="3127274"/>
              <a:ext cx="4025348" cy="2735368"/>
            </a:xfrm>
            <a:prstGeom prst="rect">
              <a:avLst/>
            </a:prstGeom>
          </p:spPr>
        </p:pic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5CA015E-545A-5DA1-0765-EC9958EA8073}"/>
                </a:ext>
              </a:extLst>
            </p:cNvPr>
            <p:cNvSpPr/>
            <p:nvPr/>
          </p:nvSpPr>
          <p:spPr>
            <a:xfrm>
              <a:off x="9414779" y="5081176"/>
              <a:ext cx="506894" cy="298174"/>
            </a:xfrm>
            <a:prstGeom prst="roundRect">
              <a:avLst>
                <a:gd name="adj" fmla="val 24018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911858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PPT Template.pptx" id="{CE21CE3B-9E64-488E-AD6F-1C3E879CCF8C}" vid="{68EFE824-6994-4075-8977-B6A0B6A23F4C}"/>
    </a:ext>
  </a:extLst>
</a:theme>
</file>

<file path=ppt/theme/theme2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PPT Template.pptx" id="{CE21CE3B-9E64-488E-AD6F-1C3E879CCF8C}" vid="{5587C771-1DCE-4C7E-8192-1D64EFC7E0F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0c7b23e-d02f-4c2d-abdf-bf753bb3a45e">
      <Terms xmlns="http://schemas.microsoft.com/office/infopath/2007/PartnerControls"/>
    </lcf76f155ced4ddcb4097134ff3c332f>
    <TaxCatchAll xmlns="2e8ec086-6825-4dca-851c-c9999777eb9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95DFEB85607A40BFD804482A93CE5F" ma:contentTypeVersion="17" ma:contentTypeDescription="Create a new document." ma:contentTypeScope="" ma:versionID="fffd1f56f9c6234042058816ccd4f01a">
  <xsd:schema xmlns:xsd="http://www.w3.org/2001/XMLSchema" xmlns:xs="http://www.w3.org/2001/XMLSchema" xmlns:p="http://schemas.microsoft.com/office/2006/metadata/properties" xmlns:ns2="20c7b23e-d02f-4c2d-abdf-bf753bb3a45e" xmlns:ns3="2e8ec086-6825-4dca-851c-c9999777eb9c" targetNamespace="http://schemas.microsoft.com/office/2006/metadata/properties" ma:root="true" ma:fieldsID="e0709ca7f79395551087124fa5f5b2a1" ns2:_="" ns3:_="">
    <xsd:import namespace="20c7b23e-d02f-4c2d-abdf-bf753bb3a45e"/>
    <xsd:import namespace="2e8ec086-6825-4dca-851c-c9999777eb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c7b23e-d02f-4c2d-abdf-bf753bb3a4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892c282-ceba-42ac-8ce1-c7c398cdd3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ec086-6825-4dca-851c-c9999777eb9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88cbcf3-b42d-45cc-9e38-bf0e9fb57b82}" ma:internalName="TaxCatchAll" ma:showField="CatchAllData" ma:web="2e8ec086-6825-4dca-851c-c9999777eb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C28515-DF90-4342-80CC-E6B4232A561E}">
  <ds:schemaRefs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20c7b23e-d02f-4c2d-abdf-bf753bb3a45e"/>
    <ds:schemaRef ds:uri="http://schemas.microsoft.com/office/2006/metadata/properties"/>
    <ds:schemaRef ds:uri="http://purl.org/dc/elements/1.1/"/>
    <ds:schemaRef ds:uri="http://schemas.microsoft.com/office/infopath/2007/PartnerControls"/>
    <ds:schemaRef ds:uri="2e8ec086-6825-4dca-851c-c9999777eb9c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E632CD8-2E09-442F-8F49-1DC36762A4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6FF8C1-45F5-4E33-A6E6-8FBF5B470E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c7b23e-d02f-4c2d-abdf-bf753bb3a45e"/>
    <ds:schemaRef ds:uri="2e8ec086-6825-4dca-851c-c9999777eb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 PPT Template</Template>
  <TotalTime>297</TotalTime>
  <Words>229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Open Sans</vt:lpstr>
      <vt:lpstr>Arial</vt:lpstr>
      <vt:lpstr>Oswald</vt:lpstr>
      <vt:lpstr>Calibri</vt:lpstr>
      <vt:lpstr>Title Slides</vt:lpstr>
      <vt:lpstr>Content Slides</vt:lpstr>
      <vt:lpstr>Oscilloscope Basics</vt:lpstr>
      <vt:lpstr>Oscilloscope Parts</vt:lpstr>
      <vt:lpstr>Oscilloscope Probe</vt:lpstr>
      <vt:lpstr>Setting Attenuation</vt:lpstr>
      <vt:lpstr>Setting Attenuation</vt:lpstr>
      <vt:lpstr>Oscilloscope Trigger</vt:lpstr>
      <vt:lpstr>Oscilloscope Trigger</vt:lpstr>
      <vt:lpstr>Cursors</vt:lpstr>
      <vt:lpstr>Measurements</vt:lpstr>
      <vt:lpstr>Measurements</vt:lpstr>
      <vt:lpstr>Acquire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Kenny Hora (Student)</dc:creator>
  <cp:lastModifiedBy>Kenny Hora (Student)</cp:lastModifiedBy>
  <cp:revision>2</cp:revision>
  <dcterms:created xsi:type="dcterms:W3CDTF">2024-10-26T17:17:09Z</dcterms:created>
  <dcterms:modified xsi:type="dcterms:W3CDTF">2025-04-29T16:21:14Z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0x0101003595DFEB85607A40BFD804482A93CE5F</vt:lpwstr>
  </property>
  <property fmtid="{D5CDD505-2E9C-101B-9397-08002B2CF9AE}" pid="3" name="MediaServiceImageTags">
    <vt:lpwstr/>
  </property>
</Properties>
</file>