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62" r:id="rId2"/>
    <p:sldId id="538" r:id="rId3"/>
    <p:sldId id="557" r:id="rId4"/>
    <p:sldId id="621" r:id="rId5"/>
    <p:sldId id="620" r:id="rId6"/>
    <p:sldId id="622" r:id="rId7"/>
    <p:sldId id="62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314D"/>
    <a:srgbClr val="263F6A"/>
    <a:srgbClr val="8B8D8E"/>
    <a:srgbClr val="CED5DD"/>
    <a:srgbClr val="B2B4B3"/>
    <a:srgbClr val="DD5F36"/>
    <a:srgbClr val="D2492A"/>
    <a:srgbClr val="92A2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52" autoAdjust="0"/>
    <p:restoredTop sz="75177" autoAdjust="0"/>
  </p:normalViewPr>
  <p:slideViewPr>
    <p:cSldViewPr snapToGrid="0" snapToObjects="1">
      <p:cViewPr varScale="1">
        <p:scale>
          <a:sx n="88" d="100"/>
          <a:sy n="88" d="100"/>
        </p:scale>
        <p:origin x="17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68" d="100"/>
          <a:sy n="168" d="100"/>
        </p:scale>
        <p:origin x="3688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DD5C9C-88A3-CA43-B162-DCC4E1E4BE7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FE5E8-0999-F94A-9937-3F8545B10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9103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5E4000-89B6-4F22-834E-B172C4AA57D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0C4D68-66B1-48D6-AAFD-4ABFAB720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920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Usually the &lt;title of the lab&gt; is what will be called the “System” through the rest of this document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311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45CC39-578B-4552-A24A-45E58858BC64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&lt;System&gt; with the name of the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1477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&lt;System&gt; with the name of the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716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580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screen"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5085" y="170978"/>
            <a:ext cx="10356915" cy="582576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DF55106-BA85-A046-A450-43480962F8F7}"/>
              </a:ext>
            </a:extLst>
          </p:cNvPr>
          <p:cNvSpPr/>
          <p:nvPr userDrawn="1"/>
        </p:nvSpPr>
        <p:spPr>
          <a:xfrm>
            <a:off x="-34047" y="0"/>
            <a:ext cx="12260094" cy="6265544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520878" y="3287006"/>
            <a:ext cx="911199" cy="0"/>
          </a:xfrm>
          <a:prstGeom prst="line">
            <a:avLst/>
          </a:prstGeom>
          <a:ln w="28575">
            <a:solidFill>
              <a:srgbClr val="D249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08E7ABF0-DEE6-F34C-98A7-7FC5808DF58A}"/>
              </a:ext>
            </a:extLst>
          </p:cNvPr>
          <p:cNvPicPr/>
          <p:nvPr userDrawn="1"/>
        </p:nvPicPr>
        <p:blipFill>
          <a:blip r:embed="rId3"/>
          <a:stretch>
            <a:fillRect/>
          </a:stretch>
        </p:blipFill>
        <p:spPr bwMode="auto">
          <a:xfrm>
            <a:off x="381000" y="6373243"/>
            <a:ext cx="3200400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8B3FD82-CB41-C84B-B706-06F09C4B7CF1}"/>
              </a:ext>
            </a:extLst>
          </p:cNvPr>
          <p:cNvSpPr txBox="1"/>
          <p:nvPr userDrawn="1"/>
        </p:nvSpPr>
        <p:spPr>
          <a:xfrm>
            <a:off x="7478040" y="6407925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rgbClr val="21314D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395371" y="3737295"/>
            <a:ext cx="9144000" cy="1655762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en-US" dirty="0">
                <a:solidFill>
                  <a:schemeClr val="bg1"/>
                </a:solidFill>
              </a:rPr>
              <a:t>Subhead, name or date goes here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3429AB2-51CA-D34A-933D-348196C30A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5085" y="170976"/>
            <a:ext cx="10356915" cy="5825765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395371" y="2243579"/>
            <a:ext cx="10803672" cy="719056"/>
          </a:xfrm>
        </p:spPr>
        <p:txBody>
          <a:bodyPr>
            <a:normAutofit/>
          </a:bodyPr>
          <a:lstStyle>
            <a:lvl1pPr>
              <a:defRPr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en-US" sz="5400" dirty="0">
                <a:solidFill>
                  <a:schemeClr val="bg1"/>
                </a:solidFill>
              </a:rPr>
              <a:t>Presentation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608327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-9728" y="-9729"/>
            <a:ext cx="12201728" cy="626554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header goes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 b="0" i="0">
                <a:solidFill>
                  <a:srgbClr val="92A2B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subhead goes here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2BC71D-0003-024E-9F29-71C949747F4A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0" y="6373243"/>
            <a:ext cx="3200400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5715021-AF61-AF4F-9B48-1343FD8CB059}"/>
              </a:ext>
            </a:extLst>
          </p:cNvPr>
          <p:cNvSpPr txBox="1"/>
          <p:nvPr userDrawn="1"/>
        </p:nvSpPr>
        <p:spPr>
          <a:xfrm>
            <a:off x="7478040" y="6407925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rgbClr val="21314D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</p:spTree>
    <p:extLst>
      <p:ext uri="{BB962C8B-B14F-4D97-AF65-F5344CB8AC3E}">
        <p14:creationId xmlns:p14="http://schemas.microsoft.com/office/powerpoint/2010/main" val="1593687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-9728" y="6265545"/>
            <a:ext cx="12201728" cy="601701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C7278D-9F84-1645-9C4A-4B5FD9D68954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136334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729617-3EE6-934F-B272-92B6163ABCA3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A977242-14B3-B24E-8B0C-44E4362EFCBD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691851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053E08-80AB-B043-979E-87B7A1E7EB21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2B57081-B141-9B4E-9482-F401745054EE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11879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A0EA07-1225-FE4C-917E-74A024F5E428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3F1F743-16CE-3043-9E24-77715B0645DA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11590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2"/>
          <p:cNvSpPr txBox="1">
            <a:spLocks/>
          </p:cNvSpPr>
          <p:nvPr userDrawn="1"/>
        </p:nvSpPr>
        <p:spPr>
          <a:xfrm>
            <a:off x="838202" y="5746528"/>
            <a:ext cx="13016751" cy="7793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rgbClr val="21314D"/>
                </a:solidFill>
                <a:latin typeface="Gotham Medium" charset="0"/>
                <a:ea typeface="Gotham Medium" charset="0"/>
                <a:cs typeface="Gotham Medium" charset="0"/>
              </a:defRPr>
            </a:lvl1pPr>
          </a:lstStyle>
          <a:p>
            <a:r>
              <a:rPr lang="en-US" sz="4400" b="1" i="0" dirty="0">
                <a:latin typeface="Arial" panose="020B0604020202020204" pitchFamily="34" charset="0"/>
                <a:cs typeface="Arial" panose="020B0604020202020204" pitchFamily="34" charset="0"/>
              </a:rPr>
              <a:t>Headline Copy Goes Here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1"/>
          </p:nvPr>
        </p:nvSpPr>
        <p:spPr>
          <a:xfrm>
            <a:off x="0" y="1"/>
            <a:ext cx="12192000" cy="557703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095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-10048" y="-10048"/>
            <a:ext cx="12202048" cy="6868048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screen"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5085" y="552941"/>
            <a:ext cx="10356915" cy="5825765"/>
          </a:xfrm>
          <a:prstGeom prst="rect">
            <a:avLst/>
          </a:prstGeom>
        </p:spPr>
      </p:pic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046399" y="2531096"/>
            <a:ext cx="9144000" cy="1655762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en-US" dirty="0">
                <a:solidFill>
                  <a:schemeClr val="bg1"/>
                </a:solidFill>
              </a:rPr>
              <a:t>“Quote goes here.”</a:t>
            </a:r>
          </a:p>
        </p:txBody>
      </p:sp>
    </p:spTree>
    <p:extLst>
      <p:ext uri="{BB962C8B-B14F-4D97-AF65-F5344CB8AC3E}">
        <p14:creationId xmlns:p14="http://schemas.microsoft.com/office/powerpoint/2010/main" val="224394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7060252" y="982464"/>
            <a:ext cx="4862405" cy="1794085"/>
          </a:xfrm>
        </p:spPr>
        <p:txBody>
          <a:bodyPr/>
          <a:lstStyle/>
          <a:p>
            <a:r>
              <a:rPr lang="en-US" dirty="0"/>
              <a:t>Headline Copy Goes Here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7060253" y="3052261"/>
            <a:ext cx="4862404" cy="1975926"/>
          </a:xfrm>
        </p:spPr>
        <p:txBody>
          <a:bodyPr/>
          <a:lstStyle/>
          <a:p>
            <a:r>
              <a:rPr lang="en-US" dirty="0"/>
              <a:t>Click to add text</a:t>
            </a:r>
          </a:p>
          <a:p>
            <a:r>
              <a:rPr lang="en-US" dirty="0"/>
              <a:t>Click to add text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idx="10"/>
          </p:nvPr>
        </p:nvSpPr>
        <p:spPr>
          <a:xfrm>
            <a:off x="0" y="3"/>
            <a:ext cx="6890995" cy="6857999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7478040" y="6407925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rgbClr val="21314D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</p:spTree>
    <p:extLst>
      <p:ext uri="{BB962C8B-B14F-4D97-AF65-F5344CB8AC3E}">
        <p14:creationId xmlns:p14="http://schemas.microsoft.com/office/powerpoint/2010/main" val="539565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816478-27A8-5948-917C-6E6357F4BB0B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530F95D-C0F7-B448-B59E-D27295E0C7A5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581501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-10048" y="-10049"/>
            <a:ext cx="5183189" cy="6943412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0058" y="472281"/>
            <a:ext cx="3932237" cy="1600200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Copy goes here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9" y="2"/>
            <a:ext cx="7008812" cy="6857999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50058" y="2072481"/>
            <a:ext cx="3932237" cy="3811588"/>
          </a:xfrm>
        </p:spPr>
        <p:txBody>
          <a:bodyPr>
            <a:normAutofit/>
          </a:bodyPr>
          <a:lstStyle>
            <a:lvl1pPr marL="457189" indent="-457189">
              <a:buFont typeface="Arial" charset="0"/>
              <a:buChar char="•"/>
              <a:defRPr sz="2800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dirty="0"/>
              <a:t>Supporting text goes here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01F5E0A-84A7-2F4C-A9C5-069A0CC392D2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8851661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-10048" y="6265545"/>
            <a:ext cx="12202048" cy="601701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529638-9519-5646-BC6C-4C995584BC00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2467B4F-5A8F-3845-8B30-98B83A0003A1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676384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-10048" y="6265545"/>
            <a:ext cx="12202048" cy="601701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06899B-D311-B446-8DBB-7D61E82846C1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4CB1FB3-2557-BB46-9386-C66D040E875F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81484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57347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61" r:id="rId8"/>
    <p:sldLayoutId id="2147483660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rgbClr val="21314D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b="0" i="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#_Tune_the_PID"/><Relationship Id="rId2" Type="http://schemas.openxmlformats.org/officeDocument/2006/relationships/hyperlink" Target="#_Circuit_Operation: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5371" y="1661652"/>
            <a:ext cx="10803672" cy="1300983"/>
          </a:xfrm>
        </p:spPr>
        <p:txBody>
          <a:bodyPr>
            <a:normAutofit/>
          </a:bodyPr>
          <a:lstStyle/>
          <a:p>
            <a:r>
              <a:rPr lang="en-US" dirty="0"/>
              <a:t>EENG 385</a:t>
            </a:r>
            <a:br>
              <a:rPr lang="en-US" dirty="0"/>
            </a:br>
            <a:r>
              <a:rPr lang="en-US" dirty="0"/>
              <a:t>PID Controller</a:t>
            </a:r>
          </a:p>
        </p:txBody>
      </p:sp>
    </p:spTree>
    <p:extLst>
      <p:ext uri="{BB962C8B-B14F-4D97-AF65-F5344CB8AC3E}">
        <p14:creationId xmlns:p14="http://schemas.microsoft.com/office/powerpoint/2010/main" val="2018888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912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objective of this lab is to understand how </a:t>
            </a:r>
            <a:r>
              <a:rPr lang="en-US" dirty="0" err="1"/>
              <a:t>opamp</a:t>
            </a:r>
            <a:r>
              <a:rPr lang="en-US" dirty="0"/>
              <a:t> building blocks can be combined to realize </a:t>
            </a:r>
            <a:r>
              <a:rPr lang="en-US" dirty="0" err="1"/>
              <a:t>coimplex</a:t>
            </a:r>
            <a:r>
              <a:rPr lang="en-US" dirty="0"/>
              <a:t> functionality and to provide students will a “feel” of how to tune a PID control.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63269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PID Controller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97304"/>
          </a:xfrm>
        </p:spPr>
        <p:txBody>
          <a:bodyPr>
            <a:normAutofit/>
          </a:bodyPr>
          <a:lstStyle/>
          <a:p>
            <a:r>
              <a:rPr lang="en-US" sz="2800" dirty="0"/>
              <a:t>We want the plant output to track the input. </a:t>
            </a:r>
          </a:p>
          <a:p>
            <a:r>
              <a:rPr lang="en-US" dirty="0"/>
              <a:t>Proportional term  - output is error time P gain</a:t>
            </a:r>
          </a:p>
          <a:p>
            <a:r>
              <a:rPr lang="en-US" sz="2800" dirty="0"/>
              <a:t>Integral – output </a:t>
            </a:r>
            <a:r>
              <a:rPr lang="en-US" dirty="0"/>
              <a:t>is the integral of the error times I gain</a:t>
            </a:r>
          </a:p>
          <a:p>
            <a:r>
              <a:rPr lang="en-US" sz="2800" dirty="0" err="1"/>
              <a:t>Derritive</a:t>
            </a:r>
            <a:r>
              <a:rPr lang="en-US" sz="2800" dirty="0"/>
              <a:t> – output is the </a:t>
            </a:r>
            <a:r>
              <a:rPr lang="en-US" sz="2800" dirty="0" err="1"/>
              <a:t>derritive</a:t>
            </a:r>
            <a:r>
              <a:rPr lang="en-US" sz="2800" dirty="0"/>
              <a:t> of the error times D gain</a:t>
            </a:r>
          </a:p>
          <a:p>
            <a:pPr marL="0" indent="0">
              <a:buNone/>
            </a:pP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551B51-9FA4-956C-D7CD-EBDFC57D63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912" y="3901803"/>
            <a:ext cx="5938520" cy="20370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29779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Circuit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973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Using schematic </a:t>
            </a:r>
          </a:p>
          <a:p>
            <a:r>
              <a:rPr lang="en-US" dirty="0"/>
              <a:t>Find </a:t>
            </a:r>
            <a:r>
              <a:rPr lang="en-US" dirty="0" err="1"/>
              <a:t>opamp</a:t>
            </a:r>
            <a:r>
              <a:rPr lang="en-US" dirty="0"/>
              <a:t> that forms error</a:t>
            </a:r>
          </a:p>
          <a:p>
            <a:r>
              <a:rPr lang="en-US" sz="2800" dirty="0"/>
              <a:t>Find </a:t>
            </a:r>
            <a:r>
              <a:rPr lang="en-US" sz="2800" dirty="0" err="1"/>
              <a:t>opamps</a:t>
            </a:r>
            <a:r>
              <a:rPr lang="en-US" sz="2800" dirty="0"/>
              <a:t> that form proportional, integral and derivative</a:t>
            </a:r>
          </a:p>
          <a:p>
            <a:r>
              <a:rPr lang="en-US" sz="2800" dirty="0"/>
              <a:t>Determine how PWM signal is </a:t>
            </a:r>
            <a:r>
              <a:rPr lang="en-US" dirty="0"/>
              <a:t>formed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44247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Tune the Controller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There are four different PID controller boards</a:t>
            </a:r>
          </a:p>
          <a:p>
            <a:pPr lvl="1"/>
            <a:r>
              <a:rPr lang="en-US" dirty="0"/>
              <a:t>Bessel, </a:t>
            </a:r>
            <a:r>
              <a:rPr lang="en-US" dirty="0" err="1"/>
              <a:t>Butterword</a:t>
            </a:r>
            <a:r>
              <a:rPr lang="en-US" dirty="0"/>
              <a:t>, 1dB Chebyshev, 3dB Chebyshev   Different colors</a:t>
            </a:r>
          </a:p>
          <a:p>
            <a:r>
              <a:rPr lang="en-US" sz="2800" dirty="0"/>
              <a:t>Power input</a:t>
            </a:r>
          </a:p>
          <a:p>
            <a:pPr lvl="1"/>
            <a:r>
              <a:rPr lang="en-US" dirty="0"/>
              <a:t>If in doubt get one of us to check</a:t>
            </a:r>
          </a:p>
          <a:p>
            <a:r>
              <a:rPr lang="en-US" dirty="0"/>
              <a:t>4Hz square wave as input</a:t>
            </a:r>
          </a:p>
          <a:p>
            <a:r>
              <a:rPr lang="en-US" sz="2800" dirty="0"/>
              <a:t>Adjust PID until output is “closest” to output</a:t>
            </a:r>
          </a:p>
          <a:p>
            <a:r>
              <a:rPr lang="en-US" dirty="0"/>
              <a:t>Plot P, I and D terms by hand for square wave</a:t>
            </a:r>
          </a:p>
          <a:p>
            <a:r>
              <a:rPr lang="en-US" dirty="0"/>
              <a:t>Plot P, I and D terms by hand for triangle wave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71273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3FD1B-67CA-B4AD-9CFF-478137C0B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6FA7A-5A6B-E74B-BA19-290C66316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FRA on oscilloscope</a:t>
            </a:r>
          </a:p>
          <a:p>
            <a:pPr lvl="1"/>
            <a:r>
              <a:rPr lang="en-US" dirty="0"/>
              <a:t>Get Bode plot data</a:t>
            </a:r>
          </a:p>
          <a:p>
            <a:pPr lvl="1"/>
            <a:r>
              <a:rPr lang="en-US" dirty="0"/>
              <a:t>Export to Excel</a:t>
            </a:r>
          </a:p>
          <a:p>
            <a:pPr lvl="1"/>
            <a:r>
              <a:rPr lang="en-US" dirty="0"/>
              <a:t>Plot Bode plot</a:t>
            </a:r>
          </a:p>
          <a:p>
            <a:pPr lvl="1"/>
            <a:r>
              <a:rPr lang="en-US" dirty="0"/>
              <a:t>Plot Nyquist plot </a:t>
            </a:r>
          </a:p>
          <a:p>
            <a:r>
              <a:rPr lang="en-US" dirty="0"/>
              <a:t>Calculate gain margin</a:t>
            </a:r>
          </a:p>
          <a:p>
            <a:r>
              <a:rPr lang="en-US" dirty="0"/>
              <a:t>Put plant into unity gain feedback loop and verify stability/unstable.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5EC73B-5950-59EF-BA0D-C88359B12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8013" y="365127"/>
            <a:ext cx="3039310" cy="38152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0B026E-F434-38D8-C4AD-E199A52699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9943" y="622937"/>
            <a:ext cx="2626478" cy="357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977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5B460-35B4-014C-5134-7F5350B47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Turn 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A46DD-B854-5F4F-2EEF-D032A3C220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u="sng" dirty="0">
                <a:hlinkClick r:id="rId2" action="ppaction://hlinkfile"/>
              </a:rPr>
              <a:t>Circuit Operation</a:t>
            </a:r>
            <a:endParaRPr lang="en-US" dirty="0"/>
          </a:p>
          <a:p>
            <a:pPr lvl="1"/>
            <a:r>
              <a:rPr lang="en-US" dirty="0"/>
              <a:t>Steps 1-7</a:t>
            </a:r>
          </a:p>
          <a:p>
            <a:r>
              <a:rPr lang="en-US" dirty="0"/>
              <a:t> </a:t>
            </a:r>
            <a:r>
              <a:rPr lang="fr-FR" u="sng" dirty="0">
                <a:hlinkClick r:id="rId3" action="ppaction://hlinkfile"/>
              </a:rPr>
              <a:t>Tune the PID Controller</a:t>
            </a:r>
            <a:endParaRPr lang="en-US" dirty="0"/>
          </a:p>
          <a:p>
            <a:pPr lvl="1"/>
            <a:r>
              <a:rPr lang="fr-FR" dirty="0"/>
              <a:t>For the square </a:t>
            </a:r>
            <a:r>
              <a:rPr lang="fr-FR" dirty="0" err="1"/>
              <a:t>wave</a:t>
            </a:r>
            <a:r>
              <a:rPr lang="fr-FR" dirty="0"/>
              <a:t> input</a:t>
            </a:r>
            <a:endParaRPr lang="en-US" dirty="0"/>
          </a:p>
          <a:p>
            <a:pPr lvl="2"/>
            <a:r>
              <a:rPr lang="fr-FR" dirty="0"/>
              <a:t>An oscilloscope </a:t>
            </a:r>
            <a:r>
              <a:rPr lang="fr-FR" dirty="0" err="1"/>
              <a:t>screenshot</a:t>
            </a:r>
            <a:r>
              <a:rPr lang="fr-FR" dirty="0"/>
              <a:t> of the input and output</a:t>
            </a:r>
            <a:endParaRPr lang="en-US" dirty="0"/>
          </a:p>
          <a:p>
            <a:pPr lvl="2"/>
            <a:r>
              <a:rPr lang="fr-FR" dirty="0"/>
              <a:t>The </a:t>
            </a:r>
            <a:r>
              <a:rPr lang="fr-FR" dirty="0" err="1"/>
              <a:t>approximate</a:t>
            </a:r>
            <a:r>
              <a:rPr lang="fr-FR" dirty="0"/>
              <a:t> values of </a:t>
            </a:r>
            <a:r>
              <a:rPr lang="fr-FR" dirty="0" err="1"/>
              <a:t>Kp</a:t>
            </a:r>
            <a:r>
              <a:rPr lang="fr-FR" dirty="0"/>
              <a:t>, Ki and </a:t>
            </a:r>
            <a:r>
              <a:rPr lang="fr-FR" dirty="0" err="1"/>
              <a:t>Kd</a:t>
            </a:r>
            <a:endParaRPr lang="en-US" dirty="0"/>
          </a:p>
          <a:p>
            <a:pPr lvl="1"/>
            <a:r>
              <a:rPr lang="fr-FR" dirty="0"/>
              <a:t>For the triangle </a:t>
            </a:r>
            <a:r>
              <a:rPr lang="fr-FR" dirty="0" err="1"/>
              <a:t>wave</a:t>
            </a:r>
            <a:r>
              <a:rPr lang="fr-FR" dirty="0"/>
              <a:t> input</a:t>
            </a:r>
            <a:endParaRPr lang="en-US" dirty="0"/>
          </a:p>
          <a:p>
            <a:pPr lvl="2"/>
            <a:r>
              <a:rPr lang="fr-FR" dirty="0"/>
              <a:t>An oscilloscope </a:t>
            </a:r>
            <a:r>
              <a:rPr lang="fr-FR" dirty="0" err="1"/>
              <a:t>screenshot</a:t>
            </a:r>
            <a:r>
              <a:rPr lang="fr-FR" dirty="0"/>
              <a:t> of the input and output</a:t>
            </a:r>
            <a:endParaRPr lang="en-US" dirty="0"/>
          </a:p>
          <a:p>
            <a:pPr lvl="2"/>
            <a:r>
              <a:rPr lang="fr-FR" dirty="0"/>
              <a:t>The </a:t>
            </a:r>
            <a:r>
              <a:rPr lang="fr-FR" dirty="0" err="1"/>
              <a:t>approximate</a:t>
            </a:r>
            <a:r>
              <a:rPr lang="fr-FR" dirty="0"/>
              <a:t> values of </a:t>
            </a:r>
            <a:r>
              <a:rPr lang="fr-FR" dirty="0" err="1"/>
              <a:t>Kp</a:t>
            </a:r>
            <a:r>
              <a:rPr lang="fr-FR" dirty="0"/>
              <a:t>, Ki and </a:t>
            </a:r>
            <a:r>
              <a:rPr lang="fr-FR" dirty="0" err="1"/>
              <a:t>Kd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773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3256</TotalTime>
  <Words>318</Words>
  <Application>Microsoft Office PowerPoint</Application>
  <PresentationFormat>Widescreen</PresentationFormat>
  <Paragraphs>48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Gotham</vt:lpstr>
      <vt:lpstr>Gotham Book</vt:lpstr>
      <vt:lpstr>Office Theme</vt:lpstr>
      <vt:lpstr>EENG 385 PID Controller</vt:lpstr>
      <vt:lpstr>Lab Objectives</vt:lpstr>
      <vt:lpstr>PID Controller</vt:lpstr>
      <vt:lpstr>Circuit Analysis</vt:lpstr>
      <vt:lpstr>Tune the Controller</vt:lpstr>
      <vt:lpstr>Optional</vt:lpstr>
      <vt:lpstr>Turn in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Microsoft Office User</dc:creator>
  <cp:keywords/>
  <dc:description/>
  <cp:lastModifiedBy>Christopher Coulston</cp:lastModifiedBy>
  <cp:revision>93</cp:revision>
  <dcterms:created xsi:type="dcterms:W3CDTF">2017-08-01T15:06:47Z</dcterms:created>
  <dcterms:modified xsi:type="dcterms:W3CDTF">2026-04-23T03:54:05Z</dcterms:modified>
  <cp:category/>
</cp:coreProperties>
</file>