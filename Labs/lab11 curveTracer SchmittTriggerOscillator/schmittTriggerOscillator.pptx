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2" r:id="rId2"/>
    <p:sldId id="538" r:id="rId3"/>
    <p:sldId id="557" r:id="rId4"/>
    <p:sldId id="621" r:id="rId5"/>
    <p:sldId id="622" r:id="rId6"/>
    <p:sldId id="623" r:id="rId7"/>
    <p:sldId id="624" r:id="rId8"/>
    <p:sldId id="62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177" autoAdjust="0"/>
  </p:normalViewPr>
  <p:slideViewPr>
    <p:cSldViewPr snapToGrid="0" snapToObjects="1">
      <p:cViewPr varScale="1">
        <p:scale>
          <a:sx n="88" d="100"/>
          <a:sy n="88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25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5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7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Schmitt Trigger Oscillator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Introduce the theory, simulation and construction of a circuit that uses positive feedback to form an oscillator.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noise rejection</a:t>
            </a:r>
          </a:p>
          <a:p>
            <a:pPr eaLnBrk="1" hangingPunct="1"/>
            <a:r>
              <a:rPr lang="en-US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signal (top) converted with a single threshold (middle) then Schmitt trigger (bottom).</a:t>
            </a:r>
          </a:p>
          <a:p>
            <a:pPr eaLnBrk="1" hangingPunct="1"/>
            <a:endParaRPr lang="en-US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18" descr="noiseRejection">
            <a:extLst>
              <a:ext uri="{FF2B5EF4-FFF2-40B4-BE49-F238E27FC236}">
                <a16:creationId xmlns:a16="http://schemas.microsoft.com/office/drawing/2014/main" id="{1E85495F-309A-7A07-1594-A145EDEB0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" r="2921" b="2118"/>
          <a:stretch>
            <a:fillRect/>
          </a:stretch>
        </p:blipFill>
        <p:spPr bwMode="auto">
          <a:xfrm>
            <a:off x="1165277" y="3244954"/>
            <a:ext cx="3316288" cy="29702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3BC24D9A-380E-5F5D-187D-F9275CBB4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990" y="3557692"/>
            <a:ext cx="3367087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VCC = 9V</a:t>
            </a:r>
          </a:p>
          <a:p>
            <a:r>
              <a:rPr lang="en-US" dirty="0"/>
              <a:t>Assume </a:t>
            </a:r>
            <a:r>
              <a:rPr lang="en-US" dirty="0" err="1"/>
              <a:t>Vout</a:t>
            </a:r>
            <a:r>
              <a:rPr lang="en-US" dirty="0"/>
              <a:t> = 9V</a:t>
            </a:r>
          </a:p>
          <a:p>
            <a:pPr lvl="1"/>
            <a:r>
              <a:rPr lang="en-US" dirty="0"/>
              <a:t>C1 charges through R4</a:t>
            </a:r>
          </a:p>
          <a:p>
            <a:pPr lvl="1"/>
            <a:r>
              <a:rPr lang="en-US" dirty="0"/>
              <a:t>V- increase</a:t>
            </a:r>
          </a:p>
          <a:p>
            <a:pPr lvl="1"/>
            <a:r>
              <a:rPr lang="en-US" dirty="0"/>
              <a:t>Causing </a:t>
            </a:r>
            <a:r>
              <a:rPr lang="en-US" dirty="0" err="1"/>
              <a:t>Vout</a:t>
            </a:r>
            <a:r>
              <a:rPr lang="en-US" dirty="0"/>
              <a:t> = 0V</a:t>
            </a:r>
          </a:p>
          <a:p>
            <a:r>
              <a:rPr lang="en-US" dirty="0"/>
              <a:t>Assume </a:t>
            </a:r>
            <a:r>
              <a:rPr lang="en-US" dirty="0" err="1"/>
              <a:t>Vout</a:t>
            </a:r>
            <a:r>
              <a:rPr lang="en-US" dirty="0"/>
              <a:t>  = 0V</a:t>
            </a:r>
          </a:p>
          <a:p>
            <a:pPr lvl="1"/>
            <a:r>
              <a:rPr lang="en-US" dirty="0"/>
              <a:t>C1 discharges through R5</a:t>
            </a:r>
          </a:p>
          <a:p>
            <a:pPr lvl="1"/>
            <a:r>
              <a:rPr lang="en-US" dirty="0"/>
              <a:t>V- decreases</a:t>
            </a:r>
          </a:p>
          <a:p>
            <a:pPr lvl="1"/>
            <a:r>
              <a:rPr lang="en-US" dirty="0"/>
              <a:t>Causing </a:t>
            </a:r>
            <a:r>
              <a:rPr lang="en-US" dirty="0" err="1"/>
              <a:t>Vout</a:t>
            </a:r>
            <a:r>
              <a:rPr lang="en-US" dirty="0"/>
              <a:t> = 9V</a:t>
            </a:r>
          </a:p>
          <a:p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BF8AC-2F28-6339-347E-A4F22E65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080" y="1170607"/>
            <a:ext cx="5344160" cy="451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Use LTSpice</a:t>
            </a:r>
          </a:p>
          <a:p>
            <a:r>
              <a:rPr lang="en-US"/>
              <a:t>Probe </a:t>
            </a:r>
            <a:r>
              <a:rPr lang="en-US" dirty="0"/>
              <a:t>op amp output and capacitor voltage</a:t>
            </a:r>
          </a:p>
          <a:p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C2B9E-C4AE-DBAA-9539-EA89E6C7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3428999"/>
            <a:ext cx="6247130" cy="253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1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Use 14-pin socket for TLC274</a:t>
            </a:r>
          </a:p>
          <a:p>
            <a:r>
              <a:rPr lang="en-US" dirty="0"/>
              <a:t>Parts are in Brown 305</a:t>
            </a:r>
          </a:p>
          <a:p>
            <a:r>
              <a:rPr lang="en-US" dirty="0"/>
              <a:t>Just assemble </a:t>
            </a:r>
            <a:r>
              <a:rPr lang="en-US"/>
              <a:t>ST Relax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384BC-4B0C-751E-EEA2-84C243A07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14" y="1825625"/>
            <a:ext cx="4574166" cy="33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Probe op amp output and capacitor voltage</a:t>
            </a:r>
          </a:p>
          <a:p>
            <a:r>
              <a:rPr lang="en-US" dirty="0"/>
              <a:t>Should be within 25% of simulation values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AAA24-79E5-238B-2395-5B57A1CA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26" y="3037840"/>
            <a:ext cx="3654474" cy="29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8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analysis, simulation and assemble</a:t>
            </a:r>
          </a:p>
          <a:p>
            <a:pPr lvl="1"/>
            <a:r>
              <a:rPr lang="en-US" dirty="0"/>
              <a:t>Table 4 op amp output</a:t>
            </a:r>
          </a:p>
          <a:p>
            <a:pPr lvl="1"/>
            <a:r>
              <a:rPr lang="en-US" dirty="0"/>
              <a:t>Table 5 capacitor C1 </a:t>
            </a:r>
          </a:p>
          <a:p>
            <a:r>
              <a:rPr lang="en-US" dirty="0"/>
              <a:t>Answer listed questions</a:t>
            </a:r>
          </a:p>
          <a:p>
            <a:r>
              <a:rPr lang="en-US" dirty="0"/>
              <a:t>Save solutions as PDF</a:t>
            </a:r>
          </a:p>
          <a:p>
            <a:r>
              <a:rPr lang="en-US" dirty="0"/>
              <a:t>Due before start of class next week</a:t>
            </a:r>
          </a:p>
          <a:p>
            <a:r>
              <a:rPr lang="en-US" dirty="0"/>
              <a:t>Every student builds their own board</a:t>
            </a:r>
          </a:p>
          <a:p>
            <a:r>
              <a:rPr lang="en-US" dirty="0"/>
              <a:t>Everyone brings their board to class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sz="28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34904C1-90E6-6B9A-5392-B30CCA1A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75126"/>
            <a:ext cx="4724400" cy="365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3247</TotalTime>
  <Words>244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Gotham</vt:lpstr>
      <vt:lpstr>Gotham Book</vt:lpstr>
      <vt:lpstr>Times New Roman</vt:lpstr>
      <vt:lpstr>Office Theme</vt:lpstr>
      <vt:lpstr>EENG 385 Schmitt Trigger Oscillator</vt:lpstr>
      <vt:lpstr>Lab Objectives</vt:lpstr>
      <vt:lpstr>Theory</vt:lpstr>
      <vt:lpstr>Theory</vt:lpstr>
      <vt:lpstr>Simulate</vt:lpstr>
      <vt:lpstr>Assemble</vt:lpstr>
      <vt:lpstr>Test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95</cp:revision>
  <dcterms:created xsi:type="dcterms:W3CDTF">2017-08-01T15:06:47Z</dcterms:created>
  <dcterms:modified xsi:type="dcterms:W3CDTF">2026-08-14T20:51:19Z</dcterms:modified>
  <cp:category/>
</cp:coreProperties>
</file>