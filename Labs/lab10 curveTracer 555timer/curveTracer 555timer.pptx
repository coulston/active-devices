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62" r:id="rId2"/>
    <p:sldId id="627" r:id="rId3"/>
    <p:sldId id="557" r:id="rId4"/>
    <p:sldId id="621" r:id="rId5"/>
    <p:sldId id="625" r:id="rId6"/>
    <p:sldId id="622" r:id="rId7"/>
    <p:sldId id="626" r:id="rId8"/>
    <p:sldId id="62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4D"/>
    <a:srgbClr val="263F6A"/>
    <a:srgbClr val="8B8D8E"/>
    <a:srgbClr val="CED5DD"/>
    <a:srgbClr val="B2B4B3"/>
    <a:srgbClr val="DD5F36"/>
    <a:srgbClr val="D2492A"/>
    <a:srgbClr val="92A2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062" autoAdjust="0"/>
  </p:normalViewPr>
  <p:slideViewPr>
    <p:cSldViewPr snapToGrid="0" snapToObjects="1">
      <p:cViewPr varScale="1">
        <p:scale>
          <a:sx n="112" d="100"/>
          <a:sy n="112" d="100"/>
        </p:scale>
        <p:origin x="876" y="108"/>
      </p:cViewPr>
      <p:guideLst/>
    </p:cSldViewPr>
  </p:slideViewPr>
  <p:notesTextViewPr>
    <p:cViewPr>
      <p:scale>
        <a:sx n="1" d="1"/>
        <a:sy n="1" d="1"/>
      </p:scale>
      <p:origin x="0" y="0"/>
    </p:cViewPr>
  </p:notesTextViewPr>
  <p:notesViewPr>
    <p:cSldViewPr snapToGrid="0" snapToObjects="1" showGuides="1">
      <p:cViewPr varScale="1">
        <p:scale>
          <a:sx n="168" d="100"/>
          <a:sy n="168"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DD5C9C-88A3-CA43-B162-DCC4E1E4BE7D}" type="datetimeFigureOut">
              <a:rPr lang="en-US" smtClean="0"/>
              <a:t>8/6/2026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FE5E8-0999-F94A-9937-3F8545B10484}" type="slidenum">
              <a:rPr lang="en-US" smtClean="0"/>
              <a:t>‹#›</a:t>
            </a:fld>
            <a:endParaRPr lang="en-US"/>
          </a:p>
        </p:txBody>
      </p:sp>
    </p:spTree>
    <p:extLst>
      <p:ext uri="{BB962C8B-B14F-4D97-AF65-F5344CB8AC3E}">
        <p14:creationId xmlns:p14="http://schemas.microsoft.com/office/powerpoint/2010/main" val="173891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5E4000-89B6-4F22-834E-B172C4AA57D1}"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C4D68-66B1-48D6-AAFD-4ABFAB720F6F}" type="slidenum">
              <a:rPr lang="en-US" smtClean="0"/>
              <a:t>‹#›</a:t>
            </a:fld>
            <a:endParaRPr lang="en-US"/>
          </a:p>
        </p:txBody>
      </p:sp>
    </p:spTree>
    <p:extLst>
      <p:ext uri="{BB962C8B-B14F-4D97-AF65-F5344CB8AC3E}">
        <p14:creationId xmlns:p14="http://schemas.microsoft.com/office/powerpoint/2010/main" val="2038920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the &lt;title of the lab&gt; is what will be called the “System” through the rest of this document</a:t>
            </a:r>
          </a:p>
        </p:txBody>
      </p:sp>
      <p:sp>
        <p:nvSpPr>
          <p:cNvPr id="4" name="Slide Number Placeholder 3"/>
          <p:cNvSpPr>
            <a:spLocks noGrp="1"/>
          </p:cNvSpPr>
          <p:nvPr>
            <p:ph type="sldNum" sz="quarter" idx="5"/>
          </p:nvPr>
        </p:nvSpPr>
        <p:spPr/>
        <p:txBody>
          <a:bodyPr/>
          <a:lstStyle/>
          <a:p>
            <a:fld id="{AA0C4D68-66B1-48D6-AAFD-4ABFAB720F6F}" type="slidenum">
              <a:rPr lang="en-US" smtClean="0"/>
              <a:t>1</a:t>
            </a:fld>
            <a:endParaRPr lang="en-US"/>
          </a:p>
        </p:txBody>
      </p:sp>
    </p:spTree>
    <p:extLst>
      <p:ext uri="{BB962C8B-B14F-4D97-AF65-F5344CB8AC3E}">
        <p14:creationId xmlns:p14="http://schemas.microsoft.com/office/powerpoint/2010/main" val="260931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D45CC39-578B-4552-A24A-45E58858BC64}" type="slidenum">
              <a:rPr lang="en-US" smtClean="0"/>
              <a:pPr>
                <a:defRPr/>
              </a:pPr>
              <a:t>2</a:t>
            </a:fld>
            <a:endParaRPr lang="en-US"/>
          </a:p>
        </p:txBody>
      </p:sp>
    </p:spTree>
    <p:extLst>
      <p:ext uri="{BB962C8B-B14F-4D97-AF65-F5344CB8AC3E}">
        <p14:creationId xmlns:p14="http://schemas.microsoft.com/office/powerpoint/2010/main" val="1065368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3</a:t>
            </a:fld>
            <a:endParaRPr lang="en-US"/>
          </a:p>
        </p:txBody>
      </p:sp>
    </p:spTree>
    <p:extLst>
      <p:ext uri="{BB962C8B-B14F-4D97-AF65-F5344CB8AC3E}">
        <p14:creationId xmlns:p14="http://schemas.microsoft.com/office/powerpoint/2010/main" val="537147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4</a:t>
            </a:fld>
            <a:endParaRPr lang="en-US"/>
          </a:p>
        </p:txBody>
      </p:sp>
    </p:spTree>
    <p:extLst>
      <p:ext uri="{BB962C8B-B14F-4D97-AF65-F5344CB8AC3E}">
        <p14:creationId xmlns:p14="http://schemas.microsoft.com/office/powerpoint/2010/main" val="2530716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5</a:t>
            </a:fld>
            <a:endParaRPr lang="en-US"/>
          </a:p>
        </p:txBody>
      </p:sp>
    </p:spTree>
    <p:extLst>
      <p:ext uri="{BB962C8B-B14F-4D97-AF65-F5344CB8AC3E}">
        <p14:creationId xmlns:p14="http://schemas.microsoft.com/office/powerpoint/2010/main" val="69741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6</a:t>
            </a:fld>
            <a:endParaRPr lang="en-US"/>
          </a:p>
        </p:txBody>
      </p:sp>
    </p:spTree>
    <p:extLst>
      <p:ext uri="{BB962C8B-B14F-4D97-AF65-F5344CB8AC3E}">
        <p14:creationId xmlns:p14="http://schemas.microsoft.com/office/powerpoint/2010/main" val="1260164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7</a:t>
            </a:fld>
            <a:endParaRPr lang="en-US"/>
          </a:p>
        </p:txBody>
      </p:sp>
    </p:spTree>
    <p:extLst>
      <p:ext uri="{BB962C8B-B14F-4D97-AF65-F5344CB8AC3E}">
        <p14:creationId xmlns:p14="http://schemas.microsoft.com/office/powerpoint/2010/main" val="3343965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8</a:t>
            </a:fld>
            <a:endParaRPr lang="en-US"/>
          </a:p>
        </p:txBody>
      </p:sp>
    </p:spTree>
    <p:extLst>
      <p:ext uri="{BB962C8B-B14F-4D97-AF65-F5344CB8AC3E}">
        <p14:creationId xmlns:p14="http://schemas.microsoft.com/office/powerpoint/2010/main" val="8174010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21" name="Rectangle 20">
            <a:extLst>
              <a:ext uri="{FF2B5EF4-FFF2-40B4-BE49-F238E27FC236}">
                <a16:creationId xmlns:a16="http://schemas.microsoft.com/office/drawing/2014/main" id="{2DF55106-BA85-A046-A450-43480962F8F7}"/>
              </a:ext>
            </a:extLst>
          </p:cNvPr>
          <p:cNvSpPr/>
          <p:nvPr userDrawn="1"/>
        </p:nvSpPr>
        <p:spPr>
          <a:xfrm>
            <a:off x="-34047" y="0"/>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08E7ABF0-DEE6-F34C-98A7-7FC5808DF58A}"/>
              </a:ext>
            </a:extLst>
          </p:cNvPr>
          <p:cNvPicPr/>
          <p:nvPr userDrawn="1"/>
        </p:nvPicPr>
        <p:blipFill>
          <a:blip r:embed="rId3"/>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6"/>
            <a:ext cx="10356915" cy="5825765"/>
          </a:xfrm>
          <a:prstGeom prst="rect">
            <a:avLst/>
          </a:prstGeom>
        </p:spPr>
      </p:pic>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spTree>
    <p:extLst>
      <p:ext uri="{BB962C8B-B14F-4D97-AF65-F5344CB8AC3E}">
        <p14:creationId xmlns:p14="http://schemas.microsoft.com/office/powerpoint/2010/main" val="6083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4C2BC71D-0003-024E-9F29-71C949747F4A}"/>
              </a:ext>
            </a:extLst>
          </p:cNvPr>
          <p:cNvPicPr/>
          <p:nvPr userDrawn="1"/>
        </p:nvPicPr>
        <p:blipFill>
          <a:blip r:embed="rId2"/>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159368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15" name="Rectangle 14"/>
          <p:cNvSpPr/>
          <p:nvPr userDrawn="1"/>
        </p:nvSpPr>
        <p:spPr>
          <a:xfrm>
            <a:off x="-9728" y="6265545"/>
            <a:ext cx="1220172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4" name="TextBox 13"/>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0" name="Picture 9">
            <a:extLst>
              <a:ext uri="{FF2B5EF4-FFF2-40B4-BE49-F238E27FC236}">
                <a16:creationId xmlns:a16="http://schemas.microsoft.com/office/drawing/2014/main" id="{E3C7278D-9F84-1645-9C4A-4B5FD9D68954}"/>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633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AA977242-14B3-B24E-8B0C-44E4362EFCBD}"/>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185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6" name="Picture 15">
            <a:extLst>
              <a:ext uri="{FF2B5EF4-FFF2-40B4-BE49-F238E27FC236}">
                <a16:creationId xmlns:a16="http://schemas.microsoft.com/office/drawing/2014/main" id="{32B57081-B141-9B4E-9482-F401745054EE}"/>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87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2" name="Picture 11">
            <a:extLst>
              <a:ext uri="{FF2B5EF4-FFF2-40B4-BE49-F238E27FC236}">
                <a16:creationId xmlns:a16="http://schemas.microsoft.com/office/drawing/2014/main" id="{43F1F743-16CE-3043-9E24-77715B0645DA}"/>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159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Title 2"/>
          <p:cNvSpPr txBox="1">
            <a:spLocks/>
          </p:cNvSpPr>
          <p:nvPr userDrawn="1"/>
        </p:nvSpPr>
        <p:spPr>
          <a:xfrm>
            <a:off x="838202" y="5746528"/>
            <a:ext cx="13016751" cy="779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rgbClr val="21314D"/>
                </a:solidFill>
                <a:latin typeface="Gotham Medium" charset="0"/>
                <a:ea typeface="Gotham Medium" charset="0"/>
                <a:cs typeface="Gotham Medium" charset="0"/>
              </a:defRPr>
            </a:lvl1pPr>
          </a:lstStyle>
          <a:p>
            <a:r>
              <a:rPr lang="en-US" sz="4400" b="1" i="0" dirty="0">
                <a:latin typeface="Arial" panose="020B0604020202020204" pitchFamily="34" charset="0"/>
                <a:cs typeface="Arial" panose="020B0604020202020204" pitchFamily="34" charset="0"/>
              </a:rPr>
              <a:t>Headline Copy Goes Here</a:t>
            </a:r>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Tree>
    <p:extLst>
      <p:ext uri="{BB962C8B-B14F-4D97-AF65-F5344CB8AC3E}">
        <p14:creationId xmlns:p14="http://schemas.microsoft.com/office/powerpoint/2010/main" val="213109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552941"/>
            <a:ext cx="10356915" cy="5825765"/>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2243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5395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E530F95D-C0F7-B448-B59E-D27295E0C7A5}"/>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0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buFont typeface="Arial" charset="0"/>
              <a:buChar char="•"/>
              <a:defRPr sz="28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E01F5E0A-84A7-2F4C-A9C5-069A0CC392D2}"/>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5166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02467B4F-5A8F-3845-8B30-98B83A0003A1}"/>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763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8/6/2026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C4CB1FB3-2557-BB46-9386-C66D040E875F}"/>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8148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73477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371" y="1661652"/>
            <a:ext cx="10803672" cy="1300983"/>
          </a:xfrm>
        </p:spPr>
        <p:txBody>
          <a:bodyPr>
            <a:normAutofit/>
          </a:bodyPr>
          <a:lstStyle/>
          <a:p>
            <a:r>
              <a:rPr lang="en-US" dirty="0"/>
              <a:t>EENG 385</a:t>
            </a:r>
            <a:br>
              <a:rPr lang="en-US" dirty="0"/>
            </a:br>
            <a:r>
              <a:rPr lang="en-US" dirty="0"/>
              <a:t>555 Timer</a:t>
            </a:r>
          </a:p>
        </p:txBody>
      </p:sp>
      <p:sp>
        <p:nvSpPr>
          <p:cNvPr id="7" name="Subtitle 6">
            <a:extLst>
              <a:ext uri="{FF2B5EF4-FFF2-40B4-BE49-F238E27FC236}">
                <a16:creationId xmlns:a16="http://schemas.microsoft.com/office/drawing/2014/main" id="{1A3EBE28-00C4-D8F3-CE0E-881CB759F20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1888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Objectives</a:t>
            </a:r>
          </a:p>
        </p:txBody>
      </p:sp>
      <p:sp>
        <p:nvSpPr>
          <p:cNvPr id="3" name="Content Placeholder 2"/>
          <p:cNvSpPr>
            <a:spLocks noGrp="1"/>
          </p:cNvSpPr>
          <p:nvPr>
            <p:ph idx="1"/>
          </p:nvPr>
        </p:nvSpPr>
        <p:spPr>
          <a:xfrm>
            <a:off x="838200" y="1825625"/>
            <a:ext cx="10515600" cy="3591201"/>
          </a:xfrm>
        </p:spPr>
        <p:txBody>
          <a:bodyPr>
            <a:normAutofit/>
          </a:bodyPr>
          <a:lstStyle/>
          <a:p>
            <a:pPr marL="0" indent="0">
              <a:buNone/>
            </a:pPr>
            <a:r>
              <a:rPr lang="en-US" dirty="0"/>
              <a:t>Analyze how the 555 timer in the BJT curve tracer operates using theory, simulation and experimentation.  You will compare these three methods and develop your intuition about how well theory and simulation should be trusted.</a:t>
            </a:r>
          </a:p>
        </p:txBody>
      </p:sp>
    </p:spTree>
    <p:extLst>
      <p:ext uri="{BB962C8B-B14F-4D97-AF65-F5344CB8AC3E}">
        <p14:creationId xmlns:p14="http://schemas.microsoft.com/office/powerpoint/2010/main" val="80556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Analyze</a:t>
            </a:r>
          </a:p>
        </p:txBody>
      </p:sp>
      <p:sp>
        <p:nvSpPr>
          <p:cNvPr id="3" name="Content Placeholder 2"/>
          <p:cNvSpPr>
            <a:spLocks noGrp="1"/>
          </p:cNvSpPr>
          <p:nvPr>
            <p:ph idx="1"/>
          </p:nvPr>
        </p:nvSpPr>
        <p:spPr>
          <a:xfrm>
            <a:off x="838200" y="1825625"/>
            <a:ext cx="10515600" cy="3397304"/>
          </a:xfrm>
        </p:spPr>
        <p:txBody>
          <a:bodyPr>
            <a:normAutofit/>
          </a:bodyPr>
          <a:lstStyle/>
          <a:p>
            <a:r>
              <a:rPr lang="en-US" dirty="0"/>
              <a:t>Produces oscillating waveform</a:t>
            </a:r>
          </a:p>
          <a:p>
            <a:r>
              <a:rPr lang="en-US" dirty="0"/>
              <a:t>Low duty cycle</a:t>
            </a:r>
          </a:p>
          <a:p>
            <a:r>
              <a:rPr lang="en-US" dirty="0"/>
              <a:t>Will be used later in curve tracer</a:t>
            </a:r>
          </a:p>
          <a:p>
            <a:pPr marL="0" indent="0">
              <a:buNone/>
            </a:pPr>
            <a:endParaRPr lang="en-US" dirty="0"/>
          </a:p>
        </p:txBody>
      </p:sp>
      <p:pic>
        <p:nvPicPr>
          <p:cNvPr id="5" name="Picture 4">
            <a:extLst>
              <a:ext uri="{FF2B5EF4-FFF2-40B4-BE49-F238E27FC236}">
                <a16:creationId xmlns:a16="http://schemas.microsoft.com/office/drawing/2014/main" id="{776889C3-B62F-1E2F-99AE-F74C08658C42}"/>
              </a:ext>
            </a:extLst>
          </p:cNvPr>
          <p:cNvPicPr>
            <a:picLocks noChangeAspect="1"/>
          </p:cNvPicPr>
          <p:nvPr/>
        </p:nvPicPr>
        <p:blipFill>
          <a:blip r:embed="rId3"/>
          <a:stretch>
            <a:fillRect/>
          </a:stretch>
        </p:blipFill>
        <p:spPr>
          <a:xfrm>
            <a:off x="6611061" y="1635071"/>
            <a:ext cx="4535160" cy="4133146"/>
          </a:xfrm>
          <a:prstGeom prst="rect">
            <a:avLst/>
          </a:prstGeom>
        </p:spPr>
      </p:pic>
    </p:spTree>
    <p:extLst>
      <p:ext uri="{BB962C8B-B14F-4D97-AF65-F5344CB8AC3E}">
        <p14:creationId xmlns:p14="http://schemas.microsoft.com/office/powerpoint/2010/main" val="2529779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Analyze</a:t>
            </a:r>
          </a:p>
        </p:txBody>
      </p:sp>
      <p:sp>
        <p:nvSpPr>
          <p:cNvPr id="3" name="Content Placeholder 2"/>
          <p:cNvSpPr>
            <a:spLocks noGrp="1"/>
          </p:cNvSpPr>
          <p:nvPr>
            <p:ph idx="1"/>
          </p:nvPr>
        </p:nvSpPr>
        <p:spPr>
          <a:xfrm>
            <a:off x="838200" y="1825625"/>
            <a:ext cx="7788965" cy="3883412"/>
          </a:xfrm>
        </p:spPr>
        <p:txBody>
          <a:bodyPr>
            <a:normAutofit/>
          </a:bodyPr>
          <a:lstStyle/>
          <a:p>
            <a:r>
              <a:rPr lang="en-US" dirty="0"/>
              <a:t>DIS pin is either open circuit or GND</a:t>
            </a:r>
          </a:p>
          <a:p>
            <a:pPr lvl="1"/>
            <a:r>
              <a:rPr lang="en-US" dirty="0"/>
              <a:t>Open circuit = charging 100nF capacitor</a:t>
            </a:r>
          </a:p>
          <a:p>
            <a:pPr lvl="1"/>
            <a:r>
              <a:rPr lang="en-US" dirty="0"/>
              <a:t>GND = discharge 100nF capacitor</a:t>
            </a:r>
          </a:p>
          <a:p>
            <a:r>
              <a:rPr lang="en-US" dirty="0"/>
              <a:t>Charging Mode</a:t>
            </a:r>
          </a:p>
          <a:p>
            <a:pPr lvl="1"/>
            <a:r>
              <a:rPr lang="en-US" dirty="0"/>
              <a:t>1k and 100nF in series</a:t>
            </a:r>
          </a:p>
          <a:p>
            <a:pPr lvl="1"/>
            <a:r>
              <a:rPr lang="en-US" dirty="0"/>
              <a:t>Determine time to charge cap from 3V to 6V</a:t>
            </a:r>
          </a:p>
          <a:p>
            <a:r>
              <a:rPr lang="en-US" dirty="0"/>
              <a:t>Discharging Mode</a:t>
            </a:r>
          </a:p>
          <a:p>
            <a:pPr lvl="1"/>
            <a:r>
              <a:rPr lang="en-US" dirty="0"/>
              <a:t>10k and 100nF in series</a:t>
            </a:r>
          </a:p>
          <a:p>
            <a:pPr lvl="1"/>
            <a:r>
              <a:rPr lang="en-US" dirty="0"/>
              <a:t>Determine time to discharge cap from 6V to 3V</a:t>
            </a:r>
          </a:p>
        </p:txBody>
      </p:sp>
      <p:pic>
        <p:nvPicPr>
          <p:cNvPr id="4" name="Picture 3">
            <a:extLst>
              <a:ext uri="{FF2B5EF4-FFF2-40B4-BE49-F238E27FC236}">
                <a16:creationId xmlns:a16="http://schemas.microsoft.com/office/drawing/2014/main" id="{4B56942A-2772-D5FC-AEB9-FF549BAD08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22576" y="1623860"/>
            <a:ext cx="2831224" cy="4085177"/>
          </a:xfrm>
          <a:prstGeom prst="rect">
            <a:avLst/>
          </a:prstGeom>
          <a:noFill/>
          <a:ln>
            <a:noFill/>
          </a:ln>
        </p:spPr>
      </p:pic>
    </p:spTree>
    <p:extLst>
      <p:ext uri="{BB962C8B-B14F-4D97-AF65-F5344CB8AC3E}">
        <p14:creationId xmlns:p14="http://schemas.microsoft.com/office/powerpoint/2010/main" val="3644247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DCD746-EBD5-93D9-74CA-31C72FA98C6B}"/>
              </a:ext>
            </a:extLst>
          </p:cNvPr>
          <p:cNvPicPr>
            <a:picLocks noChangeAspect="1"/>
          </p:cNvPicPr>
          <p:nvPr/>
        </p:nvPicPr>
        <p:blipFill>
          <a:blip r:embed="rId3"/>
          <a:stretch>
            <a:fillRect/>
          </a:stretch>
        </p:blipFill>
        <p:spPr>
          <a:xfrm>
            <a:off x="5436432" y="1810327"/>
            <a:ext cx="5917367" cy="4194920"/>
          </a:xfrm>
          <a:prstGeom prst="rect">
            <a:avLst/>
          </a:prstGeom>
        </p:spPr>
      </p:pic>
      <p:sp>
        <p:nvSpPr>
          <p:cNvPr id="2" name="Title 1"/>
          <p:cNvSpPr>
            <a:spLocks noGrp="1"/>
          </p:cNvSpPr>
          <p:nvPr>
            <p:ph type="title"/>
          </p:nvPr>
        </p:nvSpPr>
        <p:spPr/>
        <p:txBody>
          <a:bodyPr/>
          <a:lstStyle/>
          <a:p>
            <a:r>
              <a:rPr lang="en-US" dirty="0"/>
              <a:t>Simulate</a:t>
            </a:r>
          </a:p>
        </p:txBody>
      </p:sp>
      <p:graphicFrame>
        <p:nvGraphicFramePr>
          <p:cNvPr id="9" name="Table 8">
            <a:extLst>
              <a:ext uri="{FF2B5EF4-FFF2-40B4-BE49-F238E27FC236}">
                <a16:creationId xmlns:a16="http://schemas.microsoft.com/office/drawing/2014/main" id="{CB4160AA-3063-4286-41C5-CB8B08450EBD}"/>
              </a:ext>
            </a:extLst>
          </p:cNvPr>
          <p:cNvGraphicFramePr>
            <a:graphicFrameLocks noGrp="1"/>
          </p:cNvGraphicFramePr>
          <p:nvPr>
            <p:extLst>
              <p:ext uri="{D42A27DB-BD31-4B8C-83A1-F6EECF244321}">
                <p14:modId xmlns:p14="http://schemas.microsoft.com/office/powerpoint/2010/main" val="2819465400"/>
              </p:ext>
            </p:extLst>
          </p:nvPr>
        </p:nvGraphicFramePr>
        <p:xfrm>
          <a:off x="905264" y="2103436"/>
          <a:ext cx="4531168" cy="1325564"/>
        </p:xfrm>
        <a:graphic>
          <a:graphicData uri="http://schemas.openxmlformats.org/drawingml/2006/table">
            <a:tbl>
              <a:tblPr firstRow="1" firstCol="1" bandRow="1">
                <a:tableStyleId>{5C22544A-7EE6-4342-B048-85BDC9FD1C3A}</a:tableStyleId>
              </a:tblPr>
              <a:tblGrid>
                <a:gridCol w="2185214">
                  <a:extLst>
                    <a:ext uri="{9D8B030D-6E8A-4147-A177-3AD203B41FA5}">
                      <a16:colId xmlns:a16="http://schemas.microsoft.com/office/drawing/2014/main" val="3978578098"/>
                    </a:ext>
                  </a:extLst>
                </a:gridCol>
                <a:gridCol w="2345954">
                  <a:extLst>
                    <a:ext uri="{9D8B030D-6E8A-4147-A177-3AD203B41FA5}">
                      <a16:colId xmlns:a16="http://schemas.microsoft.com/office/drawing/2014/main" val="4270415041"/>
                    </a:ext>
                  </a:extLst>
                </a:gridCol>
              </a:tblGrid>
              <a:tr h="331391">
                <a:tc>
                  <a:txBody>
                    <a:bodyPr/>
                    <a:lstStyle/>
                    <a:p>
                      <a:pPr marL="0" marR="0" indent="0" algn="l">
                        <a:lnSpc>
                          <a:spcPct val="103000"/>
                        </a:lnSpc>
                        <a:spcAft>
                          <a:spcPts val="680"/>
                        </a:spcAft>
                        <a:buNone/>
                      </a:pPr>
                      <a:r>
                        <a:rPr lang="en-US" sz="1100" dirty="0">
                          <a:effectLst/>
                        </a:rPr>
                        <a:t>Net Names</a:t>
                      </a:r>
                      <a:endParaRPr lang="en-US" sz="11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indent="0" algn="l">
                        <a:lnSpc>
                          <a:spcPct val="103000"/>
                        </a:lnSpc>
                        <a:spcAft>
                          <a:spcPts val="680"/>
                        </a:spcAft>
                        <a:buNone/>
                      </a:pPr>
                      <a:r>
                        <a:rPr lang="en-US" sz="1100" b="0" dirty="0">
                          <a:solidFill>
                            <a:schemeClr val="tx1"/>
                          </a:solidFill>
                          <a:effectLst/>
                        </a:rPr>
                        <a:t>trig, out, </a:t>
                      </a:r>
                      <a:r>
                        <a:rPr lang="en-US" sz="1100" b="0" dirty="0" err="1">
                          <a:solidFill>
                            <a:schemeClr val="tx1"/>
                          </a:solidFill>
                          <a:effectLst/>
                        </a:rPr>
                        <a:t>Vcc</a:t>
                      </a:r>
                      <a:endParaRPr lang="en-US" sz="1100" b="0" dirty="0">
                        <a:solidFill>
                          <a:schemeClr val="tx1"/>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1610324878"/>
                  </a:ext>
                </a:extLst>
              </a:tr>
              <a:tr h="331391">
                <a:tc>
                  <a:txBody>
                    <a:bodyPr/>
                    <a:lstStyle/>
                    <a:p>
                      <a:pPr marL="0" marR="0" indent="0" algn="l">
                        <a:lnSpc>
                          <a:spcPct val="103000"/>
                        </a:lnSpc>
                        <a:spcAft>
                          <a:spcPts val="680"/>
                        </a:spcAft>
                        <a:buNone/>
                      </a:pPr>
                      <a:r>
                        <a:rPr lang="en-US" sz="1100">
                          <a:effectLst/>
                        </a:rPr>
                        <a:t>Component</a:t>
                      </a:r>
                      <a:endParaRPr lang="en-US" sz="11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indent="0" algn="l">
                        <a:lnSpc>
                          <a:spcPct val="103000"/>
                        </a:lnSpc>
                        <a:spcAft>
                          <a:spcPts val="680"/>
                        </a:spcAft>
                        <a:buNone/>
                      </a:pPr>
                      <a:r>
                        <a:rPr lang="en-US" sz="1100" dirty="0">
                          <a:effectLst/>
                        </a:rPr>
                        <a:t>NE555</a:t>
                      </a:r>
                      <a:endParaRPr lang="en-US" sz="11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01536738"/>
                  </a:ext>
                </a:extLst>
              </a:tr>
              <a:tr h="331391">
                <a:tc>
                  <a:txBody>
                    <a:bodyPr/>
                    <a:lstStyle/>
                    <a:p>
                      <a:pPr marL="0" marR="0" indent="0" algn="l">
                        <a:lnSpc>
                          <a:spcPct val="103000"/>
                        </a:lnSpc>
                        <a:spcAft>
                          <a:spcPts val="680"/>
                        </a:spcAft>
                        <a:buNone/>
                      </a:pPr>
                      <a:r>
                        <a:rPr lang="en-US" sz="1100">
                          <a:effectLst/>
                        </a:rPr>
                        <a:t>Waveform Nets</a:t>
                      </a:r>
                      <a:endParaRPr lang="en-US" sz="11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indent="0" algn="l">
                        <a:lnSpc>
                          <a:spcPct val="103000"/>
                        </a:lnSpc>
                        <a:spcAft>
                          <a:spcPts val="680"/>
                        </a:spcAft>
                        <a:buNone/>
                      </a:pPr>
                      <a:r>
                        <a:rPr lang="en-US" sz="1100" dirty="0">
                          <a:effectLst/>
                        </a:rPr>
                        <a:t>trig, out</a:t>
                      </a:r>
                      <a:endParaRPr lang="en-US" sz="11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2331398"/>
                  </a:ext>
                </a:extLst>
              </a:tr>
              <a:tr h="331391">
                <a:tc>
                  <a:txBody>
                    <a:bodyPr/>
                    <a:lstStyle/>
                    <a:p>
                      <a:pPr marL="0" marR="0" indent="0" algn="l">
                        <a:lnSpc>
                          <a:spcPct val="103000"/>
                        </a:lnSpc>
                        <a:spcAft>
                          <a:spcPts val="680"/>
                        </a:spcAft>
                        <a:buNone/>
                      </a:pPr>
                      <a:r>
                        <a:rPr lang="en-US" sz="1100">
                          <a:effectLst/>
                        </a:rPr>
                        <a:t>Configure Analysis</a:t>
                      </a:r>
                      <a:endParaRPr lang="en-US" sz="11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indent="0" algn="l">
                        <a:lnSpc>
                          <a:spcPct val="103000"/>
                        </a:lnSpc>
                        <a:spcAft>
                          <a:spcPts val="680"/>
                        </a:spcAft>
                        <a:buNone/>
                      </a:pPr>
                      <a:r>
                        <a:rPr lang="en-US" sz="1100" dirty="0">
                          <a:effectLst/>
                        </a:rPr>
                        <a:t>Transient, Stop Time 5ms</a:t>
                      </a:r>
                      <a:endParaRPr lang="en-US" sz="11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011991160"/>
                  </a:ext>
                </a:extLst>
              </a:tr>
            </a:tbl>
          </a:graphicData>
        </a:graphic>
      </p:graphicFrame>
    </p:spTree>
    <p:extLst>
      <p:ext uri="{BB962C8B-B14F-4D97-AF65-F5344CB8AC3E}">
        <p14:creationId xmlns:p14="http://schemas.microsoft.com/office/powerpoint/2010/main" val="1528611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Assemble</a:t>
            </a:r>
          </a:p>
        </p:txBody>
      </p:sp>
      <p:sp>
        <p:nvSpPr>
          <p:cNvPr id="3" name="Content Placeholder 2"/>
          <p:cNvSpPr>
            <a:spLocks noGrp="1"/>
          </p:cNvSpPr>
          <p:nvPr>
            <p:ph idx="1"/>
          </p:nvPr>
        </p:nvSpPr>
        <p:spPr/>
        <p:txBody>
          <a:bodyPr>
            <a:normAutofit/>
          </a:bodyPr>
          <a:lstStyle/>
          <a:p>
            <a:r>
              <a:rPr lang="en-US" dirty="0"/>
              <a:t>Assemble 555 and PWR</a:t>
            </a:r>
          </a:p>
          <a:p>
            <a:r>
              <a:rPr lang="en-US" dirty="0"/>
              <a:t>Nothing else!</a:t>
            </a:r>
          </a:p>
          <a:p>
            <a:r>
              <a:rPr lang="en-US" dirty="0"/>
              <a:t>Use eye protection</a:t>
            </a:r>
          </a:p>
          <a:p>
            <a:r>
              <a:rPr lang="en-US" dirty="0"/>
              <a:t>Solder in Brown 303</a:t>
            </a:r>
          </a:p>
          <a:p>
            <a:r>
              <a:rPr lang="en-US" dirty="0"/>
              <a:t>Apply power using </a:t>
            </a:r>
            <a:r>
              <a:rPr lang="en-US" dirty="0" err="1"/>
              <a:t>Vcc</a:t>
            </a:r>
            <a:r>
              <a:rPr lang="en-US" dirty="0"/>
              <a:t> </a:t>
            </a:r>
            <a:r>
              <a:rPr lang="en-US" dirty="0" err="1"/>
              <a:t>Gnd</a:t>
            </a:r>
            <a:endParaRPr lang="en-US" dirty="0"/>
          </a:p>
          <a:p>
            <a:r>
              <a:rPr lang="en-US" dirty="0"/>
              <a:t>Reverse voltage protection</a:t>
            </a:r>
          </a:p>
          <a:p>
            <a:endParaRPr lang="en-US" sz="2800" dirty="0"/>
          </a:p>
        </p:txBody>
      </p:sp>
      <p:pic>
        <p:nvPicPr>
          <p:cNvPr id="6" name="Picture 5">
            <a:extLst>
              <a:ext uri="{FF2B5EF4-FFF2-40B4-BE49-F238E27FC236}">
                <a16:creationId xmlns:a16="http://schemas.microsoft.com/office/drawing/2014/main" id="{9E801E0F-E5FB-F848-1750-3AAEF4DA9F3D}"/>
              </a:ext>
            </a:extLst>
          </p:cNvPr>
          <p:cNvPicPr>
            <a:picLocks noChangeAspect="1"/>
          </p:cNvPicPr>
          <p:nvPr/>
        </p:nvPicPr>
        <p:blipFill>
          <a:blip r:embed="rId3"/>
          <a:stretch>
            <a:fillRect/>
          </a:stretch>
        </p:blipFill>
        <p:spPr>
          <a:xfrm>
            <a:off x="6096000" y="1332186"/>
            <a:ext cx="5652836" cy="4193628"/>
          </a:xfrm>
          <a:prstGeom prst="rect">
            <a:avLst/>
          </a:prstGeom>
        </p:spPr>
      </p:pic>
    </p:spTree>
    <p:extLst>
      <p:ext uri="{BB962C8B-B14F-4D97-AF65-F5344CB8AC3E}">
        <p14:creationId xmlns:p14="http://schemas.microsoft.com/office/powerpoint/2010/main" val="1468894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your circuit</a:t>
            </a:r>
          </a:p>
        </p:txBody>
      </p:sp>
      <p:sp>
        <p:nvSpPr>
          <p:cNvPr id="3" name="Content Placeholder 2"/>
          <p:cNvSpPr>
            <a:spLocks noGrp="1"/>
          </p:cNvSpPr>
          <p:nvPr>
            <p:ph idx="1"/>
          </p:nvPr>
        </p:nvSpPr>
        <p:spPr/>
        <p:txBody>
          <a:bodyPr>
            <a:normAutofit/>
          </a:bodyPr>
          <a:lstStyle/>
          <a:p>
            <a:r>
              <a:rPr lang="en-US" dirty="0"/>
              <a:t>Probe output   555 loop    yellow trace</a:t>
            </a:r>
          </a:p>
          <a:p>
            <a:r>
              <a:rPr lang="en-US" dirty="0"/>
              <a:t>Probe TRI        </a:t>
            </a:r>
            <a:r>
              <a:rPr lang="en-US" dirty="0" err="1"/>
              <a:t>TRI</a:t>
            </a:r>
            <a:r>
              <a:rPr lang="en-US" dirty="0"/>
              <a:t> pad    blue trace</a:t>
            </a:r>
          </a:p>
          <a:p>
            <a:endParaRPr lang="en-US" dirty="0"/>
          </a:p>
          <a:p>
            <a:endParaRPr lang="en-US" sz="2800" dirty="0"/>
          </a:p>
        </p:txBody>
      </p:sp>
      <p:pic>
        <p:nvPicPr>
          <p:cNvPr id="6" name="Picture 5">
            <a:extLst>
              <a:ext uri="{FF2B5EF4-FFF2-40B4-BE49-F238E27FC236}">
                <a16:creationId xmlns:a16="http://schemas.microsoft.com/office/drawing/2014/main" id="{229F7D2F-AD32-4EBC-894C-1961E9EECE6F}"/>
              </a:ext>
            </a:extLst>
          </p:cNvPr>
          <p:cNvPicPr>
            <a:picLocks noChangeAspect="1"/>
          </p:cNvPicPr>
          <p:nvPr/>
        </p:nvPicPr>
        <p:blipFill>
          <a:blip r:embed="rId3"/>
          <a:stretch>
            <a:fillRect/>
          </a:stretch>
        </p:blipFill>
        <p:spPr>
          <a:xfrm>
            <a:off x="7455321" y="1932168"/>
            <a:ext cx="4462515" cy="3625794"/>
          </a:xfrm>
          <a:prstGeom prst="rect">
            <a:avLst/>
          </a:prstGeom>
        </p:spPr>
      </p:pic>
      <p:pic>
        <p:nvPicPr>
          <p:cNvPr id="10" name="Picture 9">
            <a:extLst>
              <a:ext uri="{FF2B5EF4-FFF2-40B4-BE49-F238E27FC236}">
                <a16:creationId xmlns:a16="http://schemas.microsoft.com/office/drawing/2014/main" id="{53537912-2946-B4AA-7D59-DBA693F01136}"/>
              </a:ext>
            </a:extLst>
          </p:cNvPr>
          <p:cNvPicPr>
            <a:picLocks noChangeAspect="1"/>
          </p:cNvPicPr>
          <p:nvPr/>
        </p:nvPicPr>
        <p:blipFill>
          <a:blip r:embed="rId4"/>
          <a:stretch>
            <a:fillRect/>
          </a:stretch>
        </p:blipFill>
        <p:spPr>
          <a:xfrm>
            <a:off x="1477995" y="3164281"/>
            <a:ext cx="1358680" cy="2883107"/>
          </a:xfrm>
          <a:prstGeom prst="rect">
            <a:avLst/>
          </a:prstGeom>
        </p:spPr>
      </p:pic>
    </p:spTree>
    <p:extLst>
      <p:ext uri="{BB962C8B-B14F-4D97-AF65-F5344CB8AC3E}">
        <p14:creationId xmlns:p14="http://schemas.microsoft.com/office/powerpoint/2010/main" val="4210357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Turn In</a:t>
            </a:r>
          </a:p>
        </p:txBody>
      </p:sp>
      <p:sp>
        <p:nvSpPr>
          <p:cNvPr id="3" name="Content Placeholder 2"/>
          <p:cNvSpPr>
            <a:spLocks noGrp="1"/>
          </p:cNvSpPr>
          <p:nvPr>
            <p:ph idx="1"/>
          </p:nvPr>
        </p:nvSpPr>
        <p:spPr/>
        <p:txBody>
          <a:bodyPr>
            <a:normAutofit/>
          </a:bodyPr>
          <a:lstStyle/>
          <a:p>
            <a:r>
              <a:rPr lang="en-US" dirty="0"/>
              <a:t>Answer listed questions</a:t>
            </a:r>
          </a:p>
          <a:p>
            <a:r>
              <a:rPr lang="en-US" dirty="0"/>
              <a:t>Save solutions as PDF</a:t>
            </a:r>
          </a:p>
          <a:p>
            <a:r>
              <a:rPr lang="en-US" dirty="0"/>
              <a:t>Due before start of lab next week</a:t>
            </a:r>
          </a:p>
          <a:p>
            <a:r>
              <a:rPr lang="en-US" dirty="0"/>
              <a:t>Every student builds their own board</a:t>
            </a:r>
          </a:p>
          <a:p>
            <a:r>
              <a:rPr lang="en-US" dirty="0"/>
              <a:t>Everyone brings their board to class</a:t>
            </a:r>
          </a:p>
          <a:p>
            <a:pPr lvl="1"/>
            <a:r>
              <a:rPr lang="en-US" dirty="0"/>
              <a:t>Sign your board with </a:t>
            </a:r>
            <a:r>
              <a:rPr lang="en-US"/>
              <a:t>your name!</a:t>
            </a:r>
          </a:p>
          <a:p>
            <a:pPr lvl="1"/>
            <a:endParaRPr lang="en-US" dirty="0"/>
          </a:p>
        </p:txBody>
      </p:sp>
    </p:spTree>
    <p:extLst>
      <p:ext uri="{BB962C8B-B14F-4D97-AF65-F5344CB8AC3E}">
        <p14:creationId xmlns:p14="http://schemas.microsoft.com/office/powerpoint/2010/main" val="2056840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3357</TotalTime>
  <Words>255</Words>
  <Application>Microsoft Office PowerPoint</Application>
  <PresentationFormat>Widescreen</PresentationFormat>
  <Paragraphs>54</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Gotham</vt:lpstr>
      <vt:lpstr>Gotham Book</vt:lpstr>
      <vt:lpstr>Office Theme</vt:lpstr>
      <vt:lpstr>EENG 385 555 Timer</vt:lpstr>
      <vt:lpstr>Lab Objectives</vt:lpstr>
      <vt:lpstr>Analyze</vt:lpstr>
      <vt:lpstr>Analyze</vt:lpstr>
      <vt:lpstr>Simulate</vt:lpstr>
      <vt:lpstr>Assemble</vt:lpstr>
      <vt:lpstr>Test your circuit</vt:lpstr>
      <vt:lpstr>Turn In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Christopher Coulston</cp:lastModifiedBy>
  <cp:revision>108</cp:revision>
  <dcterms:created xsi:type="dcterms:W3CDTF">2017-08-01T15:06:47Z</dcterms:created>
  <dcterms:modified xsi:type="dcterms:W3CDTF">2026-08-06T19:59:12Z</dcterms:modified>
  <cp:category/>
</cp:coreProperties>
</file>