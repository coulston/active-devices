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handoutMasterIdLst>
    <p:handoutMasterId r:id="rId11"/>
  </p:handoutMasterIdLst>
  <p:sldIdLst>
    <p:sldId id="262" r:id="rId2"/>
    <p:sldId id="627" r:id="rId3"/>
    <p:sldId id="557" r:id="rId4"/>
    <p:sldId id="621" r:id="rId5"/>
    <p:sldId id="625" r:id="rId6"/>
    <p:sldId id="622" r:id="rId7"/>
    <p:sldId id="626" r:id="rId8"/>
    <p:sldId id="624"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1314D"/>
    <a:srgbClr val="263F6A"/>
    <a:srgbClr val="8B8D8E"/>
    <a:srgbClr val="CED5DD"/>
    <a:srgbClr val="B2B4B3"/>
    <a:srgbClr val="DD5F36"/>
    <a:srgbClr val="D2492A"/>
    <a:srgbClr val="92A2B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52" autoAdjust="0"/>
    <p:restoredTop sz="96062" autoAdjust="0"/>
  </p:normalViewPr>
  <p:slideViewPr>
    <p:cSldViewPr snapToGrid="0" snapToObjects="1">
      <p:cViewPr varScale="1">
        <p:scale>
          <a:sx n="112" d="100"/>
          <a:sy n="112" d="100"/>
        </p:scale>
        <p:origin x="876" y="108"/>
      </p:cViewPr>
      <p:guideLst/>
    </p:cSldViewPr>
  </p:slideViewPr>
  <p:notesTextViewPr>
    <p:cViewPr>
      <p:scale>
        <a:sx n="1" d="1"/>
        <a:sy n="1" d="1"/>
      </p:scale>
      <p:origin x="0" y="0"/>
    </p:cViewPr>
  </p:notesTextViewPr>
  <p:notesViewPr>
    <p:cSldViewPr snapToGrid="0" snapToObjects="1" showGuides="1">
      <p:cViewPr varScale="1">
        <p:scale>
          <a:sx n="168" d="100"/>
          <a:sy n="168" d="100"/>
        </p:scale>
        <p:origin x="3688" y="2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4DD5C9C-88A3-CA43-B162-DCC4E1E4BE7D}" type="datetimeFigureOut">
              <a:rPr lang="en-US" smtClean="0"/>
              <a:t>7/13/2026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B5FE5E8-0999-F94A-9937-3F8545B10484}" type="slidenum">
              <a:rPr lang="en-US" smtClean="0"/>
              <a:t>‹#›</a:t>
            </a:fld>
            <a:endParaRPr lang="en-US"/>
          </a:p>
        </p:txBody>
      </p:sp>
    </p:spTree>
    <p:extLst>
      <p:ext uri="{BB962C8B-B14F-4D97-AF65-F5344CB8AC3E}">
        <p14:creationId xmlns:p14="http://schemas.microsoft.com/office/powerpoint/2010/main" val="173891032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C5E4000-89B6-4F22-834E-B172C4AA57D1}" type="datetimeFigureOut">
              <a:rPr lang="en-US" smtClean="0"/>
              <a:t>7/13/2026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0C4D68-66B1-48D6-AAFD-4ABFAB720F6F}" type="slidenum">
              <a:rPr lang="en-US" smtClean="0"/>
              <a:t>‹#›</a:t>
            </a:fld>
            <a:endParaRPr lang="en-US"/>
          </a:p>
        </p:txBody>
      </p:sp>
    </p:spTree>
    <p:extLst>
      <p:ext uri="{BB962C8B-B14F-4D97-AF65-F5344CB8AC3E}">
        <p14:creationId xmlns:p14="http://schemas.microsoft.com/office/powerpoint/2010/main" val="2038920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Usually the &lt;title of the lab&gt; is what will be called the “System” through the rest of this document</a:t>
            </a:r>
          </a:p>
        </p:txBody>
      </p:sp>
      <p:sp>
        <p:nvSpPr>
          <p:cNvPr id="4" name="Slide Number Placeholder 3"/>
          <p:cNvSpPr>
            <a:spLocks noGrp="1"/>
          </p:cNvSpPr>
          <p:nvPr>
            <p:ph type="sldNum" sz="quarter" idx="5"/>
          </p:nvPr>
        </p:nvSpPr>
        <p:spPr/>
        <p:txBody>
          <a:bodyPr/>
          <a:lstStyle/>
          <a:p>
            <a:fld id="{AA0C4D68-66B1-48D6-AAFD-4ABFAB720F6F}" type="slidenum">
              <a:rPr lang="en-US" smtClean="0"/>
              <a:t>1</a:t>
            </a:fld>
            <a:endParaRPr lang="en-US"/>
          </a:p>
        </p:txBody>
      </p:sp>
    </p:spTree>
    <p:extLst>
      <p:ext uri="{BB962C8B-B14F-4D97-AF65-F5344CB8AC3E}">
        <p14:creationId xmlns:p14="http://schemas.microsoft.com/office/powerpoint/2010/main" val="26093116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a:defRPr/>
            </a:pPr>
            <a:fld id="{AD45CC39-578B-4552-A24A-45E58858BC64}" type="slidenum">
              <a:rPr lang="en-US" smtClean="0"/>
              <a:pPr>
                <a:defRPr/>
              </a:pPr>
              <a:t>2</a:t>
            </a:fld>
            <a:endParaRPr lang="en-US"/>
          </a:p>
        </p:txBody>
      </p:sp>
    </p:spTree>
    <p:extLst>
      <p:ext uri="{BB962C8B-B14F-4D97-AF65-F5344CB8AC3E}">
        <p14:creationId xmlns:p14="http://schemas.microsoft.com/office/powerpoint/2010/main" val="10653684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&lt;System&gt; with the name of the </a:t>
            </a:r>
          </a:p>
        </p:txBody>
      </p:sp>
      <p:sp>
        <p:nvSpPr>
          <p:cNvPr id="4" name="Slide Number Placeholder 3"/>
          <p:cNvSpPr>
            <a:spLocks noGrp="1"/>
          </p:cNvSpPr>
          <p:nvPr>
            <p:ph type="sldNum" sz="quarter" idx="5"/>
          </p:nvPr>
        </p:nvSpPr>
        <p:spPr/>
        <p:txBody>
          <a:bodyPr/>
          <a:lstStyle/>
          <a:p>
            <a:fld id="{AA0C4D68-66B1-48D6-AAFD-4ABFAB720F6F}" type="slidenum">
              <a:rPr lang="en-US" smtClean="0"/>
              <a:t>3</a:t>
            </a:fld>
            <a:endParaRPr lang="en-US"/>
          </a:p>
        </p:txBody>
      </p:sp>
    </p:spTree>
    <p:extLst>
      <p:ext uri="{BB962C8B-B14F-4D97-AF65-F5344CB8AC3E}">
        <p14:creationId xmlns:p14="http://schemas.microsoft.com/office/powerpoint/2010/main" val="5371477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&lt;System&gt; with the name of the </a:t>
            </a:r>
          </a:p>
        </p:txBody>
      </p:sp>
      <p:sp>
        <p:nvSpPr>
          <p:cNvPr id="4" name="Slide Number Placeholder 3"/>
          <p:cNvSpPr>
            <a:spLocks noGrp="1"/>
          </p:cNvSpPr>
          <p:nvPr>
            <p:ph type="sldNum" sz="quarter" idx="5"/>
          </p:nvPr>
        </p:nvSpPr>
        <p:spPr/>
        <p:txBody>
          <a:bodyPr/>
          <a:lstStyle/>
          <a:p>
            <a:fld id="{AA0C4D68-66B1-48D6-AAFD-4ABFAB720F6F}" type="slidenum">
              <a:rPr lang="en-US" smtClean="0"/>
              <a:t>4</a:t>
            </a:fld>
            <a:endParaRPr lang="en-US"/>
          </a:p>
        </p:txBody>
      </p:sp>
    </p:spTree>
    <p:extLst>
      <p:ext uri="{BB962C8B-B14F-4D97-AF65-F5344CB8AC3E}">
        <p14:creationId xmlns:p14="http://schemas.microsoft.com/office/powerpoint/2010/main" val="25307165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A0C4D68-66B1-48D6-AAFD-4ABFAB720F6F}" type="slidenum">
              <a:rPr lang="en-US" smtClean="0"/>
              <a:t>5</a:t>
            </a:fld>
            <a:endParaRPr lang="en-US"/>
          </a:p>
        </p:txBody>
      </p:sp>
    </p:spTree>
    <p:extLst>
      <p:ext uri="{BB962C8B-B14F-4D97-AF65-F5344CB8AC3E}">
        <p14:creationId xmlns:p14="http://schemas.microsoft.com/office/powerpoint/2010/main" val="697416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A0C4D68-66B1-48D6-AAFD-4ABFAB720F6F}" type="slidenum">
              <a:rPr lang="en-US" smtClean="0"/>
              <a:t>6</a:t>
            </a:fld>
            <a:endParaRPr lang="en-US"/>
          </a:p>
        </p:txBody>
      </p:sp>
    </p:spTree>
    <p:extLst>
      <p:ext uri="{BB962C8B-B14F-4D97-AF65-F5344CB8AC3E}">
        <p14:creationId xmlns:p14="http://schemas.microsoft.com/office/powerpoint/2010/main" val="12601647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A0C4D68-66B1-48D6-AAFD-4ABFAB720F6F}" type="slidenum">
              <a:rPr lang="en-US" smtClean="0"/>
              <a:t>7</a:t>
            </a:fld>
            <a:endParaRPr lang="en-US"/>
          </a:p>
        </p:txBody>
      </p:sp>
    </p:spTree>
    <p:extLst>
      <p:ext uri="{BB962C8B-B14F-4D97-AF65-F5344CB8AC3E}">
        <p14:creationId xmlns:p14="http://schemas.microsoft.com/office/powerpoint/2010/main" val="33439658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A0C4D68-66B1-48D6-AAFD-4ABFAB720F6F}" type="slidenum">
              <a:rPr lang="en-US" smtClean="0"/>
              <a:t>8</a:t>
            </a:fld>
            <a:endParaRPr lang="en-US"/>
          </a:p>
        </p:txBody>
      </p:sp>
    </p:spTree>
    <p:extLst>
      <p:ext uri="{BB962C8B-B14F-4D97-AF65-F5344CB8AC3E}">
        <p14:creationId xmlns:p14="http://schemas.microsoft.com/office/powerpoint/2010/main" val="81740103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16" name="Picture 15"/>
          <p:cNvPicPr>
            <a:picLocks noChangeAspect="1"/>
          </p:cNvPicPr>
          <p:nvPr userDrawn="1"/>
        </p:nvPicPr>
        <p:blipFill>
          <a:blip r:embed="rId2" cstate="screen">
            <a:alphaModFix amt="25000"/>
            <a:extLst>
              <a:ext uri="{28A0092B-C50C-407E-A947-70E740481C1C}">
                <a14:useLocalDpi xmlns:a14="http://schemas.microsoft.com/office/drawing/2010/main"/>
              </a:ext>
            </a:extLst>
          </a:blip>
          <a:stretch>
            <a:fillRect/>
          </a:stretch>
        </p:blipFill>
        <p:spPr>
          <a:xfrm>
            <a:off x="1835085" y="170978"/>
            <a:ext cx="10356915" cy="5825765"/>
          </a:xfrm>
          <a:prstGeom prst="rect">
            <a:avLst/>
          </a:prstGeom>
        </p:spPr>
      </p:pic>
      <p:sp>
        <p:nvSpPr>
          <p:cNvPr id="4" name="Date Placeholder 3"/>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7/13/2026</a:t>
            </a:fld>
            <a:endParaRPr lang="en-US"/>
          </a:p>
        </p:txBody>
      </p:sp>
      <p:sp>
        <p:nvSpPr>
          <p:cNvPr id="21" name="Rectangle 20">
            <a:extLst>
              <a:ext uri="{FF2B5EF4-FFF2-40B4-BE49-F238E27FC236}">
                <a16:creationId xmlns:a16="http://schemas.microsoft.com/office/drawing/2014/main" id="{2DF55106-BA85-A046-A450-43480962F8F7}"/>
              </a:ext>
            </a:extLst>
          </p:cNvPr>
          <p:cNvSpPr/>
          <p:nvPr userDrawn="1"/>
        </p:nvSpPr>
        <p:spPr>
          <a:xfrm>
            <a:off x="-34047" y="0"/>
            <a:ext cx="12260094" cy="6265544"/>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5" name="Footer Placeholder 4"/>
          <p:cNvSpPr>
            <a:spLocks noGrp="1"/>
          </p:cNvSpPr>
          <p:nvPr>
            <p:ph type="ftr" sz="quarter" idx="11"/>
          </p:nvPr>
        </p:nvSpPr>
        <p:spPr>
          <a:xfrm>
            <a:off x="4038600" y="6356352"/>
            <a:ext cx="4114800" cy="365125"/>
          </a:xfrm>
          <a:prstGeom prst="rect">
            <a:avLst/>
          </a:prstGeom>
        </p:spPr>
        <p:txBody>
          <a:bodyPr/>
          <a:lstStyle/>
          <a:p>
            <a:endParaRPr lang="en-US" dirty="0"/>
          </a:p>
        </p:txBody>
      </p:sp>
      <p:sp>
        <p:nvSpPr>
          <p:cNvPr id="6" name="Slide Number Placeholder 5"/>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cxnSp>
        <p:nvCxnSpPr>
          <p:cNvPr id="14" name="Straight Connector 13"/>
          <p:cNvCxnSpPr/>
          <p:nvPr userDrawn="1"/>
        </p:nvCxnSpPr>
        <p:spPr>
          <a:xfrm>
            <a:off x="520878" y="3287006"/>
            <a:ext cx="911199" cy="0"/>
          </a:xfrm>
          <a:prstGeom prst="line">
            <a:avLst/>
          </a:prstGeom>
          <a:ln w="28575">
            <a:solidFill>
              <a:srgbClr val="D2492A"/>
            </a:solidFill>
          </a:ln>
          <a:effectLst/>
        </p:spPr>
        <p:style>
          <a:lnRef idx="2">
            <a:schemeClr val="accent1"/>
          </a:lnRef>
          <a:fillRef idx="0">
            <a:schemeClr val="accent1"/>
          </a:fillRef>
          <a:effectRef idx="1">
            <a:schemeClr val="accent1"/>
          </a:effectRef>
          <a:fontRef idx="minor">
            <a:schemeClr val="tx1"/>
          </a:fontRef>
        </p:style>
      </p:cxnSp>
      <p:pic>
        <p:nvPicPr>
          <p:cNvPr id="22" name="Picture 21">
            <a:extLst>
              <a:ext uri="{FF2B5EF4-FFF2-40B4-BE49-F238E27FC236}">
                <a16:creationId xmlns:a16="http://schemas.microsoft.com/office/drawing/2014/main" id="{08E7ABF0-DEE6-F34C-98A7-7FC5808DF58A}"/>
              </a:ext>
            </a:extLst>
          </p:cNvPr>
          <p:cNvPicPr/>
          <p:nvPr userDrawn="1"/>
        </p:nvPicPr>
        <p:blipFill>
          <a:blip r:embed="rId3"/>
          <a:stretch>
            <a:fillRect/>
          </a:stretch>
        </p:blipFill>
        <p:spPr bwMode="auto">
          <a:xfrm>
            <a:off x="381000" y="6373243"/>
            <a:ext cx="3200400" cy="364310"/>
          </a:xfrm>
          <a:prstGeom prst="rect">
            <a:avLst/>
          </a:prstGeom>
          <a:noFill/>
          <a:ln>
            <a:noFill/>
          </a:ln>
          <a:extLst>
            <a:ext uri="{53640926-AAD7-44D8-BBD7-CCE9431645EC}">
              <a14:shadowObscured xmlns:a14="http://schemas.microsoft.com/office/drawing/2010/main"/>
            </a:ext>
          </a:extLst>
        </p:spPr>
      </p:pic>
      <p:sp>
        <p:nvSpPr>
          <p:cNvPr id="23" name="TextBox 22">
            <a:extLst>
              <a:ext uri="{FF2B5EF4-FFF2-40B4-BE49-F238E27FC236}">
                <a16:creationId xmlns:a16="http://schemas.microsoft.com/office/drawing/2014/main" id="{78B3FD82-CB41-C84B-B706-06F09C4B7CF1}"/>
              </a:ext>
            </a:extLst>
          </p:cNvPr>
          <p:cNvSpPr txBox="1"/>
          <p:nvPr userDrawn="1"/>
        </p:nvSpPr>
        <p:spPr>
          <a:xfrm>
            <a:off x="7478040" y="6407925"/>
            <a:ext cx="4489537" cy="369332"/>
          </a:xfrm>
          <a:prstGeom prst="rect">
            <a:avLst/>
          </a:prstGeom>
          <a:noFill/>
        </p:spPr>
        <p:txBody>
          <a:bodyPr wrap="square" rtlCol="0">
            <a:spAutoFit/>
          </a:bodyPr>
          <a:lstStyle/>
          <a:p>
            <a:pPr algn="r"/>
            <a:r>
              <a:rPr lang="en-US" sz="1800" b="1" i="0" dirty="0">
                <a:solidFill>
                  <a:srgbClr val="21314D"/>
                </a:solidFill>
                <a:latin typeface="Gotham" charset="0"/>
                <a:ea typeface="Gotham" charset="0"/>
                <a:cs typeface="Gotham" charset="0"/>
              </a:rPr>
              <a:t>MINES</a:t>
            </a:r>
            <a:r>
              <a:rPr lang="en-US" sz="1800" b="1" i="0" dirty="0">
                <a:solidFill>
                  <a:srgbClr val="D2492A"/>
                </a:solidFill>
                <a:latin typeface="Gotham" charset="0"/>
                <a:ea typeface="Gotham" charset="0"/>
                <a:cs typeface="Gotham" charset="0"/>
              </a:rPr>
              <a:t>.</a:t>
            </a:r>
            <a:r>
              <a:rPr lang="en-US" sz="1800" b="0" i="0" dirty="0">
                <a:solidFill>
                  <a:srgbClr val="92A2BD"/>
                </a:solidFill>
                <a:latin typeface="Gotham Book" charset="0"/>
                <a:ea typeface="Gotham Book" charset="0"/>
                <a:cs typeface="Gotham Book" charset="0"/>
              </a:rPr>
              <a:t>EDU</a:t>
            </a:r>
          </a:p>
        </p:txBody>
      </p:sp>
      <p:sp>
        <p:nvSpPr>
          <p:cNvPr id="13" name="Subtitle 2"/>
          <p:cNvSpPr>
            <a:spLocks noGrp="1"/>
          </p:cNvSpPr>
          <p:nvPr>
            <p:ph type="subTitle" idx="1"/>
          </p:nvPr>
        </p:nvSpPr>
        <p:spPr>
          <a:xfrm>
            <a:off x="395371" y="3737295"/>
            <a:ext cx="9144000" cy="1655762"/>
          </a:xfrm>
        </p:spPr>
        <p:txBody>
          <a:bodyPr/>
          <a:lstStyle>
            <a:lvl1pPr marL="0" indent="0">
              <a:buNone/>
              <a:defRPr b="0"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pPr algn="l"/>
            <a:r>
              <a:rPr lang="en-US" dirty="0">
                <a:solidFill>
                  <a:schemeClr val="bg1"/>
                </a:solidFill>
              </a:rPr>
              <a:t>Subhead, name or date goes here</a:t>
            </a:r>
          </a:p>
        </p:txBody>
      </p:sp>
      <p:pic>
        <p:nvPicPr>
          <p:cNvPr id="24" name="Picture 23">
            <a:extLst>
              <a:ext uri="{FF2B5EF4-FFF2-40B4-BE49-F238E27FC236}">
                <a16:creationId xmlns:a16="http://schemas.microsoft.com/office/drawing/2014/main" id="{F3429AB2-51CA-D34A-933D-348196C30A2C}"/>
              </a:ext>
            </a:extLst>
          </p:cNvPr>
          <p:cNvPicPr>
            <a:picLocks noChangeAspect="1"/>
          </p:cNvPicPr>
          <p:nvPr userDrawn="1"/>
        </p:nvPicPr>
        <p:blipFill>
          <a:blip r:embed="rId2" cstate="screen">
            <a:alphaModFix amt="25000"/>
            <a:extLst>
              <a:ext uri="{28A0092B-C50C-407E-A947-70E740481C1C}">
                <a14:useLocalDpi xmlns:a14="http://schemas.microsoft.com/office/drawing/2010/main"/>
              </a:ext>
            </a:extLst>
          </a:blip>
          <a:stretch>
            <a:fillRect/>
          </a:stretch>
        </p:blipFill>
        <p:spPr>
          <a:xfrm>
            <a:off x="1835085" y="170976"/>
            <a:ext cx="10356915" cy="5825765"/>
          </a:xfrm>
          <a:prstGeom prst="rect">
            <a:avLst/>
          </a:prstGeom>
        </p:spPr>
      </p:pic>
      <p:sp>
        <p:nvSpPr>
          <p:cNvPr id="12" name="Title 1"/>
          <p:cNvSpPr>
            <a:spLocks noGrp="1"/>
          </p:cNvSpPr>
          <p:nvPr>
            <p:ph type="ctrTitle"/>
          </p:nvPr>
        </p:nvSpPr>
        <p:spPr>
          <a:xfrm>
            <a:off x="395371" y="2243579"/>
            <a:ext cx="10803672" cy="719056"/>
          </a:xfrm>
        </p:spPr>
        <p:txBody>
          <a:bodyPr>
            <a:normAutofit/>
          </a:bodyPr>
          <a:lstStyle>
            <a:lvl1pPr>
              <a:defRPr b="1"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pPr algn="l"/>
            <a:r>
              <a:rPr lang="en-US" sz="5400" dirty="0">
                <a:solidFill>
                  <a:schemeClr val="bg1"/>
                </a:solidFill>
              </a:rPr>
              <a:t>Presentation Title Goes Here</a:t>
            </a:r>
          </a:p>
        </p:txBody>
      </p:sp>
    </p:spTree>
    <p:extLst>
      <p:ext uri="{BB962C8B-B14F-4D97-AF65-F5344CB8AC3E}">
        <p14:creationId xmlns:p14="http://schemas.microsoft.com/office/powerpoint/2010/main" val="6083273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Rectangle 9"/>
          <p:cNvSpPr/>
          <p:nvPr userDrawn="1"/>
        </p:nvSpPr>
        <p:spPr>
          <a:xfrm>
            <a:off x="-9728" y="-9729"/>
            <a:ext cx="12201728" cy="6265545"/>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hasCustomPrompt="1"/>
          </p:nvPr>
        </p:nvSpPr>
        <p:spPr>
          <a:xfrm>
            <a:off x="831851" y="1709740"/>
            <a:ext cx="10515600" cy="2852737"/>
          </a:xfrm>
        </p:spPr>
        <p:txBody>
          <a:bodyPr anchor="b">
            <a:normAutofit/>
          </a:bodyPr>
          <a:lstStyle>
            <a:lvl1pPr>
              <a:defRPr sz="4400" b="1"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r>
              <a:rPr lang="en-US" dirty="0"/>
              <a:t>Section header goes here</a:t>
            </a:r>
          </a:p>
        </p:txBody>
      </p:sp>
      <p:sp>
        <p:nvSpPr>
          <p:cNvPr id="3" name="Text Placeholder 2"/>
          <p:cNvSpPr>
            <a:spLocks noGrp="1"/>
          </p:cNvSpPr>
          <p:nvPr>
            <p:ph type="body" idx="1" hasCustomPrompt="1"/>
          </p:nvPr>
        </p:nvSpPr>
        <p:spPr>
          <a:xfrm>
            <a:off x="831851" y="4589465"/>
            <a:ext cx="10515600" cy="1500187"/>
          </a:xfrm>
        </p:spPr>
        <p:txBody>
          <a:bodyPr/>
          <a:lstStyle>
            <a:lvl1pPr marL="0" indent="0">
              <a:buNone/>
              <a:defRPr sz="2400" b="0" i="0">
                <a:solidFill>
                  <a:srgbClr val="92A2BD"/>
                </a:solidFill>
                <a:latin typeface="Arial" panose="020B0604020202020204" pitchFamily="34" charset="0"/>
                <a:ea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dirty="0"/>
              <a:t>Section subhead goes here</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7/13/2026</a:t>
            </a:fld>
            <a:endParaRPr lang="en-US"/>
          </a:p>
        </p:txBody>
      </p:sp>
      <p:sp>
        <p:nvSpPr>
          <p:cNvPr id="5" name="Footer Placeholder 4"/>
          <p:cNvSpPr>
            <a:spLocks noGrp="1"/>
          </p:cNvSpPr>
          <p:nvPr>
            <p:ph type="ftr" sz="quarter" idx="11"/>
          </p:nvPr>
        </p:nvSpPr>
        <p:spPr>
          <a:xfrm>
            <a:off x="4038600" y="6356352"/>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pic>
        <p:nvPicPr>
          <p:cNvPr id="12" name="Picture 11">
            <a:extLst>
              <a:ext uri="{FF2B5EF4-FFF2-40B4-BE49-F238E27FC236}">
                <a16:creationId xmlns:a16="http://schemas.microsoft.com/office/drawing/2014/main" id="{4C2BC71D-0003-024E-9F29-71C949747F4A}"/>
              </a:ext>
            </a:extLst>
          </p:cNvPr>
          <p:cNvPicPr/>
          <p:nvPr userDrawn="1"/>
        </p:nvPicPr>
        <p:blipFill>
          <a:blip r:embed="rId2"/>
          <a:stretch>
            <a:fillRect/>
          </a:stretch>
        </p:blipFill>
        <p:spPr bwMode="auto">
          <a:xfrm>
            <a:off x="381000" y="6373243"/>
            <a:ext cx="3200400" cy="364310"/>
          </a:xfrm>
          <a:prstGeom prst="rect">
            <a:avLst/>
          </a:prstGeom>
          <a:noFill/>
          <a:ln>
            <a:noFill/>
          </a:ln>
          <a:extLst>
            <a:ext uri="{53640926-AAD7-44D8-BBD7-CCE9431645EC}">
              <a14:shadowObscured xmlns:a14="http://schemas.microsoft.com/office/drawing/2010/main"/>
            </a:ext>
          </a:extLst>
        </p:spPr>
      </p:pic>
      <p:sp>
        <p:nvSpPr>
          <p:cNvPr id="13" name="TextBox 12">
            <a:extLst>
              <a:ext uri="{FF2B5EF4-FFF2-40B4-BE49-F238E27FC236}">
                <a16:creationId xmlns:a16="http://schemas.microsoft.com/office/drawing/2014/main" id="{25715021-AF61-AF4F-9B48-1343FD8CB059}"/>
              </a:ext>
            </a:extLst>
          </p:cNvPr>
          <p:cNvSpPr txBox="1"/>
          <p:nvPr userDrawn="1"/>
        </p:nvSpPr>
        <p:spPr>
          <a:xfrm>
            <a:off x="7478040" y="6407925"/>
            <a:ext cx="4489537" cy="369332"/>
          </a:xfrm>
          <a:prstGeom prst="rect">
            <a:avLst/>
          </a:prstGeom>
          <a:noFill/>
        </p:spPr>
        <p:txBody>
          <a:bodyPr wrap="square" rtlCol="0">
            <a:spAutoFit/>
          </a:bodyPr>
          <a:lstStyle/>
          <a:p>
            <a:pPr algn="r"/>
            <a:r>
              <a:rPr lang="en-US" sz="1800" b="1" i="0" dirty="0">
                <a:solidFill>
                  <a:srgbClr val="21314D"/>
                </a:solidFill>
                <a:latin typeface="Gotham" charset="0"/>
                <a:ea typeface="Gotham" charset="0"/>
                <a:cs typeface="Gotham" charset="0"/>
              </a:rPr>
              <a:t>MINES</a:t>
            </a:r>
            <a:r>
              <a:rPr lang="en-US" sz="1800" b="1" i="0" dirty="0">
                <a:solidFill>
                  <a:srgbClr val="D2492A"/>
                </a:solidFill>
                <a:latin typeface="Gotham" charset="0"/>
                <a:ea typeface="Gotham" charset="0"/>
                <a:cs typeface="Gotham" charset="0"/>
              </a:rPr>
              <a:t>.</a:t>
            </a:r>
            <a:r>
              <a:rPr lang="en-US" sz="1800" b="0" i="0" dirty="0">
                <a:solidFill>
                  <a:srgbClr val="92A2BD"/>
                </a:solidFill>
                <a:latin typeface="Gotham Book" charset="0"/>
                <a:ea typeface="Gotham Book" charset="0"/>
                <a:cs typeface="Gotham Book" charset="0"/>
              </a:rPr>
              <a:t>EDU</a:t>
            </a:r>
          </a:p>
        </p:txBody>
      </p:sp>
    </p:spTree>
    <p:extLst>
      <p:ext uri="{BB962C8B-B14F-4D97-AF65-F5344CB8AC3E}">
        <p14:creationId xmlns:p14="http://schemas.microsoft.com/office/powerpoint/2010/main" val="15936876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21314D"/>
                </a:solidFill>
              </a:defRPr>
            </a:lvl1pPr>
          </a:lstStyle>
          <a:p>
            <a:r>
              <a:rPr lang="en-US" dirty="0"/>
              <a:t>Click to edit Master title style</a:t>
            </a:r>
          </a:p>
        </p:txBody>
      </p:sp>
      <p:sp>
        <p:nvSpPr>
          <p:cNvPr id="15" name="Rectangle 14"/>
          <p:cNvSpPr/>
          <p:nvPr userDrawn="1"/>
        </p:nvSpPr>
        <p:spPr>
          <a:xfrm>
            <a:off x="-9728" y="6265545"/>
            <a:ext cx="12201728" cy="601701"/>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7/13/2026</a:t>
            </a:fld>
            <a:endParaRPr lang="en-US"/>
          </a:p>
        </p:txBody>
      </p:sp>
      <p:sp>
        <p:nvSpPr>
          <p:cNvPr id="5" name="Footer Placeholder 4"/>
          <p:cNvSpPr>
            <a:spLocks noGrp="1"/>
          </p:cNvSpPr>
          <p:nvPr>
            <p:ph type="ftr" sz="quarter" idx="11"/>
          </p:nvPr>
        </p:nvSpPr>
        <p:spPr>
          <a:xfrm>
            <a:off x="4038600" y="6356352"/>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14" name="TextBox 13"/>
          <p:cNvSpPr txBox="1"/>
          <p:nvPr userDrawn="1"/>
        </p:nvSpPr>
        <p:spPr>
          <a:xfrm>
            <a:off x="7478040" y="6398498"/>
            <a:ext cx="4489537" cy="369332"/>
          </a:xfrm>
          <a:prstGeom prst="rect">
            <a:avLst/>
          </a:prstGeom>
          <a:noFill/>
        </p:spPr>
        <p:txBody>
          <a:bodyPr wrap="square" rtlCol="0">
            <a:spAutoFit/>
          </a:bodyPr>
          <a:lstStyle/>
          <a:p>
            <a:pPr algn="r"/>
            <a:r>
              <a:rPr lang="en-US" sz="1800" b="1" i="0" dirty="0">
                <a:solidFill>
                  <a:schemeClr val="bg1"/>
                </a:solidFill>
                <a:latin typeface="Gotham" charset="0"/>
                <a:ea typeface="Gotham" charset="0"/>
                <a:cs typeface="Gotham" charset="0"/>
              </a:rPr>
              <a:t>MINES</a:t>
            </a:r>
            <a:r>
              <a:rPr lang="en-US" sz="1800" b="1" i="0" dirty="0">
                <a:solidFill>
                  <a:srgbClr val="D2492A"/>
                </a:solidFill>
                <a:latin typeface="Gotham" charset="0"/>
                <a:ea typeface="Gotham" charset="0"/>
                <a:cs typeface="Gotham" charset="0"/>
              </a:rPr>
              <a:t>.</a:t>
            </a:r>
            <a:r>
              <a:rPr lang="en-US" sz="1800" b="0" i="0" dirty="0">
                <a:solidFill>
                  <a:srgbClr val="92A2BD"/>
                </a:solidFill>
                <a:latin typeface="Gotham Book" charset="0"/>
                <a:ea typeface="Gotham Book" charset="0"/>
                <a:cs typeface="Gotham Book" charset="0"/>
              </a:rPr>
              <a:t>EDU</a:t>
            </a:r>
          </a:p>
        </p:txBody>
      </p:sp>
      <p:pic>
        <p:nvPicPr>
          <p:cNvPr id="10" name="Picture 9">
            <a:extLst>
              <a:ext uri="{FF2B5EF4-FFF2-40B4-BE49-F238E27FC236}">
                <a16:creationId xmlns:a16="http://schemas.microsoft.com/office/drawing/2014/main" id="{E3C7278D-9F84-1645-9C4A-4B5FD9D68954}"/>
              </a:ext>
            </a:extLst>
          </p:cNvPr>
          <p:cNvPicPr/>
          <p:nvPr userDrawn="1"/>
        </p:nvPicPr>
        <p:blipFill>
          <a:blip r:embed="rId2"/>
          <a:stretch>
            <a:fillRect/>
          </a:stretch>
        </p:blipFill>
        <p:spPr bwMode="auto">
          <a:xfrm>
            <a:off x="381003" y="6381481"/>
            <a:ext cx="3200395" cy="364310"/>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1363344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21314D"/>
                </a:solidFill>
              </a:defRPr>
            </a:lvl1p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7/13/2026</a:t>
            </a:fld>
            <a:endParaRPr lang="en-US"/>
          </a:p>
        </p:txBody>
      </p:sp>
      <p:sp>
        <p:nvSpPr>
          <p:cNvPr id="6" name="Footer Placeholder 5"/>
          <p:cNvSpPr>
            <a:spLocks noGrp="1"/>
          </p:cNvSpPr>
          <p:nvPr>
            <p:ph type="ftr" sz="quarter" idx="11"/>
          </p:nvPr>
        </p:nvSpPr>
        <p:spPr>
          <a:xfrm>
            <a:off x="4038600" y="6356352"/>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8" name="Rectangle 7"/>
          <p:cNvSpPr/>
          <p:nvPr userDrawn="1"/>
        </p:nvSpPr>
        <p:spPr>
          <a:xfrm>
            <a:off x="-9728" y="6265545"/>
            <a:ext cx="12201728" cy="592455"/>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3" name="TextBox 12">
            <a:extLst>
              <a:ext uri="{FF2B5EF4-FFF2-40B4-BE49-F238E27FC236}">
                <a16:creationId xmlns:a16="http://schemas.microsoft.com/office/drawing/2014/main" id="{3E729617-3EE6-934F-B272-92B6163ABCA3}"/>
              </a:ext>
            </a:extLst>
          </p:cNvPr>
          <p:cNvSpPr txBox="1"/>
          <p:nvPr userDrawn="1"/>
        </p:nvSpPr>
        <p:spPr>
          <a:xfrm>
            <a:off x="7478040" y="6398498"/>
            <a:ext cx="4489537" cy="369332"/>
          </a:xfrm>
          <a:prstGeom prst="rect">
            <a:avLst/>
          </a:prstGeom>
          <a:noFill/>
        </p:spPr>
        <p:txBody>
          <a:bodyPr wrap="square" rtlCol="0">
            <a:spAutoFit/>
          </a:bodyPr>
          <a:lstStyle/>
          <a:p>
            <a:pPr algn="r"/>
            <a:r>
              <a:rPr lang="en-US" sz="1800" b="1" i="0" dirty="0">
                <a:solidFill>
                  <a:schemeClr val="bg1"/>
                </a:solidFill>
                <a:latin typeface="Gotham" charset="0"/>
                <a:ea typeface="Gotham" charset="0"/>
                <a:cs typeface="Gotham" charset="0"/>
              </a:rPr>
              <a:t>MINES</a:t>
            </a:r>
            <a:r>
              <a:rPr lang="en-US" sz="1800" b="1" i="0" dirty="0">
                <a:solidFill>
                  <a:srgbClr val="D2492A"/>
                </a:solidFill>
                <a:latin typeface="Gotham" charset="0"/>
                <a:ea typeface="Gotham" charset="0"/>
                <a:cs typeface="Gotham" charset="0"/>
              </a:rPr>
              <a:t>.</a:t>
            </a:r>
            <a:r>
              <a:rPr lang="en-US" sz="1800" b="0" i="0" dirty="0">
                <a:solidFill>
                  <a:srgbClr val="92A2BD"/>
                </a:solidFill>
                <a:latin typeface="Gotham Book" charset="0"/>
                <a:ea typeface="Gotham Book" charset="0"/>
                <a:cs typeface="Gotham Book" charset="0"/>
              </a:rPr>
              <a:t>EDU</a:t>
            </a:r>
          </a:p>
        </p:txBody>
      </p:sp>
      <p:pic>
        <p:nvPicPr>
          <p:cNvPr id="14" name="Picture 13">
            <a:extLst>
              <a:ext uri="{FF2B5EF4-FFF2-40B4-BE49-F238E27FC236}">
                <a16:creationId xmlns:a16="http://schemas.microsoft.com/office/drawing/2014/main" id="{AA977242-14B3-B24E-8B0C-44E4362EFCBD}"/>
              </a:ext>
            </a:extLst>
          </p:cNvPr>
          <p:cNvPicPr/>
          <p:nvPr userDrawn="1"/>
        </p:nvPicPr>
        <p:blipFill>
          <a:blip r:embed="rId2"/>
          <a:stretch>
            <a:fillRect/>
          </a:stretch>
        </p:blipFill>
        <p:spPr bwMode="auto">
          <a:xfrm>
            <a:off x="381003" y="6381481"/>
            <a:ext cx="3200395" cy="364310"/>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6918511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lvl1pPr>
              <a:defRPr>
                <a:solidFill>
                  <a:srgbClr val="21314D"/>
                </a:solidFill>
              </a:defRPr>
            </a:lvl1pPr>
          </a:lstStyle>
          <a:p>
            <a:r>
              <a:rPr lang="en-US" dirty="0"/>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7/13/2026</a:t>
            </a:fld>
            <a:endParaRPr lang="en-US"/>
          </a:p>
        </p:txBody>
      </p:sp>
      <p:sp>
        <p:nvSpPr>
          <p:cNvPr id="8" name="Footer Placeholder 7"/>
          <p:cNvSpPr>
            <a:spLocks noGrp="1"/>
          </p:cNvSpPr>
          <p:nvPr>
            <p:ph type="ftr" sz="quarter" idx="11"/>
          </p:nvPr>
        </p:nvSpPr>
        <p:spPr>
          <a:xfrm>
            <a:off x="4038600" y="6356352"/>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10" name="Rectangle 9"/>
          <p:cNvSpPr/>
          <p:nvPr userDrawn="1"/>
        </p:nvSpPr>
        <p:spPr>
          <a:xfrm>
            <a:off x="-9728" y="6265545"/>
            <a:ext cx="12201728" cy="592455"/>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5" name="TextBox 14">
            <a:extLst>
              <a:ext uri="{FF2B5EF4-FFF2-40B4-BE49-F238E27FC236}">
                <a16:creationId xmlns:a16="http://schemas.microsoft.com/office/drawing/2014/main" id="{07053E08-80AB-B043-979E-87B7A1E7EB21}"/>
              </a:ext>
            </a:extLst>
          </p:cNvPr>
          <p:cNvSpPr txBox="1"/>
          <p:nvPr userDrawn="1"/>
        </p:nvSpPr>
        <p:spPr>
          <a:xfrm>
            <a:off x="7478040" y="6398498"/>
            <a:ext cx="4489537" cy="369332"/>
          </a:xfrm>
          <a:prstGeom prst="rect">
            <a:avLst/>
          </a:prstGeom>
          <a:noFill/>
        </p:spPr>
        <p:txBody>
          <a:bodyPr wrap="square" rtlCol="0">
            <a:spAutoFit/>
          </a:bodyPr>
          <a:lstStyle/>
          <a:p>
            <a:pPr algn="r"/>
            <a:r>
              <a:rPr lang="en-US" sz="1800" b="1" i="0" dirty="0">
                <a:solidFill>
                  <a:schemeClr val="bg1"/>
                </a:solidFill>
                <a:latin typeface="Gotham" charset="0"/>
                <a:ea typeface="Gotham" charset="0"/>
                <a:cs typeface="Gotham" charset="0"/>
              </a:rPr>
              <a:t>MINES</a:t>
            </a:r>
            <a:r>
              <a:rPr lang="en-US" sz="1800" b="1" i="0" dirty="0">
                <a:solidFill>
                  <a:srgbClr val="D2492A"/>
                </a:solidFill>
                <a:latin typeface="Gotham" charset="0"/>
                <a:ea typeface="Gotham" charset="0"/>
                <a:cs typeface="Gotham" charset="0"/>
              </a:rPr>
              <a:t>.</a:t>
            </a:r>
            <a:r>
              <a:rPr lang="en-US" sz="1800" b="0" i="0" dirty="0">
                <a:solidFill>
                  <a:srgbClr val="92A2BD"/>
                </a:solidFill>
                <a:latin typeface="Gotham Book" charset="0"/>
                <a:ea typeface="Gotham Book" charset="0"/>
                <a:cs typeface="Gotham Book" charset="0"/>
              </a:rPr>
              <a:t>EDU</a:t>
            </a:r>
          </a:p>
        </p:txBody>
      </p:sp>
      <p:pic>
        <p:nvPicPr>
          <p:cNvPr id="16" name="Picture 15">
            <a:extLst>
              <a:ext uri="{FF2B5EF4-FFF2-40B4-BE49-F238E27FC236}">
                <a16:creationId xmlns:a16="http://schemas.microsoft.com/office/drawing/2014/main" id="{32B57081-B141-9B4E-9482-F401745054EE}"/>
              </a:ext>
            </a:extLst>
          </p:cNvPr>
          <p:cNvPicPr/>
          <p:nvPr userDrawn="1"/>
        </p:nvPicPr>
        <p:blipFill>
          <a:blip r:embed="rId2"/>
          <a:stretch>
            <a:fillRect/>
          </a:stretch>
        </p:blipFill>
        <p:spPr bwMode="auto">
          <a:xfrm>
            <a:off x="381003" y="6381481"/>
            <a:ext cx="3200395" cy="364310"/>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118795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21314D"/>
                </a:solidFill>
              </a:defRPr>
            </a:lvl1pPr>
          </a:lstStyle>
          <a:p>
            <a:r>
              <a:rPr lang="en-US" dirty="0"/>
              <a:t>Click to edit Master title style</a:t>
            </a:r>
          </a:p>
        </p:txBody>
      </p:sp>
      <p:sp>
        <p:nvSpPr>
          <p:cNvPr id="3" name="Date Placeholder 2"/>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7/13/2026</a:t>
            </a:fld>
            <a:endParaRPr lang="en-US"/>
          </a:p>
        </p:txBody>
      </p:sp>
      <p:sp>
        <p:nvSpPr>
          <p:cNvPr id="4" name="Footer Placeholder 3"/>
          <p:cNvSpPr>
            <a:spLocks noGrp="1"/>
          </p:cNvSpPr>
          <p:nvPr>
            <p:ph type="ftr" sz="quarter" idx="11"/>
          </p:nvPr>
        </p:nvSpPr>
        <p:spPr>
          <a:xfrm>
            <a:off x="4038600" y="6356352"/>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6" name="Rectangle 5"/>
          <p:cNvSpPr/>
          <p:nvPr userDrawn="1"/>
        </p:nvSpPr>
        <p:spPr>
          <a:xfrm>
            <a:off x="-9728" y="6265545"/>
            <a:ext cx="12201728" cy="592455"/>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1" name="TextBox 10">
            <a:extLst>
              <a:ext uri="{FF2B5EF4-FFF2-40B4-BE49-F238E27FC236}">
                <a16:creationId xmlns:a16="http://schemas.microsoft.com/office/drawing/2014/main" id="{6BA0EA07-1225-FE4C-917E-74A024F5E428}"/>
              </a:ext>
            </a:extLst>
          </p:cNvPr>
          <p:cNvSpPr txBox="1"/>
          <p:nvPr userDrawn="1"/>
        </p:nvSpPr>
        <p:spPr>
          <a:xfrm>
            <a:off x="7478040" y="6398498"/>
            <a:ext cx="4489537" cy="369332"/>
          </a:xfrm>
          <a:prstGeom prst="rect">
            <a:avLst/>
          </a:prstGeom>
          <a:noFill/>
        </p:spPr>
        <p:txBody>
          <a:bodyPr wrap="square" rtlCol="0">
            <a:spAutoFit/>
          </a:bodyPr>
          <a:lstStyle/>
          <a:p>
            <a:pPr algn="r"/>
            <a:r>
              <a:rPr lang="en-US" sz="1800" b="1" i="0" dirty="0">
                <a:solidFill>
                  <a:schemeClr val="bg1"/>
                </a:solidFill>
                <a:latin typeface="Gotham" charset="0"/>
                <a:ea typeface="Gotham" charset="0"/>
                <a:cs typeface="Gotham" charset="0"/>
              </a:rPr>
              <a:t>MINES</a:t>
            </a:r>
            <a:r>
              <a:rPr lang="en-US" sz="1800" b="1" i="0" dirty="0">
                <a:solidFill>
                  <a:srgbClr val="D2492A"/>
                </a:solidFill>
                <a:latin typeface="Gotham" charset="0"/>
                <a:ea typeface="Gotham" charset="0"/>
                <a:cs typeface="Gotham" charset="0"/>
              </a:rPr>
              <a:t>.</a:t>
            </a:r>
            <a:r>
              <a:rPr lang="en-US" sz="1800" b="0" i="0" dirty="0">
                <a:solidFill>
                  <a:srgbClr val="92A2BD"/>
                </a:solidFill>
                <a:latin typeface="Gotham Book" charset="0"/>
                <a:ea typeface="Gotham Book" charset="0"/>
                <a:cs typeface="Gotham Book" charset="0"/>
              </a:rPr>
              <a:t>EDU</a:t>
            </a:r>
          </a:p>
        </p:txBody>
      </p:sp>
      <p:pic>
        <p:nvPicPr>
          <p:cNvPr id="12" name="Picture 11">
            <a:extLst>
              <a:ext uri="{FF2B5EF4-FFF2-40B4-BE49-F238E27FC236}">
                <a16:creationId xmlns:a16="http://schemas.microsoft.com/office/drawing/2014/main" id="{43F1F743-16CE-3043-9E24-77715B0645DA}"/>
              </a:ext>
            </a:extLst>
          </p:cNvPr>
          <p:cNvPicPr/>
          <p:nvPr userDrawn="1"/>
        </p:nvPicPr>
        <p:blipFill>
          <a:blip r:embed="rId2"/>
          <a:stretch>
            <a:fillRect/>
          </a:stretch>
        </p:blipFill>
        <p:spPr bwMode="auto">
          <a:xfrm>
            <a:off x="381003" y="6381481"/>
            <a:ext cx="3200395" cy="364310"/>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3115906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7/13/2026</a:t>
            </a:fld>
            <a:endParaRPr lang="en-US"/>
          </a:p>
        </p:txBody>
      </p:sp>
      <p:sp>
        <p:nvSpPr>
          <p:cNvPr id="3" name="Footer Placeholder 2"/>
          <p:cNvSpPr>
            <a:spLocks noGrp="1"/>
          </p:cNvSpPr>
          <p:nvPr>
            <p:ph type="ftr" sz="quarter" idx="11"/>
          </p:nvPr>
        </p:nvSpPr>
        <p:spPr>
          <a:xfrm>
            <a:off x="4038600" y="6356352"/>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9" name="Title 2"/>
          <p:cNvSpPr txBox="1">
            <a:spLocks/>
          </p:cNvSpPr>
          <p:nvPr userDrawn="1"/>
        </p:nvSpPr>
        <p:spPr>
          <a:xfrm>
            <a:off x="838202" y="5746528"/>
            <a:ext cx="13016751" cy="77932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0" i="0" kern="1200">
                <a:solidFill>
                  <a:srgbClr val="21314D"/>
                </a:solidFill>
                <a:latin typeface="Gotham Medium" charset="0"/>
                <a:ea typeface="Gotham Medium" charset="0"/>
                <a:cs typeface="Gotham Medium" charset="0"/>
              </a:defRPr>
            </a:lvl1pPr>
          </a:lstStyle>
          <a:p>
            <a:r>
              <a:rPr lang="en-US" sz="4400" b="1" i="0" dirty="0">
                <a:latin typeface="Arial" panose="020B0604020202020204" pitchFamily="34" charset="0"/>
                <a:cs typeface="Arial" panose="020B0604020202020204" pitchFamily="34" charset="0"/>
              </a:rPr>
              <a:t>Headline Copy Goes Here</a:t>
            </a:r>
          </a:p>
        </p:txBody>
      </p:sp>
      <p:sp>
        <p:nvSpPr>
          <p:cNvPr id="10" name="Picture Placeholder 2"/>
          <p:cNvSpPr>
            <a:spLocks noGrp="1"/>
          </p:cNvSpPr>
          <p:nvPr>
            <p:ph type="pic" idx="1"/>
          </p:nvPr>
        </p:nvSpPr>
        <p:spPr>
          <a:xfrm>
            <a:off x="0" y="1"/>
            <a:ext cx="12192000" cy="557703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Tree>
    <p:extLst>
      <p:ext uri="{BB962C8B-B14F-4D97-AF65-F5344CB8AC3E}">
        <p14:creationId xmlns:p14="http://schemas.microsoft.com/office/powerpoint/2010/main" val="21310950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3" name="Rectangle 2"/>
          <p:cNvSpPr/>
          <p:nvPr userDrawn="1"/>
        </p:nvSpPr>
        <p:spPr>
          <a:xfrm>
            <a:off x="-10048" y="-10048"/>
            <a:ext cx="12202048" cy="6868048"/>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pic>
        <p:nvPicPr>
          <p:cNvPr id="4" name="Picture 3"/>
          <p:cNvPicPr>
            <a:picLocks noChangeAspect="1"/>
          </p:cNvPicPr>
          <p:nvPr userDrawn="1"/>
        </p:nvPicPr>
        <p:blipFill>
          <a:blip r:embed="rId2" cstate="screen">
            <a:alphaModFix amt="25000"/>
            <a:extLst>
              <a:ext uri="{28A0092B-C50C-407E-A947-70E740481C1C}">
                <a14:useLocalDpi xmlns:a14="http://schemas.microsoft.com/office/drawing/2010/main"/>
              </a:ext>
            </a:extLst>
          </a:blip>
          <a:stretch>
            <a:fillRect/>
          </a:stretch>
        </p:blipFill>
        <p:spPr>
          <a:xfrm>
            <a:off x="1835085" y="552941"/>
            <a:ext cx="10356915" cy="5825765"/>
          </a:xfrm>
          <a:prstGeom prst="rect">
            <a:avLst/>
          </a:prstGeom>
        </p:spPr>
      </p:pic>
      <p:sp>
        <p:nvSpPr>
          <p:cNvPr id="5" name="Subtitle 2"/>
          <p:cNvSpPr>
            <a:spLocks noGrp="1"/>
          </p:cNvSpPr>
          <p:nvPr>
            <p:ph type="subTitle" idx="1" hasCustomPrompt="1"/>
          </p:nvPr>
        </p:nvSpPr>
        <p:spPr>
          <a:xfrm>
            <a:off x="2046399" y="2531096"/>
            <a:ext cx="9144000" cy="1655762"/>
          </a:xfrm>
        </p:spPr>
        <p:txBody>
          <a:bodyPr>
            <a:normAutofit/>
          </a:bodyPr>
          <a:lstStyle>
            <a:lvl1pPr marL="0" indent="0">
              <a:buNone/>
              <a:defRPr sz="4000" b="1"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pPr algn="l"/>
            <a:r>
              <a:rPr lang="en-US" dirty="0">
                <a:solidFill>
                  <a:schemeClr val="bg1"/>
                </a:solidFill>
              </a:rPr>
              <a:t>“Quote goes here.”</a:t>
            </a:r>
          </a:p>
        </p:txBody>
      </p:sp>
    </p:spTree>
    <p:extLst>
      <p:ext uri="{BB962C8B-B14F-4D97-AF65-F5344CB8AC3E}">
        <p14:creationId xmlns:p14="http://schemas.microsoft.com/office/powerpoint/2010/main" val="2243946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3" name="Title 1"/>
          <p:cNvSpPr>
            <a:spLocks noGrp="1"/>
          </p:cNvSpPr>
          <p:nvPr>
            <p:ph type="title"/>
          </p:nvPr>
        </p:nvSpPr>
        <p:spPr>
          <a:xfrm>
            <a:off x="7060252" y="982464"/>
            <a:ext cx="4862405" cy="1794085"/>
          </a:xfrm>
        </p:spPr>
        <p:txBody>
          <a:bodyPr/>
          <a:lstStyle/>
          <a:p>
            <a:r>
              <a:rPr lang="en-US" dirty="0"/>
              <a:t>Headline Copy Goes Here</a:t>
            </a:r>
          </a:p>
        </p:txBody>
      </p:sp>
      <p:sp>
        <p:nvSpPr>
          <p:cNvPr id="4" name="Content Placeholder 2"/>
          <p:cNvSpPr>
            <a:spLocks noGrp="1"/>
          </p:cNvSpPr>
          <p:nvPr>
            <p:ph idx="1"/>
          </p:nvPr>
        </p:nvSpPr>
        <p:spPr>
          <a:xfrm>
            <a:off x="7060253" y="3052261"/>
            <a:ext cx="4862404" cy="1975926"/>
          </a:xfrm>
        </p:spPr>
        <p:txBody>
          <a:bodyPr/>
          <a:lstStyle/>
          <a:p>
            <a:r>
              <a:rPr lang="en-US" dirty="0"/>
              <a:t>Click to add text</a:t>
            </a:r>
          </a:p>
          <a:p>
            <a:r>
              <a:rPr lang="en-US" dirty="0"/>
              <a:t>Click to add text</a:t>
            </a:r>
          </a:p>
        </p:txBody>
      </p:sp>
      <p:sp>
        <p:nvSpPr>
          <p:cNvPr id="6" name="Picture Placeholder 2"/>
          <p:cNvSpPr>
            <a:spLocks noGrp="1"/>
          </p:cNvSpPr>
          <p:nvPr>
            <p:ph type="pic" idx="10"/>
          </p:nvPr>
        </p:nvSpPr>
        <p:spPr>
          <a:xfrm>
            <a:off x="0" y="3"/>
            <a:ext cx="6890995" cy="6857999"/>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8" name="TextBox 7"/>
          <p:cNvSpPr txBox="1"/>
          <p:nvPr userDrawn="1"/>
        </p:nvSpPr>
        <p:spPr>
          <a:xfrm>
            <a:off x="7478040" y="6407925"/>
            <a:ext cx="4489537" cy="369332"/>
          </a:xfrm>
          <a:prstGeom prst="rect">
            <a:avLst/>
          </a:prstGeom>
          <a:noFill/>
        </p:spPr>
        <p:txBody>
          <a:bodyPr wrap="square" rtlCol="0">
            <a:spAutoFit/>
          </a:bodyPr>
          <a:lstStyle/>
          <a:p>
            <a:pPr algn="r"/>
            <a:r>
              <a:rPr lang="en-US" sz="1800" b="1" i="0" dirty="0">
                <a:solidFill>
                  <a:srgbClr val="21314D"/>
                </a:solidFill>
                <a:latin typeface="Gotham" charset="0"/>
                <a:ea typeface="Gotham" charset="0"/>
                <a:cs typeface="Gotham" charset="0"/>
              </a:rPr>
              <a:t>MINES</a:t>
            </a:r>
            <a:r>
              <a:rPr lang="en-US" sz="1800" b="1" i="0" dirty="0">
                <a:solidFill>
                  <a:srgbClr val="D2492A"/>
                </a:solidFill>
                <a:latin typeface="Gotham" charset="0"/>
                <a:ea typeface="Gotham" charset="0"/>
                <a:cs typeface="Gotham" charset="0"/>
              </a:rPr>
              <a:t>.</a:t>
            </a:r>
            <a:r>
              <a:rPr lang="en-US" sz="1800" b="0" i="0" dirty="0">
                <a:solidFill>
                  <a:srgbClr val="92A2BD"/>
                </a:solidFill>
                <a:latin typeface="Gotham Book" charset="0"/>
                <a:ea typeface="Gotham Book" charset="0"/>
                <a:cs typeface="Gotham Book" charset="0"/>
              </a:rPr>
              <a:t>EDU</a:t>
            </a:r>
          </a:p>
        </p:txBody>
      </p:sp>
    </p:spTree>
    <p:extLst>
      <p:ext uri="{BB962C8B-B14F-4D97-AF65-F5344CB8AC3E}">
        <p14:creationId xmlns:p14="http://schemas.microsoft.com/office/powerpoint/2010/main" val="539565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solidFill>
                  <a:srgbClr val="21314D"/>
                </a:solidFill>
              </a:defRPr>
            </a:lvl1pPr>
          </a:lstStyle>
          <a:p>
            <a:r>
              <a:rPr lang="en-US" dirty="0"/>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dirty="0"/>
              <a:t>Click to edit Master text styles</a:t>
            </a:r>
          </a:p>
        </p:txBody>
      </p:sp>
      <p:sp>
        <p:nvSpPr>
          <p:cNvPr id="5" name="Date Placeholder 4"/>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7/13/2026</a:t>
            </a:fld>
            <a:endParaRPr lang="en-US"/>
          </a:p>
        </p:txBody>
      </p:sp>
      <p:sp>
        <p:nvSpPr>
          <p:cNvPr id="6" name="Footer Placeholder 5"/>
          <p:cNvSpPr>
            <a:spLocks noGrp="1"/>
          </p:cNvSpPr>
          <p:nvPr>
            <p:ph type="ftr" sz="quarter" idx="11"/>
          </p:nvPr>
        </p:nvSpPr>
        <p:spPr>
          <a:xfrm>
            <a:off x="4038600" y="6356352"/>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9" name="Rectangle 8"/>
          <p:cNvSpPr/>
          <p:nvPr userDrawn="1"/>
        </p:nvSpPr>
        <p:spPr>
          <a:xfrm>
            <a:off x="-9728" y="6265545"/>
            <a:ext cx="12201728" cy="592455"/>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1" name="TextBox 10">
            <a:extLst>
              <a:ext uri="{FF2B5EF4-FFF2-40B4-BE49-F238E27FC236}">
                <a16:creationId xmlns:a16="http://schemas.microsoft.com/office/drawing/2014/main" id="{8D816478-27A8-5948-917C-6E6357F4BB0B}"/>
              </a:ext>
            </a:extLst>
          </p:cNvPr>
          <p:cNvSpPr txBox="1"/>
          <p:nvPr userDrawn="1"/>
        </p:nvSpPr>
        <p:spPr>
          <a:xfrm>
            <a:off x="7478040" y="6398498"/>
            <a:ext cx="4489537" cy="369332"/>
          </a:xfrm>
          <a:prstGeom prst="rect">
            <a:avLst/>
          </a:prstGeom>
          <a:noFill/>
        </p:spPr>
        <p:txBody>
          <a:bodyPr wrap="square" rtlCol="0">
            <a:spAutoFit/>
          </a:bodyPr>
          <a:lstStyle/>
          <a:p>
            <a:pPr algn="r"/>
            <a:r>
              <a:rPr lang="en-US" sz="1800" b="1" i="0" dirty="0">
                <a:solidFill>
                  <a:schemeClr val="bg1"/>
                </a:solidFill>
                <a:latin typeface="Gotham" charset="0"/>
                <a:ea typeface="Gotham" charset="0"/>
                <a:cs typeface="Gotham" charset="0"/>
              </a:rPr>
              <a:t>MINES</a:t>
            </a:r>
            <a:r>
              <a:rPr lang="en-US" sz="1800" b="1" i="0" dirty="0">
                <a:solidFill>
                  <a:srgbClr val="D2492A"/>
                </a:solidFill>
                <a:latin typeface="Gotham" charset="0"/>
                <a:ea typeface="Gotham" charset="0"/>
                <a:cs typeface="Gotham" charset="0"/>
              </a:rPr>
              <a:t>.</a:t>
            </a:r>
            <a:r>
              <a:rPr lang="en-US" sz="1800" b="0" i="0" dirty="0">
                <a:solidFill>
                  <a:srgbClr val="92A2BD"/>
                </a:solidFill>
                <a:latin typeface="Gotham Book" charset="0"/>
                <a:ea typeface="Gotham Book" charset="0"/>
                <a:cs typeface="Gotham Book" charset="0"/>
              </a:rPr>
              <a:t>EDU</a:t>
            </a:r>
          </a:p>
        </p:txBody>
      </p:sp>
      <p:pic>
        <p:nvPicPr>
          <p:cNvPr id="14" name="Picture 13">
            <a:extLst>
              <a:ext uri="{FF2B5EF4-FFF2-40B4-BE49-F238E27FC236}">
                <a16:creationId xmlns:a16="http://schemas.microsoft.com/office/drawing/2014/main" id="{E530F95D-C0F7-B448-B59E-D27295E0C7A5}"/>
              </a:ext>
            </a:extLst>
          </p:cNvPr>
          <p:cNvPicPr/>
          <p:nvPr userDrawn="1"/>
        </p:nvPicPr>
        <p:blipFill>
          <a:blip r:embed="rId2"/>
          <a:stretch>
            <a:fillRect/>
          </a:stretch>
        </p:blipFill>
        <p:spPr bwMode="auto">
          <a:xfrm>
            <a:off x="381003" y="6381481"/>
            <a:ext cx="3200395" cy="364310"/>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5815011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userDrawn="1"/>
        </p:nvSpPr>
        <p:spPr>
          <a:xfrm>
            <a:off x="-10048" y="-10049"/>
            <a:ext cx="5183189" cy="6943412"/>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hasCustomPrompt="1"/>
          </p:nvPr>
        </p:nvSpPr>
        <p:spPr>
          <a:xfrm>
            <a:off x="450058" y="472281"/>
            <a:ext cx="3932237" cy="1600200"/>
          </a:xfrm>
        </p:spPr>
        <p:txBody>
          <a:bodyPr anchor="b">
            <a:normAutofit/>
          </a:bodyPr>
          <a:lstStyle>
            <a:lvl1pPr>
              <a:defRPr sz="4400">
                <a:solidFill>
                  <a:schemeClr val="bg1"/>
                </a:solidFill>
              </a:defRPr>
            </a:lvl1pPr>
          </a:lstStyle>
          <a:p>
            <a:r>
              <a:rPr lang="en-US" dirty="0"/>
              <a:t>Copy goes here</a:t>
            </a:r>
          </a:p>
        </p:txBody>
      </p:sp>
      <p:sp>
        <p:nvSpPr>
          <p:cNvPr id="3" name="Picture Placeholder 2"/>
          <p:cNvSpPr>
            <a:spLocks noGrp="1"/>
          </p:cNvSpPr>
          <p:nvPr>
            <p:ph type="pic" idx="1"/>
          </p:nvPr>
        </p:nvSpPr>
        <p:spPr>
          <a:xfrm>
            <a:off x="5183189" y="2"/>
            <a:ext cx="7008812" cy="6857999"/>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hasCustomPrompt="1"/>
          </p:nvPr>
        </p:nvSpPr>
        <p:spPr>
          <a:xfrm>
            <a:off x="450058" y="2072481"/>
            <a:ext cx="3932237" cy="3811588"/>
          </a:xfrm>
        </p:spPr>
        <p:txBody>
          <a:bodyPr>
            <a:normAutofit/>
          </a:bodyPr>
          <a:lstStyle>
            <a:lvl1pPr marL="457189" indent="-457189">
              <a:buFont typeface="Arial" charset="0"/>
              <a:buChar char="•"/>
              <a:defRPr sz="2800">
                <a:solidFill>
                  <a:schemeClr val="bg1"/>
                </a:solidFill>
              </a:defRPr>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dirty="0"/>
              <a:t>Supporting text goes here</a:t>
            </a:r>
          </a:p>
        </p:txBody>
      </p:sp>
      <p:sp>
        <p:nvSpPr>
          <p:cNvPr id="5" name="Date Placeholder 4"/>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7/13/2026</a:t>
            </a:fld>
            <a:endParaRPr lang="en-US"/>
          </a:p>
        </p:txBody>
      </p:sp>
      <p:sp>
        <p:nvSpPr>
          <p:cNvPr id="6" name="Footer Placeholder 5"/>
          <p:cNvSpPr>
            <a:spLocks noGrp="1"/>
          </p:cNvSpPr>
          <p:nvPr>
            <p:ph type="ftr" sz="quarter" idx="11"/>
          </p:nvPr>
        </p:nvSpPr>
        <p:spPr>
          <a:xfrm>
            <a:off x="4038600" y="6356352"/>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pic>
        <p:nvPicPr>
          <p:cNvPr id="12" name="Picture 11">
            <a:extLst>
              <a:ext uri="{FF2B5EF4-FFF2-40B4-BE49-F238E27FC236}">
                <a16:creationId xmlns:a16="http://schemas.microsoft.com/office/drawing/2014/main" id="{E01F5E0A-84A7-2F4C-A9C5-069A0CC392D2}"/>
              </a:ext>
            </a:extLst>
          </p:cNvPr>
          <p:cNvPicPr/>
          <p:nvPr userDrawn="1"/>
        </p:nvPicPr>
        <p:blipFill>
          <a:blip r:embed="rId2"/>
          <a:stretch>
            <a:fillRect/>
          </a:stretch>
        </p:blipFill>
        <p:spPr bwMode="auto">
          <a:xfrm>
            <a:off x="381003" y="6381481"/>
            <a:ext cx="3200395" cy="364310"/>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8851661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21314D"/>
                </a:solidFill>
              </a:defRPr>
            </a:lvl1p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7/13/2026</a:t>
            </a:fld>
            <a:endParaRPr lang="en-US"/>
          </a:p>
        </p:txBody>
      </p:sp>
      <p:sp>
        <p:nvSpPr>
          <p:cNvPr id="5" name="Footer Placeholder 4"/>
          <p:cNvSpPr>
            <a:spLocks noGrp="1"/>
          </p:cNvSpPr>
          <p:nvPr>
            <p:ph type="ftr" sz="quarter" idx="11"/>
          </p:nvPr>
        </p:nvSpPr>
        <p:spPr>
          <a:xfrm>
            <a:off x="4038600" y="6356352"/>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7" name="Rectangle 6"/>
          <p:cNvSpPr/>
          <p:nvPr userDrawn="1"/>
        </p:nvSpPr>
        <p:spPr>
          <a:xfrm>
            <a:off x="-10048" y="6265545"/>
            <a:ext cx="12202048" cy="601701"/>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2" name="TextBox 11">
            <a:extLst>
              <a:ext uri="{FF2B5EF4-FFF2-40B4-BE49-F238E27FC236}">
                <a16:creationId xmlns:a16="http://schemas.microsoft.com/office/drawing/2014/main" id="{6C529638-9519-5646-BC6C-4C995584BC00}"/>
              </a:ext>
            </a:extLst>
          </p:cNvPr>
          <p:cNvSpPr txBox="1"/>
          <p:nvPr userDrawn="1"/>
        </p:nvSpPr>
        <p:spPr>
          <a:xfrm>
            <a:off x="7478040" y="6398498"/>
            <a:ext cx="4489537" cy="369332"/>
          </a:xfrm>
          <a:prstGeom prst="rect">
            <a:avLst/>
          </a:prstGeom>
          <a:noFill/>
        </p:spPr>
        <p:txBody>
          <a:bodyPr wrap="square" rtlCol="0">
            <a:spAutoFit/>
          </a:bodyPr>
          <a:lstStyle/>
          <a:p>
            <a:pPr algn="r"/>
            <a:r>
              <a:rPr lang="en-US" sz="1800" b="1" i="0" dirty="0">
                <a:solidFill>
                  <a:schemeClr val="bg1"/>
                </a:solidFill>
                <a:latin typeface="Gotham" charset="0"/>
                <a:ea typeface="Gotham" charset="0"/>
                <a:cs typeface="Gotham" charset="0"/>
              </a:rPr>
              <a:t>MINES</a:t>
            </a:r>
            <a:r>
              <a:rPr lang="en-US" sz="1800" b="1" i="0" dirty="0">
                <a:solidFill>
                  <a:srgbClr val="D2492A"/>
                </a:solidFill>
                <a:latin typeface="Gotham" charset="0"/>
                <a:ea typeface="Gotham" charset="0"/>
                <a:cs typeface="Gotham" charset="0"/>
              </a:rPr>
              <a:t>.</a:t>
            </a:r>
            <a:r>
              <a:rPr lang="en-US" sz="1800" b="0" i="0" dirty="0">
                <a:solidFill>
                  <a:srgbClr val="92A2BD"/>
                </a:solidFill>
                <a:latin typeface="Gotham Book" charset="0"/>
                <a:ea typeface="Gotham Book" charset="0"/>
                <a:cs typeface="Gotham Book" charset="0"/>
              </a:rPr>
              <a:t>EDU</a:t>
            </a:r>
          </a:p>
        </p:txBody>
      </p:sp>
      <p:pic>
        <p:nvPicPr>
          <p:cNvPr id="13" name="Picture 12">
            <a:extLst>
              <a:ext uri="{FF2B5EF4-FFF2-40B4-BE49-F238E27FC236}">
                <a16:creationId xmlns:a16="http://schemas.microsoft.com/office/drawing/2014/main" id="{02467B4F-5A8F-3845-8B30-98B83A0003A1}"/>
              </a:ext>
            </a:extLst>
          </p:cNvPr>
          <p:cNvPicPr/>
          <p:nvPr userDrawn="1"/>
        </p:nvPicPr>
        <p:blipFill>
          <a:blip r:embed="rId2"/>
          <a:stretch>
            <a:fillRect/>
          </a:stretch>
        </p:blipFill>
        <p:spPr bwMode="auto">
          <a:xfrm>
            <a:off x="381003" y="6381481"/>
            <a:ext cx="3200395" cy="364310"/>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36763842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lvl1pPr>
              <a:defRPr>
                <a:solidFill>
                  <a:srgbClr val="21314D"/>
                </a:solidFill>
              </a:defRPr>
            </a:lvl1pPr>
          </a:lstStyle>
          <a:p>
            <a:r>
              <a:rPr lang="en-US" dirty="0"/>
              <a:t>Click to edit Master title style</a:t>
            </a:r>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7/13/2026</a:t>
            </a:fld>
            <a:endParaRPr lang="en-US"/>
          </a:p>
        </p:txBody>
      </p:sp>
      <p:sp>
        <p:nvSpPr>
          <p:cNvPr id="5" name="Footer Placeholder 4"/>
          <p:cNvSpPr>
            <a:spLocks noGrp="1"/>
          </p:cNvSpPr>
          <p:nvPr>
            <p:ph type="ftr" sz="quarter" idx="11"/>
          </p:nvPr>
        </p:nvSpPr>
        <p:spPr>
          <a:xfrm>
            <a:off x="4038600" y="6356352"/>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7" name="Rectangle 6"/>
          <p:cNvSpPr/>
          <p:nvPr userDrawn="1"/>
        </p:nvSpPr>
        <p:spPr>
          <a:xfrm>
            <a:off x="-10048" y="6265545"/>
            <a:ext cx="12202048" cy="601701"/>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2" name="TextBox 11">
            <a:extLst>
              <a:ext uri="{FF2B5EF4-FFF2-40B4-BE49-F238E27FC236}">
                <a16:creationId xmlns:a16="http://schemas.microsoft.com/office/drawing/2014/main" id="{1C06899B-D311-B446-8DBB-7D61E82846C1}"/>
              </a:ext>
            </a:extLst>
          </p:cNvPr>
          <p:cNvSpPr txBox="1"/>
          <p:nvPr userDrawn="1"/>
        </p:nvSpPr>
        <p:spPr>
          <a:xfrm>
            <a:off x="7478040" y="6398498"/>
            <a:ext cx="4489537" cy="369332"/>
          </a:xfrm>
          <a:prstGeom prst="rect">
            <a:avLst/>
          </a:prstGeom>
          <a:noFill/>
        </p:spPr>
        <p:txBody>
          <a:bodyPr wrap="square" rtlCol="0">
            <a:spAutoFit/>
          </a:bodyPr>
          <a:lstStyle/>
          <a:p>
            <a:pPr algn="r"/>
            <a:r>
              <a:rPr lang="en-US" sz="1800" b="1" i="0" dirty="0">
                <a:solidFill>
                  <a:schemeClr val="bg1"/>
                </a:solidFill>
                <a:latin typeface="Gotham" charset="0"/>
                <a:ea typeface="Gotham" charset="0"/>
                <a:cs typeface="Gotham" charset="0"/>
              </a:rPr>
              <a:t>MINES</a:t>
            </a:r>
            <a:r>
              <a:rPr lang="en-US" sz="1800" b="1" i="0" dirty="0">
                <a:solidFill>
                  <a:srgbClr val="D2492A"/>
                </a:solidFill>
                <a:latin typeface="Gotham" charset="0"/>
                <a:ea typeface="Gotham" charset="0"/>
                <a:cs typeface="Gotham" charset="0"/>
              </a:rPr>
              <a:t>.</a:t>
            </a:r>
            <a:r>
              <a:rPr lang="en-US" sz="1800" b="0" i="0" dirty="0">
                <a:solidFill>
                  <a:srgbClr val="92A2BD"/>
                </a:solidFill>
                <a:latin typeface="Gotham Book" charset="0"/>
                <a:ea typeface="Gotham Book" charset="0"/>
                <a:cs typeface="Gotham Book" charset="0"/>
              </a:rPr>
              <a:t>EDU</a:t>
            </a:r>
          </a:p>
        </p:txBody>
      </p:sp>
      <p:pic>
        <p:nvPicPr>
          <p:cNvPr id="13" name="Picture 12">
            <a:extLst>
              <a:ext uri="{FF2B5EF4-FFF2-40B4-BE49-F238E27FC236}">
                <a16:creationId xmlns:a16="http://schemas.microsoft.com/office/drawing/2014/main" id="{C4CB1FB3-2557-BB46-9386-C66D040E875F}"/>
              </a:ext>
            </a:extLst>
          </p:cNvPr>
          <p:cNvPicPr/>
          <p:nvPr userDrawn="1"/>
        </p:nvPicPr>
        <p:blipFill>
          <a:blip r:embed="rId2"/>
          <a:stretch>
            <a:fillRect/>
          </a:stretch>
        </p:blipFill>
        <p:spPr bwMode="auto">
          <a:xfrm>
            <a:off x="381003" y="6381481"/>
            <a:ext cx="3200395" cy="364310"/>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3814847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757347766"/>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0" r:id="rId3"/>
    <p:sldLayoutId id="2147483652" r:id="rId4"/>
    <p:sldLayoutId id="2147483653" r:id="rId5"/>
    <p:sldLayoutId id="2147483654" r:id="rId6"/>
    <p:sldLayoutId id="2147483655" r:id="rId7"/>
    <p:sldLayoutId id="2147483661" r:id="rId8"/>
    <p:sldLayoutId id="2147483660" r:id="rId9"/>
    <p:sldLayoutId id="2147483656" r:id="rId10"/>
    <p:sldLayoutId id="2147483657" r:id="rId11"/>
    <p:sldLayoutId id="2147483658" r:id="rId12"/>
    <p:sldLayoutId id="2147483659" r:id="rId13"/>
  </p:sldLayoutIdLst>
  <p:txStyles>
    <p:titleStyle>
      <a:lvl1pPr algn="l" defTabSz="914377" rtl="0" eaLnBrk="1" latinLnBrk="0" hangingPunct="1">
        <a:lnSpc>
          <a:spcPct val="90000"/>
        </a:lnSpc>
        <a:spcBef>
          <a:spcPct val="0"/>
        </a:spcBef>
        <a:buNone/>
        <a:defRPr sz="4400" b="1" i="0" kern="1200">
          <a:solidFill>
            <a:srgbClr val="21314D"/>
          </a:solidFill>
          <a:latin typeface="Arial" panose="020B0604020202020204" pitchFamily="34" charset="0"/>
          <a:ea typeface="Arial" panose="020B0604020202020204" pitchFamily="34" charset="0"/>
          <a:cs typeface="Arial" panose="020B0604020202020204" pitchFamily="34" charset="0"/>
        </a:defRPr>
      </a:lvl1pPr>
    </p:titleStyle>
    <p:bodyStyle>
      <a:lvl1pPr marL="228594" indent="-228594" algn="l" defTabSz="914377" rtl="0" eaLnBrk="1" latinLnBrk="0" hangingPunct="1">
        <a:lnSpc>
          <a:spcPct val="90000"/>
        </a:lnSpc>
        <a:spcBef>
          <a:spcPts val="1000"/>
        </a:spcBef>
        <a:buFont typeface="Arial"/>
        <a:buChar char="•"/>
        <a:defRPr sz="2800" b="0" i="0" kern="1200">
          <a:solidFill>
            <a:schemeClr val="tx1"/>
          </a:solidFill>
          <a:latin typeface="Arial" panose="020B0604020202020204" pitchFamily="34" charset="0"/>
          <a:ea typeface="Arial" panose="020B0604020202020204" pitchFamily="34" charset="0"/>
          <a:cs typeface="Arial" panose="020B0604020202020204" pitchFamily="34" charset="0"/>
        </a:defRPr>
      </a:lvl1pPr>
      <a:lvl2pPr marL="685783" indent="-228594" algn="l" defTabSz="914377" rtl="0" eaLnBrk="1" latinLnBrk="0" hangingPunct="1">
        <a:lnSpc>
          <a:spcPct val="90000"/>
        </a:lnSpc>
        <a:spcBef>
          <a:spcPts val="500"/>
        </a:spcBef>
        <a:buFont typeface="Arial"/>
        <a:buChar char="•"/>
        <a:defRPr sz="2400" b="0" i="0" kern="1200">
          <a:solidFill>
            <a:schemeClr val="tx1"/>
          </a:solidFill>
          <a:latin typeface="Arial" panose="020B0604020202020204" pitchFamily="34" charset="0"/>
          <a:ea typeface="Arial" panose="020B0604020202020204" pitchFamily="34" charset="0"/>
          <a:cs typeface="Arial" panose="020B0604020202020204" pitchFamily="34" charset="0"/>
        </a:defRPr>
      </a:lvl2pPr>
      <a:lvl3pPr marL="1142971" indent="-228594" algn="l" defTabSz="914377" rtl="0" eaLnBrk="1" latinLnBrk="0" hangingPunct="1">
        <a:lnSpc>
          <a:spcPct val="90000"/>
        </a:lnSpc>
        <a:spcBef>
          <a:spcPts val="500"/>
        </a:spcBef>
        <a:buFont typeface="Arial"/>
        <a:buChar char="•"/>
        <a:defRPr sz="2000" b="0" i="0" kern="1200">
          <a:solidFill>
            <a:schemeClr val="tx1"/>
          </a:solidFill>
          <a:latin typeface="Arial" panose="020B0604020202020204" pitchFamily="34" charset="0"/>
          <a:ea typeface="Arial" panose="020B0604020202020204" pitchFamily="34" charset="0"/>
          <a:cs typeface="Arial" panose="020B0604020202020204" pitchFamily="34" charset="0"/>
        </a:defRPr>
      </a:lvl3pPr>
      <a:lvl4pPr marL="1600160" indent="-228594" algn="l" defTabSz="914377" rtl="0" eaLnBrk="1" latinLnBrk="0" hangingPunct="1">
        <a:lnSpc>
          <a:spcPct val="90000"/>
        </a:lnSpc>
        <a:spcBef>
          <a:spcPts val="500"/>
        </a:spcBef>
        <a:buFont typeface="Arial"/>
        <a:buChar char="•"/>
        <a:defRPr sz="1800" b="0" i="0" kern="1200">
          <a:solidFill>
            <a:schemeClr val="tx1"/>
          </a:solidFill>
          <a:latin typeface="Arial" panose="020B0604020202020204" pitchFamily="34" charset="0"/>
          <a:ea typeface="Arial" panose="020B0604020202020204" pitchFamily="34" charset="0"/>
          <a:cs typeface="Arial" panose="020B0604020202020204" pitchFamily="34" charset="0"/>
        </a:defRPr>
      </a:lvl4pPr>
      <a:lvl5pPr marL="2057349" indent="-228594" algn="l" defTabSz="914377" rtl="0" eaLnBrk="1" latinLnBrk="0" hangingPunct="1">
        <a:lnSpc>
          <a:spcPct val="90000"/>
        </a:lnSpc>
        <a:spcBef>
          <a:spcPts val="500"/>
        </a:spcBef>
        <a:buFont typeface="Arial"/>
        <a:buChar char="•"/>
        <a:defRPr sz="1800" b="0" i="0" kern="1200">
          <a:solidFill>
            <a:schemeClr val="tx1"/>
          </a:solidFill>
          <a:latin typeface="Arial" panose="020B0604020202020204" pitchFamily="34" charset="0"/>
          <a:ea typeface="Arial" panose="020B0604020202020204" pitchFamily="34" charset="0"/>
          <a:cs typeface="Arial" panose="020B0604020202020204" pitchFamily="34" charset="0"/>
        </a:defRPr>
      </a:lvl5pPr>
      <a:lvl6pPr marL="2514537" indent="-228594" algn="l" defTabSz="914377"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95371" y="1661652"/>
            <a:ext cx="10803672" cy="1300983"/>
          </a:xfrm>
        </p:spPr>
        <p:txBody>
          <a:bodyPr>
            <a:normAutofit/>
          </a:bodyPr>
          <a:lstStyle/>
          <a:p>
            <a:r>
              <a:rPr lang="en-US" dirty="0"/>
              <a:t>EENG 385</a:t>
            </a:r>
            <a:br>
              <a:rPr lang="en-US" dirty="0"/>
            </a:br>
            <a:r>
              <a:rPr lang="en-US" dirty="0"/>
              <a:t>555 Timer</a:t>
            </a:r>
          </a:p>
        </p:txBody>
      </p:sp>
      <p:sp>
        <p:nvSpPr>
          <p:cNvPr id="7" name="Subtitle 6">
            <a:extLst>
              <a:ext uri="{FF2B5EF4-FFF2-40B4-BE49-F238E27FC236}">
                <a16:creationId xmlns:a16="http://schemas.microsoft.com/office/drawing/2014/main" id="{1A3EBE28-00C4-D8F3-CE0E-881CB759F202}"/>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0188887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Lab Objectives</a:t>
            </a:r>
          </a:p>
        </p:txBody>
      </p:sp>
      <p:sp>
        <p:nvSpPr>
          <p:cNvPr id="3" name="Content Placeholder 2"/>
          <p:cNvSpPr>
            <a:spLocks noGrp="1"/>
          </p:cNvSpPr>
          <p:nvPr>
            <p:ph idx="1"/>
          </p:nvPr>
        </p:nvSpPr>
        <p:spPr>
          <a:xfrm>
            <a:off x="838200" y="1825625"/>
            <a:ext cx="10515600" cy="3591201"/>
          </a:xfrm>
        </p:spPr>
        <p:txBody>
          <a:bodyPr>
            <a:normAutofit/>
          </a:bodyPr>
          <a:lstStyle/>
          <a:p>
            <a:pPr marL="0" indent="0">
              <a:buNone/>
            </a:pPr>
            <a:r>
              <a:rPr lang="en-US" dirty="0"/>
              <a:t>Analyze how the 555 timer in the BJT curve tracer operates using theory, simulation and experimentation.  You will compare these three methods and develop your intuition about how well theory and simulation should be trusted.</a:t>
            </a:r>
          </a:p>
        </p:txBody>
      </p:sp>
    </p:spTree>
    <p:extLst>
      <p:ext uri="{BB962C8B-B14F-4D97-AF65-F5344CB8AC3E}">
        <p14:creationId xmlns:p14="http://schemas.microsoft.com/office/powerpoint/2010/main" val="805564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Analyze</a:t>
            </a:r>
          </a:p>
        </p:txBody>
      </p:sp>
      <p:sp>
        <p:nvSpPr>
          <p:cNvPr id="3" name="Content Placeholder 2"/>
          <p:cNvSpPr>
            <a:spLocks noGrp="1"/>
          </p:cNvSpPr>
          <p:nvPr>
            <p:ph idx="1"/>
          </p:nvPr>
        </p:nvSpPr>
        <p:spPr>
          <a:xfrm>
            <a:off x="838200" y="1825625"/>
            <a:ext cx="10515600" cy="3397304"/>
          </a:xfrm>
        </p:spPr>
        <p:txBody>
          <a:bodyPr>
            <a:normAutofit/>
          </a:bodyPr>
          <a:lstStyle/>
          <a:p>
            <a:r>
              <a:rPr lang="en-US" dirty="0"/>
              <a:t>Produces oscillating waveform</a:t>
            </a:r>
          </a:p>
          <a:p>
            <a:r>
              <a:rPr lang="en-US" dirty="0"/>
              <a:t>Low duty cycle</a:t>
            </a:r>
          </a:p>
          <a:p>
            <a:r>
              <a:rPr lang="en-US" dirty="0"/>
              <a:t>Will be used later in curve tracer</a:t>
            </a:r>
          </a:p>
          <a:p>
            <a:pPr marL="0" indent="0">
              <a:buNone/>
            </a:pPr>
            <a:endParaRPr lang="en-US" dirty="0"/>
          </a:p>
        </p:txBody>
      </p:sp>
      <p:pic>
        <p:nvPicPr>
          <p:cNvPr id="5" name="Picture 4">
            <a:extLst>
              <a:ext uri="{FF2B5EF4-FFF2-40B4-BE49-F238E27FC236}">
                <a16:creationId xmlns:a16="http://schemas.microsoft.com/office/drawing/2014/main" id="{776889C3-B62F-1E2F-99AE-F74C08658C42}"/>
              </a:ext>
            </a:extLst>
          </p:cNvPr>
          <p:cNvPicPr>
            <a:picLocks noChangeAspect="1"/>
          </p:cNvPicPr>
          <p:nvPr/>
        </p:nvPicPr>
        <p:blipFill>
          <a:blip r:embed="rId3"/>
          <a:stretch>
            <a:fillRect/>
          </a:stretch>
        </p:blipFill>
        <p:spPr>
          <a:xfrm>
            <a:off x="6611061" y="1635071"/>
            <a:ext cx="4535160" cy="4133146"/>
          </a:xfrm>
          <a:prstGeom prst="rect">
            <a:avLst/>
          </a:prstGeom>
        </p:spPr>
      </p:pic>
    </p:spTree>
    <p:extLst>
      <p:ext uri="{BB962C8B-B14F-4D97-AF65-F5344CB8AC3E}">
        <p14:creationId xmlns:p14="http://schemas.microsoft.com/office/powerpoint/2010/main" val="25297792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Analyze</a:t>
            </a:r>
          </a:p>
        </p:txBody>
      </p:sp>
      <p:sp>
        <p:nvSpPr>
          <p:cNvPr id="3" name="Content Placeholder 2"/>
          <p:cNvSpPr>
            <a:spLocks noGrp="1"/>
          </p:cNvSpPr>
          <p:nvPr>
            <p:ph idx="1"/>
          </p:nvPr>
        </p:nvSpPr>
        <p:spPr>
          <a:xfrm>
            <a:off x="838200" y="1825625"/>
            <a:ext cx="7788965" cy="3883412"/>
          </a:xfrm>
        </p:spPr>
        <p:txBody>
          <a:bodyPr>
            <a:normAutofit/>
          </a:bodyPr>
          <a:lstStyle/>
          <a:p>
            <a:r>
              <a:rPr lang="en-US" dirty="0"/>
              <a:t>DIS pin is either open circuit or GND</a:t>
            </a:r>
          </a:p>
          <a:p>
            <a:pPr lvl="1"/>
            <a:r>
              <a:rPr lang="en-US" dirty="0"/>
              <a:t>Open circuit = charging 10nF capacitor</a:t>
            </a:r>
          </a:p>
          <a:p>
            <a:pPr lvl="1"/>
            <a:r>
              <a:rPr lang="en-US" dirty="0"/>
              <a:t>GND = discharge 10nF capacitor</a:t>
            </a:r>
          </a:p>
          <a:p>
            <a:r>
              <a:rPr lang="en-US" dirty="0"/>
              <a:t>Charging Mode</a:t>
            </a:r>
          </a:p>
          <a:p>
            <a:pPr lvl="1"/>
            <a:r>
              <a:rPr lang="en-US" dirty="0"/>
              <a:t>1k and 0.1uF in series</a:t>
            </a:r>
          </a:p>
          <a:p>
            <a:pPr lvl="1"/>
            <a:r>
              <a:rPr lang="en-US" dirty="0"/>
              <a:t>Determine time to charge cap from 3V to 6V</a:t>
            </a:r>
          </a:p>
          <a:p>
            <a:r>
              <a:rPr lang="en-US" dirty="0"/>
              <a:t>Discharging Mode</a:t>
            </a:r>
          </a:p>
          <a:p>
            <a:pPr lvl="1"/>
            <a:r>
              <a:rPr lang="en-US" dirty="0"/>
              <a:t>10k and 0.1uF in series</a:t>
            </a:r>
          </a:p>
          <a:p>
            <a:pPr lvl="1"/>
            <a:r>
              <a:rPr lang="en-US" dirty="0"/>
              <a:t>Determine time to discharge cap from 6V to 3V</a:t>
            </a:r>
          </a:p>
        </p:txBody>
      </p:sp>
      <p:pic>
        <p:nvPicPr>
          <p:cNvPr id="4" name="Picture 3">
            <a:extLst>
              <a:ext uri="{FF2B5EF4-FFF2-40B4-BE49-F238E27FC236}">
                <a16:creationId xmlns:a16="http://schemas.microsoft.com/office/drawing/2014/main" id="{4B56942A-2772-D5FC-AEB9-FF549BAD0894}"/>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8522576" y="1623860"/>
            <a:ext cx="2831224" cy="4085177"/>
          </a:xfrm>
          <a:prstGeom prst="rect">
            <a:avLst/>
          </a:prstGeom>
          <a:noFill/>
          <a:ln>
            <a:noFill/>
          </a:ln>
        </p:spPr>
      </p:pic>
    </p:spTree>
    <p:extLst>
      <p:ext uri="{BB962C8B-B14F-4D97-AF65-F5344CB8AC3E}">
        <p14:creationId xmlns:p14="http://schemas.microsoft.com/office/powerpoint/2010/main" val="36442476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DDCD746-EBD5-93D9-74CA-31C72FA98C6B}"/>
              </a:ext>
            </a:extLst>
          </p:cNvPr>
          <p:cNvPicPr>
            <a:picLocks noChangeAspect="1"/>
          </p:cNvPicPr>
          <p:nvPr/>
        </p:nvPicPr>
        <p:blipFill>
          <a:blip r:embed="rId3"/>
          <a:stretch>
            <a:fillRect/>
          </a:stretch>
        </p:blipFill>
        <p:spPr>
          <a:xfrm>
            <a:off x="5436432" y="1810327"/>
            <a:ext cx="5917367" cy="4194920"/>
          </a:xfrm>
          <a:prstGeom prst="rect">
            <a:avLst/>
          </a:prstGeom>
        </p:spPr>
      </p:pic>
      <p:sp>
        <p:nvSpPr>
          <p:cNvPr id="2" name="Title 1"/>
          <p:cNvSpPr>
            <a:spLocks noGrp="1"/>
          </p:cNvSpPr>
          <p:nvPr>
            <p:ph type="title"/>
          </p:nvPr>
        </p:nvSpPr>
        <p:spPr/>
        <p:txBody>
          <a:bodyPr/>
          <a:lstStyle/>
          <a:p>
            <a:r>
              <a:rPr lang="en-US" dirty="0"/>
              <a:t>Simulate</a:t>
            </a:r>
          </a:p>
        </p:txBody>
      </p:sp>
      <p:graphicFrame>
        <p:nvGraphicFramePr>
          <p:cNvPr id="9" name="Table 8">
            <a:extLst>
              <a:ext uri="{FF2B5EF4-FFF2-40B4-BE49-F238E27FC236}">
                <a16:creationId xmlns:a16="http://schemas.microsoft.com/office/drawing/2014/main" id="{CB4160AA-3063-4286-41C5-CB8B08450EBD}"/>
              </a:ext>
            </a:extLst>
          </p:cNvPr>
          <p:cNvGraphicFramePr>
            <a:graphicFrameLocks noGrp="1"/>
          </p:cNvGraphicFramePr>
          <p:nvPr>
            <p:extLst>
              <p:ext uri="{D42A27DB-BD31-4B8C-83A1-F6EECF244321}">
                <p14:modId xmlns:p14="http://schemas.microsoft.com/office/powerpoint/2010/main" val="2819465400"/>
              </p:ext>
            </p:extLst>
          </p:nvPr>
        </p:nvGraphicFramePr>
        <p:xfrm>
          <a:off x="905264" y="2103436"/>
          <a:ext cx="4531168" cy="1325564"/>
        </p:xfrm>
        <a:graphic>
          <a:graphicData uri="http://schemas.openxmlformats.org/drawingml/2006/table">
            <a:tbl>
              <a:tblPr firstRow="1" firstCol="1" bandRow="1">
                <a:tableStyleId>{5C22544A-7EE6-4342-B048-85BDC9FD1C3A}</a:tableStyleId>
              </a:tblPr>
              <a:tblGrid>
                <a:gridCol w="2185214">
                  <a:extLst>
                    <a:ext uri="{9D8B030D-6E8A-4147-A177-3AD203B41FA5}">
                      <a16:colId xmlns:a16="http://schemas.microsoft.com/office/drawing/2014/main" val="3978578098"/>
                    </a:ext>
                  </a:extLst>
                </a:gridCol>
                <a:gridCol w="2345954">
                  <a:extLst>
                    <a:ext uri="{9D8B030D-6E8A-4147-A177-3AD203B41FA5}">
                      <a16:colId xmlns:a16="http://schemas.microsoft.com/office/drawing/2014/main" val="4270415041"/>
                    </a:ext>
                  </a:extLst>
                </a:gridCol>
              </a:tblGrid>
              <a:tr h="331391">
                <a:tc>
                  <a:txBody>
                    <a:bodyPr/>
                    <a:lstStyle/>
                    <a:p>
                      <a:pPr marL="0" marR="0" indent="0" algn="l">
                        <a:lnSpc>
                          <a:spcPct val="103000"/>
                        </a:lnSpc>
                        <a:spcAft>
                          <a:spcPts val="680"/>
                        </a:spcAft>
                        <a:buNone/>
                      </a:pPr>
                      <a:r>
                        <a:rPr lang="en-US" sz="1100" dirty="0">
                          <a:effectLst/>
                        </a:rPr>
                        <a:t>Net Names</a:t>
                      </a:r>
                      <a:endParaRPr lang="en-US" sz="1100" dirty="0">
                        <a:solidFill>
                          <a:srgbClr val="000000"/>
                        </a:solidFill>
                        <a:effectLst/>
                        <a:latin typeface="Cambria" panose="02040503050406030204" pitchFamily="18" charset="0"/>
                        <a:ea typeface="Cambria" panose="02040503050406030204" pitchFamily="18" charset="0"/>
                        <a:cs typeface="Cambria" panose="02040503050406030204" pitchFamily="18" charset="0"/>
                      </a:endParaRPr>
                    </a:p>
                  </a:txBody>
                  <a:tcPr marL="68580" marR="68580" marT="0" marB="0"/>
                </a:tc>
                <a:tc>
                  <a:txBody>
                    <a:bodyPr/>
                    <a:lstStyle/>
                    <a:p>
                      <a:pPr marL="0" marR="0" indent="0" algn="l">
                        <a:lnSpc>
                          <a:spcPct val="103000"/>
                        </a:lnSpc>
                        <a:spcAft>
                          <a:spcPts val="680"/>
                        </a:spcAft>
                        <a:buNone/>
                      </a:pPr>
                      <a:r>
                        <a:rPr lang="en-US" sz="1100" b="0" dirty="0">
                          <a:solidFill>
                            <a:schemeClr val="tx1"/>
                          </a:solidFill>
                          <a:effectLst/>
                        </a:rPr>
                        <a:t>trig, out, </a:t>
                      </a:r>
                      <a:r>
                        <a:rPr lang="en-US" sz="1100" b="0" dirty="0" err="1">
                          <a:solidFill>
                            <a:schemeClr val="tx1"/>
                          </a:solidFill>
                          <a:effectLst/>
                        </a:rPr>
                        <a:t>Vcc</a:t>
                      </a:r>
                      <a:endParaRPr lang="en-US" sz="1100" b="0" dirty="0">
                        <a:solidFill>
                          <a:schemeClr val="tx1"/>
                        </a:solidFill>
                        <a:effectLst/>
                        <a:latin typeface="Cambria" panose="02040503050406030204" pitchFamily="18" charset="0"/>
                        <a:ea typeface="Cambria" panose="02040503050406030204" pitchFamily="18" charset="0"/>
                        <a:cs typeface="Cambria" panose="02040503050406030204" pitchFamily="18" charset="0"/>
                      </a:endParaRPr>
                    </a:p>
                  </a:txBody>
                  <a:tcPr marL="68580" marR="68580" marT="0" marB="0">
                    <a:solidFill>
                      <a:schemeClr val="tx2">
                        <a:lumMod val="20000"/>
                        <a:lumOff val="80000"/>
                      </a:schemeClr>
                    </a:solidFill>
                  </a:tcPr>
                </a:tc>
                <a:extLst>
                  <a:ext uri="{0D108BD9-81ED-4DB2-BD59-A6C34878D82A}">
                    <a16:rowId xmlns:a16="http://schemas.microsoft.com/office/drawing/2014/main" val="1610324878"/>
                  </a:ext>
                </a:extLst>
              </a:tr>
              <a:tr h="331391">
                <a:tc>
                  <a:txBody>
                    <a:bodyPr/>
                    <a:lstStyle/>
                    <a:p>
                      <a:pPr marL="0" marR="0" indent="0" algn="l">
                        <a:lnSpc>
                          <a:spcPct val="103000"/>
                        </a:lnSpc>
                        <a:spcAft>
                          <a:spcPts val="680"/>
                        </a:spcAft>
                        <a:buNone/>
                      </a:pPr>
                      <a:r>
                        <a:rPr lang="en-US" sz="1100">
                          <a:effectLst/>
                        </a:rPr>
                        <a:t>Component</a:t>
                      </a:r>
                      <a:endParaRPr lang="en-US" sz="1100">
                        <a:solidFill>
                          <a:srgbClr val="000000"/>
                        </a:solidFill>
                        <a:effectLst/>
                        <a:latin typeface="Cambria" panose="02040503050406030204" pitchFamily="18" charset="0"/>
                        <a:ea typeface="Cambria" panose="02040503050406030204" pitchFamily="18" charset="0"/>
                        <a:cs typeface="Cambria" panose="02040503050406030204" pitchFamily="18" charset="0"/>
                      </a:endParaRPr>
                    </a:p>
                  </a:txBody>
                  <a:tcPr marL="68580" marR="68580" marT="0" marB="0"/>
                </a:tc>
                <a:tc>
                  <a:txBody>
                    <a:bodyPr/>
                    <a:lstStyle/>
                    <a:p>
                      <a:pPr marL="0" marR="0" indent="0" algn="l">
                        <a:lnSpc>
                          <a:spcPct val="103000"/>
                        </a:lnSpc>
                        <a:spcAft>
                          <a:spcPts val="680"/>
                        </a:spcAft>
                        <a:buNone/>
                      </a:pPr>
                      <a:r>
                        <a:rPr lang="en-US" sz="1100" dirty="0">
                          <a:effectLst/>
                        </a:rPr>
                        <a:t>NE555</a:t>
                      </a:r>
                      <a:endParaRPr lang="en-US" sz="1100" dirty="0">
                        <a:solidFill>
                          <a:srgbClr val="000000"/>
                        </a:solidFill>
                        <a:effectLst/>
                        <a:latin typeface="Cambria" panose="02040503050406030204" pitchFamily="18" charset="0"/>
                        <a:ea typeface="Cambria" panose="02040503050406030204" pitchFamily="18" charset="0"/>
                        <a:cs typeface="Cambria" panose="02040503050406030204" pitchFamily="18" charset="0"/>
                      </a:endParaRPr>
                    </a:p>
                  </a:txBody>
                  <a:tcPr marL="68580" marR="68580" marT="0" marB="0"/>
                </a:tc>
                <a:extLst>
                  <a:ext uri="{0D108BD9-81ED-4DB2-BD59-A6C34878D82A}">
                    <a16:rowId xmlns:a16="http://schemas.microsoft.com/office/drawing/2014/main" val="301536738"/>
                  </a:ext>
                </a:extLst>
              </a:tr>
              <a:tr h="331391">
                <a:tc>
                  <a:txBody>
                    <a:bodyPr/>
                    <a:lstStyle/>
                    <a:p>
                      <a:pPr marL="0" marR="0" indent="0" algn="l">
                        <a:lnSpc>
                          <a:spcPct val="103000"/>
                        </a:lnSpc>
                        <a:spcAft>
                          <a:spcPts val="680"/>
                        </a:spcAft>
                        <a:buNone/>
                      </a:pPr>
                      <a:r>
                        <a:rPr lang="en-US" sz="1100">
                          <a:effectLst/>
                        </a:rPr>
                        <a:t>Waveform Nets</a:t>
                      </a:r>
                      <a:endParaRPr lang="en-US" sz="1100">
                        <a:solidFill>
                          <a:srgbClr val="000000"/>
                        </a:solidFill>
                        <a:effectLst/>
                        <a:latin typeface="Cambria" panose="02040503050406030204" pitchFamily="18" charset="0"/>
                        <a:ea typeface="Cambria" panose="02040503050406030204" pitchFamily="18" charset="0"/>
                        <a:cs typeface="Cambria" panose="02040503050406030204" pitchFamily="18" charset="0"/>
                      </a:endParaRPr>
                    </a:p>
                  </a:txBody>
                  <a:tcPr marL="68580" marR="68580" marT="0" marB="0"/>
                </a:tc>
                <a:tc>
                  <a:txBody>
                    <a:bodyPr/>
                    <a:lstStyle/>
                    <a:p>
                      <a:pPr marL="0" marR="0" indent="0" algn="l">
                        <a:lnSpc>
                          <a:spcPct val="103000"/>
                        </a:lnSpc>
                        <a:spcAft>
                          <a:spcPts val="680"/>
                        </a:spcAft>
                        <a:buNone/>
                      </a:pPr>
                      <a:r>
                        <a:rPr lang="en-US" sz="1100" dirty="0">
                          <a:effectLst/>
                        </a:rPr>
                        <a:t>trig, out</a:t>
                      </a:r>
                      <a:endParaRPr lang="en-US" sz="1100" dirty="0">
                        <a:solidFill>
                          <a:srgbClr val="000000"/>
                        </a:solidFill>
                        <a:effectLst/>
                        <a:latin typeface="Cambria" panose="02040503050406030204" pitchFamily="18" charset="0"/>
                        <a:ea typeface="Cambria" panose="02040503050406030204" pitchFamily="18" charset="0"/>
                        <a:cs typeface="Cambria" panose="02040503050406030204" pitchFamily="18" charset="0"/>
                      </a:endParaRPr>
                    </a:p>
                  </a:txBody>
                  <a:tcPr marL="68580" marR="68580" marT="0" marB="0"/>
                </a:tc>
                <a:extLst>
                  <a:ext uri="{0D108BD9-81ED-4DB2-BD59-A6C34878D82A}">
                    <a16:rowId xmlns:a16="http://schemas.microsoft.com/office/drawing/2014/main" val="252331398"/>
                  </a:ext>
                </a:extLst>
              </a:tr>
              <a:tr h="331391">
                <a:tc>
                  <a:txBody>
                    <a:bodyPr/>
                    <a:lstStyle/>
                    <a:p>
                      <a:pPr marL="0" marR="0" indent="0" algn="l">
                        <a:lnSpc>
                          <a:spcPct val="103000"/>
                        </a:lnSpc>
                        <a:spcAft>
                          <a:spcPts val="680"/>
                        </a:spcAft>
                        <a:buNone/>
                      </a:pPr>
                      <a:r>
                        <a:rPr lang="en-US" sz="1100">
                          <a:effectLst/>
                        </a:rPr>
                        <a:t>Configure Analysis</a:t>
                      </a:r>
                      <a:endParaRPr lang="en-US" sz="1100">
                        <a:solidFill>
                          <a:srgbClr val="000000"/>
                        </a:solidFill>
                        <a:effectLst/>
                        <a:latin typeface="Cambria" panose="02040503050406030204" pitchFamily="18" charset="0"/>
                        <a:ea typeface="Cambria" panose="02040503050406030204" pitchFamily="18" charset="0"/>
                        <a:cs typeface="Cambria" panose="02040503050406030204" pitchFamily="18" charset="0"/>
                      </a:endParaRPr>
                    </a:p>
                  </a:txBody>
                  <a:tcPr marL="68580" marR="68580" marT="0" marB="0"/>
                </a:tc>
                <a:tc>
                  <a:txBody>
                    <a:bodyPr/>
                    <a:lstStyle/>
                    <a:p>
                      <a:pPr marL="0" marR="0" indent="0" algn="l">
                        <a:lnSpc>
                          <a:spcPct val="103000"/>
                        </a:lnSpc>
                        <a:spcAft>
                          <a:spcPts val="680"/>
                        </a:spcAft>
                        <a:buNone/>
                      </a:pPr>
                      <a:r>
                        <a:rPr lang="en-US" sz="1100" dirty="0">
                          <a:effectLst/>
                        </a:rPr>
                        <a:t>Transient, Stop Time 5ms</a:t>
                      </a:r>
                      <a:endParaRPr lang="en-US" sz="1100" dirty="0">
                        <a:solidFill>
                          <a:srgbClr val="000000"/>
                        </a:solidFill>
                        <a:effectLst/>
                        <a:latin typeface="Cambria" panose="02040503050406030204" pitchFamily="18" charset="0"/>
                        <a:ea typeface="Cambria" panose="02040503050406030204" pitchFamily="18" charset="0"/>
                        <a:cs typeface="Cambria" panose="02040503050406030204" pitchFamily="18" charset="0"/>
                      </a:endParaRPr>
                    </a:p>
                  </a:txBody>
                  <a:tcPr marL="68580" marR="68580" marT="0" marB="0"/>
                </a:tc>
                <a:extLst>
                  <a:ext uri="{0D108BD9-81ED-4DB2-BD59-A6C34878D82A}">
                    <a16:rowId xmlns:a16="http://schemas.microsoft.com/office/drawing/2014/main" val="3011991160"/>
                  </a:ext>
                </a:extLst>
              </a:tr>
            </a:tbl>
          </a:graphicData>
        </a:graphic>
      </p:graphicFrame>
    </p:spTree>
    <p:extLst>
      <p:ext uri="{BB962C8B-B14F-4D97-AF65-F5344CB8AC3E}">
        <p14:creationId xmlns:p14="http://schemas.microsoft.com/office/powerpoint/2010/main" val="15286115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Assemble</a:t>
            </a:r>
          </a:p>
        </p:txBody>
      </p:sp>
      <p:sp>
        <p:nvSpPr>
          <p:cNvPr id="3" name="Content Placeholder 2"/>
          <p:cNvSpPr>
            <a:spLocks noGrp="1"/>
          </p:cNvSpPr>
          <p:nvPr>
            <p:ph idx="1"/>
          </p:nvPr>
        </p:nvSpPr>
        <p:spPr/>
        <p:txBody>
          <a:bodyPr>
            <a:normAutofit/>
          </a:bodyPr>
          <a:lstStyle/>
          <a:p>
            <a:r>
              <a:rPr lang="en-US" dirty="0"/>
              <a:t>Assemble 555 and PWR</a:t>
            </a:r>
          </a:p>
          <a:p>
            <a:r>
              <a:rPr lang="en-US" dirty="0"/>
              <a:t>Nothing else!</a:t>
            </a:r>
          </a:p>
          <a:p>
            <a:r>
              <a:rPr lang="en-US" dirty="0"/>
              <a:t>Use eye protection</a:t>
            </a:r>
          </a:p>
          <a:p>
            <a:r>
              <a:rPr lang="en-US" dirty="0"/>
              <a:t>Solder in Brown 303</a:t>
            </a:r>
          </a:p>
          <a:p>
            <a:r>
              <a:rPr lang="en-US" dirty="0"/>
              <a:t>Apply power using </a:t>
            </a:r>
            <a:r>
              <a:rPr lang="en-US" dirty="0" err="1"/>
              <a:t>Vcc</a:t>
            </a:r>
            <a:r>
              <a:rPr lang="en-US" dirty="0"/>
              <a:t> </a:t>
            </a:r>
            <a:r>
              <a:rPr lang="en-US" dirty="0" err="1"/>
              <a:t>Gnd</a:t>
            </a:r>
            <a:endParaRPr lang="en-US" dirty="0"/>
          </a:p>
          <a:p>
            <a:r>
              <a:rPr lang="en-US" dirty="0"/>
              <a:t>Reverse voltage protection</a:t>
            </a:r>
          </a:p>
          <a:p>
            <a:endParaRPr lang="en-US" sz="2800" dirty="0"/>
          </a:p>
        </p:txBody>
      </p:sp>
      <p:pic>
        <p:nvPicPr>
          <p:cNvPr id="6" name="Picture 5">
            <a:extLst>
              <a:ext uri="{FF2B5EF4-FFF2-40B4-BE49-F238E27FC236}">
                <a16:creationId xmlns:a16="http://schemas.microsoft.com/office/drawing/2014/main" id="{9E801E0F-E5FB-F848-1750-3AAEF4DA9F3D}"/>
              </a:ext>
            </a:extLst>
          </p:cNvPr>
          <p:cNvPicPr>
            <a:picLocks noChangeAspect="1"/>
          </p:cNvPicPr>
          <p:nvPr/>
        </p:nvPicPr>
        <p:blipFill>
          <a:blip r:embed="rId3"/>
          <a:stretch>
            <a:fillRect/>
          </a:stretch>
        </p:blipFill>
        <p:spPr>
          <a:xfrm>
            <a:off x="6096000" y="1332186"/>
            <a:ext cx="5652836" cy="4193628"/>
          </a:xfrm>
          <a:prstGeom prst="rect">
            <a:avLst/>
          </a:prstGeom>
        </p:spPr>
      </p:pic>
    </p:spTree>
    <p:extLst>
      <p:ext uri="{BB962C8B-B14F-4D97-AF65-F5344CB8AC3E}">
        <p14:creationId xmlns:p14="http://schemas.microsoft.com/office/powerpoint/2010/main" val="14688940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Test your circuit</a:t>
            </a:r>
          </a:p>
        </p:txBody>
      </p:sp>
      <p:sp>
        <p:nvSpPr>
          <p:cNvPr id="3" name="Content Placeholder 2"/>
          <p:cNvSpPr>
            <a:spLocks noGrp="1"/>
          </p:cNvSpPr>
          <p:nvPr>
            <p:ph idx="1"/>
          </p:nvPr>
        </p:nvSpPr>
        <p:spPr/>
        <p:txBody>
          <a:bodyPr>
            <a:normAutofit/>
          </a:bodyPr>
          <a:lstStyle/>
          <a:p>
            <a:r>
              <a:rPr lang="en-US" dirty="0"/>
              <a:t>Probe output   555 loop    yellow trace</a:t>
            </a:r>
          </a:p>
          <a:p>
            <a:r>
              <a:rPr lang="en-US" dirty="0"/>
              <a:t>Probe TRI        </a:t>
            </a:r>
            <a:r>
              <a:rPr lang="en-US" dirty="0" err="1"/>
              <a:t>TRI</a:t>
            </a:r>
            <a:r>
              <a:rPr lang="en-US" dirty="0"/>
              <a:t> pad    blue trace</a:t>
            </a:r>
          </a:p>
          <a:p>
            <a:endParaRPr lang="en-US" dirty="0"/>
          </a:p>
          <a:p>
            <a:endParaRPr lang="en-US" sz="2800" dirty="0"/>
          </a:p>
        </p:txBody>
      </p:sp>
      <p:pic>
        <p:nvPicPr>
          <p:cNvPr id="6" name="Picture 5">
            <a:extLst>
              <a:ext uri="{FF2B5EF4-FFF2-40B4-BE49-F238E27FC236}">
                <a16:creationId xmlns:a16="http://schemas.microsoft.com/office/drawing/2014/main" id="{229F7D2F-AD32-4EBC-894C-1961E9EECE6F}"/>
              </a:ext>
            </a:extLst>
          </p:cNvPr>
          <p:cNvPicPr>
            <a:picLocks noChangeAspect="1"/>
          </p:cNvPicPr>
          <p:nvPr/>
        </p:nvPicPr>
        <p:blipFill>
          <a:blip r:embed="rId3"/>
          <a:stretch>
            <a:fillRect/>
          </a:stretch>
        </p:blipFill>
        <p:spPr>
          <a:xfrm>
            <a:off x="7455321" y="1932168"/>
            <a:ext cx="4462515" cy="3625794"/>
          </a:xfrm>
          <a:prstGeom prst="rect">
            <a:avLst/>
          </a:prstGeom>
        </p:spPr>
      </p:pic>
      <p:pic>
        <p:nvPicPr>
          <p:cNvPr id="10" name="Picture 9">
            <a:extLst>
              <a:ext uri="{FF2B5EF4-FFF2-40B4-BE49-F238E27FC236}">
                <a16:creationId xmlns:a16="http://schemas.microsoft.com/office/drawing/2014/main" id="{53537912-2946-B4AA-7D59-DBA693F01136}"/>
              </a:ext>
            </a:extLst>
          </p:cNvPr>
          <p:cNvPicPr>
            <a:picLocks noChangeAspect="1"/>
          </p:cNvPicPr>
          <p:nvPr/>
        </p:nvPicPr>
        <p:blipFill>
          <a:blip r:embed="rId4"/>
          <a:stretch>
            <a:fillRect/>
          </a:stretch>
        </p:blipFill>
        <p:spPr>
          <a:xfrm>
            <a:off x="1477995" y="3164281"/>
            <a:ext cx="1358680" cy="2883107"/>
          </a:xfrm>
          <a:prstGeom prst="rect">
            <a:avLst/>
          </a:prstGeom>
        </p:spPr>
      </p:pic>
    </p:spTree>
    <p:extLst>
      <p:ext uri="{BB962C8B-B14F-4D97-AF65-F5344CB8AC3E}">
        <p14:creationId xmlns:p14="http://schemas.microsoft.com/office/powerpoint/2010/main" val="4210357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Turn In</a:t>
            </a:r>
          </a:p>
        </p:txBody>
      </p:sp>
      <p:sp>
        <p:nvSpPr>
          <p:cNvPr id="3" name="Content Placeholder 2"/>
          <p:cNvSpPr>
            <a:spLocks noGrp="1"/>
          </p:cNvSpPr>
          <p:nvPr>
            <p:ph idx="1"/>
          </p:nvPr>
        </p:nvSpPr>
        <p:spPr/>
        <p:txBody>
          <a:bodyPr>
            <a:normAutofit/>
          </a:bodyPr>
          <a:lstStyle/>
          <a:p>
            <a:r>
              <a:rPr lang="en-US" dirty="0"/>
              <a:t>Answer listed questions</a:t>
            </a:r>
          </a:p>
          <a:p>
            <a:r>
              <a:rPr lang="en-US" dirty="0"/>
              <a:t>Save solutions as PDF</a:t>
            </a:r>
          </a:p>
          <a:p>
            <a:r>
              <a:rPr lang="en-US" dirty="0"/>
              <a:t>Due before start of lab next week</a:t>
            </a:r>
          </a:p>
          <a:p>
            <a:r>
              <a:rPr lang="en-US" dirty="0"/>
              <a:t>Every student builds their own board</a:t>
            </a:r>
          </a:p>
          <a:p>
            <a:r>
              <a:rPr lang="en-US" dirty="0"/>
              <a:t>Everyone brings their board to class</a:t>
            </a:r>
          </a:p>
          <a:p>
            <a:pPr lvl="1"/>
            <a:r>
              <a:rPr lang="en-US" dirty="0"/>
              <a:t>Sign your board with </a:t>
            </a:r>
            <a:r>
              <a:rPr lang="en-US"/>
              <a:t>your name!</a:t>
            </a:r>
          </a:p>
          <a:p>
            <a:pPr lvl="1"/>
            <a:endParaRPr lang="en-US" dirty="0"/>
          </a:p>
        </p:txBody>
      </p:sp>
    </p:spTree>
    <p:extLst>
      <p:ext uri="{BB962C8B-B14F-4D97-AF65-F5344CB8AC3E}">
        <p14:creationId xmlns:p14="http://schemas.microsoft.com/office/powerpoint/2010/main" val="20568406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3357</TotalTime>
  <Words>255</Words>
  <Application>Microsoft Office PowerPoint</Application>
  <PresentationFormat>Widescreen</PresentationFormat>
  <Paragraphs>54</Paragraphs>
  <Slides>8</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Arial</vt:lpstr>
      <vt:lpstr>Calibri</vt:lpstr>
      <vt:lpstr>Cambria</vt:lpstr>
      <vt:lpstr>Gotham</vt:lpstr>
      <vt:lpstr>Gotham Book</vt:lpstr>
      <vt:lpstr>Office Theme</vt:lpstr>
      <vt:lpstr>EENG 385 555 Timer</vt:lpstr>
      <vt:lpstr>Lab Objectives</vt:lpstr>
      <vt:lpstr>Analyze</vt:lpstr>
      <vt:lpstr>Analyze</vt:lpstr>
      <vt:lpstr>Simulate</vt:lpstr>
      <vt:lpstr>Assemble</vt:lpstr>
      <vt:lpstr>Test your circuit</vt:lpstr>
      <vt:lpstr>Turn In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Microsoft Office User</dc:creator>
  <cp:keywords/>
  <dc:description/>
  <cp:lastModifiedBy>Christopher Coulston</cp:lastModifiedBy>
  <cp:revision>107</cp:revision>
  <dcterms:created xsi:type="dcterms:W3CDTF">2017-08-01T15:06:47Z</dcterms:created>
  <dcterms:modified xsi:type="dcterms:W3CDTF">2026-07-13T22:17:11Z</dcterms:modified>
  <cp:category/>
</cp:coreProperties>
</file>