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2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62" r:id="rId2"/>
    <p:sldId id="538" r:id="rId3"/>
    <p:sldId id="557" r:id="rId4"/>
    <p:sldId id="627" r:id="rId5"/>
    <p:sldId id="622" r:id="rId6"/>
    <p:sldId id="626" r:id="rId7"/>
    <p:sldId id="624" r:id="rId8"/>
    <p:sldId id="628" r:id="rId9"/>
    <p:sldId id="629" r:id="rId10"/>
    <p:sldId id="630" r:id="rId11"/>
    <p:sldId id="62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14D"/>
    <a:srgbClr val="263F6A"/>
    <a:srgbClr val="8B8D8E"/>
    <a:srgbClr val="CED5DD"/>
    <a:srgbClr val="B2B4B3"/>
    <a:srgbClr val="DD5F36"/>
    <a:srgbClr val="D2492A"/>
    <a:srgbClr val="92A2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75177" autoAdjust="0"/>
  </p:normalViewPr>
  <p:slideViewPr>
    <p:cSldViewPr snapToGrid="0" snapToObjects="1">
      <p:cViewPr varScale="1">
        <p:scale>
          <a:sx n="88" d="100"/>
          <a:sy n="88" d="100"/>
        </p:scale>
        <p:origin x="17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68" d="100"/>
          <a:sy n="168" d="100"/>
        </p:scale>
        <p:origin x="3688" y="2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DD5C9C-88A3-CA43-B162-DCC4E1E4BE7D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5FE5E8-0999-F94A-9937-3F8545B104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91032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5E4000-89B6-4F22-834E-B172C4AA57D1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0C4D68-66B1-48D6-AAFD-4ABFAB720F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920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Usually the &lt;title of the lab&gt; is what will be called the “System” through the rest of this document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C4D68-66B1-48D6-AAFD-4ABFAB720F6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311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45CC39-578B-4552-A24A-45E58858BC64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&lt;System&gt; with the name of the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C4D68-66B1-48D6-AAFD-4ABFAB720F6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1477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Replace &lt;System&gt; with the name of the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C4D68-66B1-48D6-AAFD-4ABFAB720F6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1477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&lt;System&gt; with the name of the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C4D68-66B1-48D6-AAFD-4ABFAB720F6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0517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&lt;System&gt; with the name of the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C4D68-66B1-48D6-AAFD-4ABFAB720F6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7422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&lt;System&gt; with the name of the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C4D68-66B1-48D6-AAFD-4ABFAB720F6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5515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C4D68-66B1-48D6-AAFD-4ABFAB720F6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380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F1710-A4F4-AF04-397B-80B7800B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73CF0F-D220-90D5-A8CD-734A188B76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183F8F-958A-6C78-E4FD-2D0FDEA270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C1768B-AE48-4E72-4470-78121B58C7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C4D68-66B1-48D6-AAFD-4ABFAB720F6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6345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C4D68-66B1-48D6-AAFD-4ABFAB720F6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5809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2" cstate="screen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35085" y="170978"/>
            <a:ext cx="10356915" cy="5825765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DF55106-BA85-A046-A450-43480962F8F7}"/>
              </a:ext>
            </a:extLst>
          </p:cNvPr>
          <p:cNvSpPr/>
          <p:nvPr userDrawn="1"/>
        </p:nvSpPr>
        <p:spPr>
          <a:xfrm>
            <a:off x="-34047" y="0"/>
            <a:ext cx="12260094" cy="6265544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 userDrawn="1"/>
        </p:nvCxnSpPr>
        <p:spPr>
          <a:xfrm>
            <a:off x="520878" y="3287006"/>
            <a:ext cx="911199" cy="0"/>
          </a:xfrm>
          <a:prstGeom prst="line">
            <a:avLst/>
          </a:prstGeom>
          <a:ln w="28575">
            <a:solidFill>
              <a:srgbClr val="D249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08E7ABF0-DEE6-F34C-98A7-7FC5808DF58A}"/>
              </a:ext>
            </a:extLst>
          </p:cNvPr>
          <p:cNvPicPr/>
          <p:nvPr userDrawn="1"/>
        </p:nvPicPr>
        <p:blipFill>
          <a:blip r:embed="rId3"/>
          <a:stretch>
            <a:fillRect/>
          </a:stretch>
        </p:blipFill>
        <p:spPr bwMode="auto">
          <a:xfrm>
            <a:off x="381000" y="6373243"/>
            <a:ext cx="3200400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78B3FD82-CB41-C84B-B706-06F09C4B7CF1}"/>
              </a:ext>
            </a:extLst>
          </p:cNvPr>
          <p:cNvSpPr txBox="1"/>
          <p:nvPr userDrawn="1"/>
        </p:nvSpPr>
        <p:spPr>
          <a:xfrm>
            <a:off x="7478040" y="6407925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rgbClr val="21314D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  <p:sp>
        <p:nvSpPr>
          <p:cNvPr id="13" name="Subtitle 2"/>
          <p:cNvSpPr>
            <a:spLocks noGrp="1"/>
          </p:cNvSpPr>
          <p:nvPr>
            <p:ph type="subTitle" idx="1"/>
          </p:nvPr>
        </p:nvSpPr>
        <p:spPr>
          <a:xfrm>
            <a:off x="395371" y="3737295"/>
            <a:ext cx="9144000" cy="1655762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l"/>
            <a:r>
              <a:rPr lang="en-US" dirty="0">
                <a:solidFill>
                  <a:schemeClr val="bg1"/>
                </a:solidFill>
              </a:rPr>
              <a:t>Subhead, name or date goes here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3429AB2-51CA-D34A-933D-348196C30A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35085" y="170976"/>
            <a:ext cx="10356915" cy="5825765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ctrTitle"/>
          </p:nvPr>
        </p:nvSpPr>
        <p:spPr>
          <a:xfrm>
            <a:off x="395371" y="2243579"/>
            <a:ext cx="10803672" cy="719056"/>
          </a:xfrm>
        </p:spPr>
        <p:txBody>
          <a:bodyPr>
            <a:normAutofit/>
          </a:bodyPr>
          <a:lstStyle>
            <a:lvl1pPr>
              <a:defRPr b="1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l"/>
            <a:r>
              <a:rPr lang="en-US" sz="5400" dirty="0">
                <a:solidFill>
                  <a:schemeClr val="bg1"/>
                </a:solidFill>
              </a:rPr>
              <a:t>Presentation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608327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-9728" y="-9729"/>
            <a:ext cx="12201728" cy="6265545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4400" b="1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Section header goes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 b="0" i="0">
                <a:solidFill>
                  <a:srgbClr val="92A2BD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subhead goes here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C2BC71D-0003-024E-9F29-71C949747F4A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0" y="6373243"/>
            <a:ext cx="3200400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715021-AF61-AF4F-9B48-1343FD8CB059}"/>
              </a:ext>
            </a:extLst>
          </p:cNvPr>
          <p:cNvSpPr txBox="1"/>
          <p:nvPr userDrawn="1"/>
        </p:nvSpPr>
        <p:spPr>
          <a:xfrm>
            <a:off x="7478040" y="6407925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rgbClr val="21314D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</p:spTree>
    <p:extLst>
      <p:ext uri="{BB962C8B-B14F-4D97-AF65-F5344CB8AC3E}">
        <p14:creationId xmlns:p14="http://schemas.microsoft.com/office/powerpoint/2010/main" val="1593687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21314D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-9728" y="6265545"/>
            <a:ext cx="12201728" cy="601701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 userDrawn="1"/>
        </p:nvSpPr>
        <p:spPr>
          <a:xfrm>
            <a:off x="7478040" y="6398498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chemeClr val="bg1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3C7278D-9F84-1645-9C4A-4B5FD9D68954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3" y="6381481"/>
            <a:ext cx="3200395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136334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21314D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-9728" y="6265545"/>
            <a:ext cx="12201728" cy="592455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729617-3EE6-934F-B272-92B6163ABCA3}"/>
              </a:ext>
            </a:extLst>
          </p:cNvPr>
          <p:cNvSpPr txBox="1"/>
          <p:nvPr userDrawn="1"/>
        </p:nvSpPr>
        <p:spPr>
          <a:xfrm>
            <a:off x="7478040" y="6398498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chemeClr val="bg1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A977242-14B3-B24E-8B0C-44E4362EFCBD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3" y="6381481"/>
            <a:ext cx="3200395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691851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>
            <a:lvl1pPr>
              <a:defRPr>
                <a:solidFill>
                  <a:srgbClr val="21314D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-9728" y="6265545"/>
            <a:ext cx="12201728" cy="592455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053E08-80AB-B043-979E-87B7A1E7EB21}"/>
              </a:ext>
            </a:extLst>
          </p:cNvPr>
          <p:cNvSpPr txBox="1"/>
          <p:nvPr userDrawn="1"/>
        </p:nvSpPr>
        <p:spPr>
          <a:xfrm>
            <a:off x="7478040" y="6398498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chemeClr val="bg1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2B57081-B141-9B4E-9482-F401745054EE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3" y="6381481"/>
            <a:ext cx="3200395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11879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21314D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-9728" y="6265545"/>
            <a:ext cx="12201728" cy="592455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A0EA07-1225-FE4C-917E-74A024F5E428}"/>
              </a:ext>
            </a:extLst>
          </p:cNvPr>
          <p:cNvSpPr txBox="1"/>
          <p:nvPr userDrawn="1"/>
        </p:nvSpPr>
        <p:spPr>
          <a:xfrm>
            <a:off x="7478040" y="6398498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chemeClr val="bg1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3F1F743-16CE-3043-9E24-77715B0645DA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3" y="6381481"/>
            <a:ext cx="3200395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3115906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2"/>
          <p:cNvSpPr txBox="1">
            <a:spLocks/>
          </p:cNvSpPr>
          <p:nvPr userDrawn="1"/>
        </p:nvSpPr>
        <p:spPr>
          <a:xfrm>
            <a:off x="838202" y="5746528"/>
            <a:ext cx="13016751" cy="7793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>
                <a:solidFill>
                  <a:srgbClr val="21314D"/>
                </a:solidFill>
                <a:latin typeface="Gotham Medium" charset="0"/>
                <a:ea typeface="Gotham Medium" charset="0"/>
                <a:cs typeface="Gotham Medium" charset="0"/>
              </a:defRPr>
            </a:lvl1pPr>
          </a:lstStyle>
          <a:p>
            <a:r>
              <a:rPr lang="en-US" sz="4400" b="1" i="0" dirty="0">
                <a:latin typeface="Arial" panose="020B0604020202020204" pitchFamily="34" charset="0"/>
                <a:cs typeface="Arial" panose="020B0604020202020204" pitchFamily="34" charset="0"/>
              </a:rPr>
              <a:t>Headline Copy Goes Here</a:t>
            </a:r>
          </a:p>
        </p:txBody>
      </p:sp>
      <p:sp>
        <p:nvSpPr>
          <p:cNvPr id="10" name="Picture Placeholder 2"/>
          <p:cNvSpPr>
            <a:spLocks noGrp="1"/>
          </p:cNvSpPr>
          <p:nvPr>
            <p:ph type="pic" idx="1"/>
          </p:nvPr>
        </p:nvSpPr>
        <p:spPr>
          <a:xfrm>
            <a:off x="0" y="1"/>
            <a:ext cx="12192000" cy="557703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09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-10048" y="-10048"/>
            <a:ext cx="12202048" cy="6868048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 cstate="screen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35085" y="552941"/>
            <a:ext cx="10356915" cy="5825765"/>
          </a:xfrm>
          <a:prstGeom prst="rect">
            <a:avLst/>
          </a:prstGeom>
        </p:spPr>
      </p:pic>
      <p:sp>
        <p:nvSpPr>
          <p:cNvPr id="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046399" y="2531096"/>
            <a:ext cx="9144000" cy="1655762"/>
          </a:xfrm>
        </p:spPr>
        <p:txBody>
          <a:bodyPr>
            <a:normAutofit/>
          </a:bodyPr>
          <a:lstStyle>
            <a:lvl1pPr marL="0" indent="0">
              <a:buNone/>
              <a:defRPr sz="4000" b="1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l"/>
            <a:r>
              <a:rPr lang="en-US" dirty="0">
                <a:solidFill>
                  <a:schemeClr val="bg1"/>
                </a:solidFill>
              </a:rPr>
              <a:t>“Quote goes here.”</a:t>
            </a:r>
          </a:p>
        </p:txBody>
      </p:sp>
    </p:spTree>
    <p:extLst>
      <p:ext uri="{BB962C8B-B14F-4D97-AF65-F5344CB8AC3E}">
        <p14:creationId xmlns:p14="http://schemas.microsoft.com/office/powerpoint/2010/main" val="224394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7060252" y="982464"/>
            <a:ext cx="4862405" cy="1794085"/>
          </a:xfrm>
        </p:spPr>
        <p:txBody>
          <a:bodyPr/>
          <a:lstStyle/>
          <a:p>
            <a:r>
              <a:rPr lang="en-US" dirty="0"/>
              <a:t>Headline Copy Goes Here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7060253" y="3052261"/>
            <a:ext cx="4862404" cy="1975926"/>
          </a:xfrm>
        </p:spPr>
        <p:txBody>
          <a:bodyPr/>
          <a:lstStyle/>
          <a:p>
            <a:r>
              <a:rPr lang="en-US" dirty="0"/>
              <a:t>Click to add text</a:t>
            </a:r>
          </a:p>
          <a:p>
            <a:r>
              <a:rPr lang="en-US" dirty="0"/>
              <a:t>Click to add text</a:t>
            </a:r>
          </a:p>
        </p:txBody>
      </p:sp>
      <p:sp>
        <p:nvSpPr>
          <p:cNvPr id="6" name="Picture Placeholder 2"/>
          <p:cNvSpPr>
            <a:spLocks noGrp="1"/>
          </p:cNvSpPr>
          <p:nvPr>
            <p:ph type="pic" idx="10"/>
          </p:nvPr>
        </p:nvSpPr>
        <p:spPr>
          <a:xfrm>
            <a:off x="0" y="3"/>
            <a:ext cx="6890995" cy="685799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7478040" y="6407925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rgbClr val="21314D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</p:spTree>
    <p:extLst>
      <p:ext uri="{BB962C8B-B14F-4D97-AF65-F5344CB8AC3E}">
        <p14:creationId xmlns:p14="http://schemas.microsoft.com/office/powerpoint/2010/main" val="539565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rgbClr val="21314D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-9728" y="6265545"/>
            <a:ext cx="12201728" cy="592455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816478-27A8-5948-917C-6E6357F4BB0B}"/>
              </a:ext>
            </a:extLst>
          </p:cNvPr>
          <p:cNvSpPr txBox="1"/>
          <p:nvPr userDrawn="1"/>
        </p:nvSpPr>
        <p:spPr>
          <a:xfrm>
            <a:off x="7478040" y="6398498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chemeClr val="bg1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530F95D-C0F7-B448-B59E-D27295E0C7A5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3" y="6381481"/>
            <a:ext cx="3200395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581501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-10048" y="-10049"/>
            <a:ext cx="5183189" cy="6943412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0058" y="472281"/>
            <a:ext cx="3932237" cy="1600200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Copy goes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9" y="2"/>
            <a:ext cx="7008812" cy="685799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50058" y="2072481"/>
            <a:ext cx="3932237" cy="3811588"/>
          </a:xfrm>
        </p:spPr>
        <p:txBody>
          <a:bodyPr>
            <a:normAutofit/>
          </a:bodyPr>
          <a:lstStyle>
            <a:lvl1pPr marL="457189" indent="-457189">
              <a:buFont typeface="Arial" charset="0"/>
              <a:buChar char="•"/>
              <a:defRPr sz="2800">
                <a:solidFill>
                  <a:schemeClr val="bg1"/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Supporting text goes here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01F5E0A-84A7-2F4C-A9C5-069A0CC392D2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3" y="6381481"/>
            <a:ext cx="3200395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8851661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21314D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-10048" y="6265545"/>
            <a:ext cx="12202048" cy="601701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529638-9519-5646-BC6C-4C995584BC00}"/>
              </a:ext>
            </a:extLst>
          </p:cNvPr>
          <p:cNvSpPr txBox="1"/>
          <p:nvPr userDrawn="1"/>
        </p:nvSpPr>
        <p:spPr>
          <a:xfrm>
            <a:off x="7478040" y="6398498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chemeClr val="bg1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2467B4F-5A8F-3845-8B30-98B83A0003A1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3" y="6381481"/>
            <a:ext cx="3200395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3676384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>
            <a:lvl1pPr>
              <a:defRPr>
                <a:solidFill>
                  <a:srgbClr val="21314D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-10048" y="6265545"/>
            <a:ext cx="12202048" cy="601701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6899B-D311-B446-8DBB-7D61E82846C1}"/>
              </a:ext>
            </a:extLst>
          </p:cNvPr>
          <p:cNvSpPr txBox="1"/>
          <p:nvPr userDrawn="1"/>
        </p:nvSpPr>
        <p:spPr>
          <a:xfrm>
            <a:off x="7478040" y="6398498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chemeClr val="bg1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4CB1FB3-2557-BB46-9386-C66D040E875F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3" y="6381481"/>
            <a:ext cx="3200395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38148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57347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61" r:id="rId8"/>
    <p:sldLayoutId id="2147483660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rgbClr val="21314D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b="0" i="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b="0" i="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5371" y="1661652"/>
            <a:ext cx="10803672" cy="1300983"/>
          </a:xfrm>
        </p:spPr>
        <p:txBody>
          <a:bodyPr>
            <a:normAutofit fontScale="90000"/>
          </a:bodyPr>
          <a:lstStyle/>
          <a:p>
            <a:r>
              <a:rPr lang="en-US" dirty="0"/>
              <a:t>EENG 385</a:t>
            </a:r>
            <a:br>
              <a:rPr lang="en-US" dirty="0"/>
            </a:br>
            <a:r>
              <a:rPr lang="en-US" dirty="0"/>
              <a:t>Full Bridge Rectifier with Buck Converter</a:t>
            </a:r>
          </a:p>
        </p:txBody>
      </p:sp>
    </p:spTree>
    <p:extLst>
      <p:ext uri="{BB962C8B-B14F-4D97-AF65-F5344CB8AC3E}">
        <p14:creationId xmlns:p14="http://schemas.microsoft.com/office/powerpoint/2010/main" val="20188887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5912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Study the theory, simulation and implementation of a full-bridge rectifier and a switch mode DC-to-DC converter.</a:t>
            </a:r>
          </a:p>
          <a:p>
            <a:pPr marL="0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63269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Conversion PCB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97304"/>
          </a:xfrm>
        </p:spPr>
        <p:txBody>
          <a:bodyPr>
            <a:normAutofit/>
          </a:bodyPr>
          <a:lstStyle/>
          <a:p>
            <a:r>
              <a:rPr lang="en-US" dirty="0"/>
              <a:t>Bridge Rectifier – Converts 17VAC into 17VDC</a:t>
            </a:r>
          </a:p>
          <a:p>
            <a:r>
              <a:rPr lang="en-US" dirty="0"/>
              <a:t>Buck Converter – Steps 17VDC down using PWM duty cycle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2E87C4-D06A-0CAF-C0AB-AFA544501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56" y="2778078"/>
            <a:ext cx="7618506" cy="339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779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Bridge Rectifier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97304"/>
          </a:xfrm>
        </p:spPr>
        <p:txBody>
          <a:bodyPr>
            <a:normAutofit/>
          </a:bodyPr>
          <a:lstStyle/>
          <a:p>
            <a:r>
              <a:rPr lang="en-US" dirty="0"/>
              <a:t>AC input </a:t>
            </a:r>
            <a:r>
              <a:rPr lang="en-US" b="1" dirty="0"/>
              <a:t>Vac+/Vac-</a:t>
            </a:r>
            <a:r>
              <a:rPr lang="en-US" dirty="0"/>
              <a:t>		DC output </a:t>
            </a:r>
            <a:r>
              <a:rPr lang="en-US" b="1" dirty="0" err="1"/>
              <a:t>Vrec</a:t>
            </a:r>
            <a:r>
              <a:rPr lang="en-US" b="1" dirty="0"/>
              <a:t>+/GND</a:t>
            </a:r>
          </a:p>
          <a:p>
            <a:r>
              <a:rPr lang="en-US" dirty="0"/>
              <a:t>Diodes “correct” negative voltages, making them positive</a:t>
            </a:r>
          </a:p>
          <a:p>
            <a:r>
              <a:rPr lang="en-US" dirty="0"/>
              <a:t>Capacitor stores charges for when AC voltage dips low</a:t>
            </a:r>
          </a:p>
          <a:p>
            <a:r>
              <a:rPr lang="en-US" dirty="0"/>
              <a:t>Adjustable load S1</a:t>
            </a:r>
          </a:p>
          <a:p>
            <a:r>
              <a:rPr lang="en-US" dirty="0"/>
              <a:t>Probe points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8F36FF-0B1D-54C7-9C9A-7250F870F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4382" y="3429000"/>
            <a:ext cx="6209646" cy="2533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567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Bridge Rectifier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9730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Input: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Output:</a:t>
            </a:r>
          </a:p>
          <a:p>
            <a:pPr marL="0" indent="0">
              <a:buNone/>
            </a:pPr>
            <a:r>
              <a:rPr lang="en-US" dirty="0"/>
              <a:t>Small resistor +</a:t>
            </a:r>
          </a:p>
          <a:p>
            <a:pPr marL="0" indent="0">
              <a:buNone/>
            </a:pPr>
            <a:r>
              <a:rPr lang="en-US" dirty="0"/>
              <a:t>Smaller capacitor = </a:t>
            </a:r>
          </a:p>
          <a:p>
            <a:pPr marL="0" indent="0">
              <a:buNone/>
            </a:pPr>
            <a:r>
              <a:rPr lang="en-US" dirty="0"/>
              <a:t>Larger ripple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EB42C9-CB6E-3088-BF3E-5206F478E3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0672" y="1690690"/>
            <a:ext cx="7283813" cy="16366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F3AAAB-288A-B761-BD90-10572C870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7306" y="3524277"/>
            <a:ext cx="4885796" cy="2425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745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Mains Step-down transformer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973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KS21239L4 Transformer</a:t>
            </a:r>
          </a:p>
          <a:p>
            <a:r>
              <a:rPr lang="en-US" dirty="0"/>
              <a:t>Input 	120VAC 3-prong plug</a:t>
            </a:r>
          </a:p>
          <a:p>
            <a:r>
              <a:rPr lang="en-US" dirty="0"/>
              <a:t>Output 	4 screw-terminals</a:t>
            </a:r>
          </a:p>
          <a:p>
            <a:r>
              <a:rPr lang="en-US" dirty="0"/>
              <a:t>Voltage measured RMS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8709E5-A7AE-F1AC-CEA5-A6D35B34DF1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658" y="4093813"/>
            <a:ext cx="2612578" cy="20435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703623-B2F6-B1C1-CB0D-0C8AAE8FA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7742" y="1825626"/>
            <a:ext cx="4842600" cy="3984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56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Bridge Rectifier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97304"/>
          </a:xfrm>
        </p:spPr>
        <p:txBody>
          <a:bodyPr>
            <a:normAutofit/>
          </a:bodyPr>
          <a:lstStyle/>
          <a:p>
            <a:r>
              <a:rPr lang="en-US" dirty="0"/>
              <a:t>Implementation</a:t>
            </a:r>
          </a:p>
          <a:p>
            <a:pPr lvl="1"/>
            <a:r>
              <a:rPr lang="en-US" dirty="0"/>
              <a:t>VAC from transformer</a:t>
            </a:r>
          </a:p>
          <a:p>
            <a:pPr lvl="1"/>
            <a:r>
              <a:rPr lang="en-US" dirty="0"/>
              <a:t>Oscilloscope to </a:t>
            </a:r>
            <a:r>
              <a:rPr lang="en-US" dirty="0" err="1"/>
              <a:t>Vrec</a:t>
            </a:r>
            <a:r>
              <a:rPr lang="en-US" dirty="0"/>
              <a:t>+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7C266D-71BC-FF9B-7DDE-579232E5D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8690" y="1590891"/>
            <a:ext cx="5713476" cy="43019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5CBFFA3-BE0D-AFAC-5E02-D4C3D59CD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269835" y="3200400"/>
            <a:ext cx="3382246" cy="2692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208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37E60-BCDC-F742-6C48-F63FFA749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Buck Converter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05F190-39F0-9C35-58AF-96F8CE5B06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0915" y="3917357"/>
            <a:ext cx="4043415" cy="216000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219CED6-5810-FDFA-F90D-FE4892E16C5B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5573233" cy="23666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594" indent="-228594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b="0" i="0" kern="12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V_REC+ from Bridge Rectifier</a:t>
            </a:r>
          </a:p>
          <a:p>
            <a:r>
              <a:rPr lang="en-US" dirty="0"/>
              <a:t>PWM duty cycle</a:t>
            </a:r>
          </a:p>
          <a:p>
            <a:r>
              <a:rPr lang="en-US" dirty="0"/>
              <a:t>V_BUCK is step down output</a:t>
            </a:r>
          </a:p>
        </p:txBody>
      </p: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27A765C5-F098-DDEC-0C44-2DDF5E62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7683" y="3917357"/>
            <a:ext cx="4043414" cy="2160000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A4CA9FD-0683-5B6B-938C-E54DB7C792EB}"/>
              </a:ext>
            </a:extLst>
          </p:cNvPr>
          <p:cNvSpPr txBox="1">
            <a:spLocks/>
          </p:cNvSpPr>
          <p:nvPr/>
        </p:nvSpPr>
        <p:spPr>
          <a:xfrm>
            <a:off x="6618767" y="1825992"/>
            <a:ext cx="5573233" cy="23666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594" indent="-228594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b="0" i="0" kern="12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MOSFET Q2/Q3 are switches</a:t>
            </a:r>
          </a:p>
          <a:p>
            <a:r>
              <a:rPr lang="en-US" dirty="0"/>
              <a:t>Q2 Enables PWM to switch Q3</a:t>
            </a:r>
          </a:p>
          <a:p>
            <a:r>
              <a:rPr lang="en-US" dirty="0"/>
              <a:t>Q3 Closed charges L1/C2</a:t>
            </a:r>
          </a:p>
          <a:p>
            <a:r>
              <a:rPr lang="en-US" dirty="0"/>
              <a:t>Q3 Open discharges L1/C2</a:t>
            </a:r>
          </a:p>
        </p:txBody>
      </p:sp>
    </p:spTree>
    <p:extLst>
      <p:ext uri="{BB962C8B-B14F-4D97-AF65-F5344CB8AC3E}">
        <p14:creationId xmlns:p14="http://schemas.microsoft.com/office/powerpoint/2010/main" val="332084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0FD6C-BE45-454A-E158-E3026FEE2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FDAA4-652E-A521-F3E0-D2B6C6108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Buck Converter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EE5ABD1-649C-AD6B-B05D-D581A746C3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973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Simulation</a:t>
            </a:r>
          </a:p>
          <a:p>
            <a:r>
              <a:rPr lang="en-US" dirty="0"/>
              <a:t>Adjust duty cycle and load</a:t>
            </a:r>
          </a:p>
          <a:p>
            <a:r>
              <a:rPr lang="en-US" dirty="0"/>
              <a:t>Record </a:t>
            </a:r>
            <a:r>
              <a:rPr lang="en-US" dirty="0" err="1"/>
              <a:t>Vout</a:t>
            </a:r>
            <a:r>
              <a:rPr lang="en-US" dirty="0"/>
              <a:t> DC (average)</a:t>
            </a:r>
          </a:p>
          <a:p>
            <a:r>
              <a:rPr lang="en-US" dirty="0"/>
              <a:t>Record </a:t>
            </a:r>
            <a:r>
              <a:rPr lang="en-US" dirty="0" err="1"/>
              <a:t>Vout</a:t>
            </a:r>
            <a:r>
              <a:rPr lang="en-US" dirty="0"/>
              <a:t> ripple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4204E0-7AB9-29C1-A2A7-B6AF5DB1B6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315331"/>
            <a:ext cx="5584371" cy="280384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4D4DA73-82C4-7C50-CA30-FDF76E0048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462" y="4037695"/>
            <a:ext cx="5019538" cy="2063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384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ABE61-DA74-A2BB-73E0-748D27833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993D-141F-AABC-2111-6C773FDF6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Buck Converter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107674F-157C-78A5-E012-5458B98B65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973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Implementation</a:t>
            </a:r>
          </a:p>
          <a:p>
            <a:r>
              <a:rPr lang="en-US" dirty="0"/>
              <a:t>Adjust duty cycle and load</a:t>
            </a:r>
          </a:p>
          <a:p>
            <a:r>
              <a:rPr lang="en-US" dirty="0"/>
              <a:t>Record </a:t>
            </a:r>
            <a:r>
              <a:rPr lang="en-US" dirty="0" err="1"/>
              <a:t>Vout</a:t>
            </a:r>
            <a:r>
              <a:rPr lang="en-US" dirty="0"/>
              <a:t> DC (average)</a:t>
            </a:r>
          </a:p>
          <a:p>
            <a:r>
              <a:rPr lang="en-US" dirty="0"/>
              <a:t>Record </a:t>
            </a:r>
            <a:r>
              <a:rPr lang="en-US" dirty="0" err="1"/>
              <a:t>Vout</a:t>
            </a:r>
            <a:r>
              <a:rPr lang="en-US" dirty="0"/>
              <a:t> ripple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C3B504-C2B3-85B8-A412-89DDB13AF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4232" y="1367492"/>
            <a:ext cx="5950549" cy="44804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ACA4332-ADED-3ACC-61FD-616526E9DF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552" y="3919229"/>
            <a:ext cx="4845328" cy="1991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749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Turn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2800" dirty="0"/>
              <a:t>Make a record of your response to numbered items below </a:t>
            </a:r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Full Bridge Rectifier Theory</a:t>
            </a:r>
            <a:endParaRPr lang="en-US" altLang="en-US" sz="1600" dirty="0"/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	Steps 1 – 8</a:t>
            </a:r>
            <a:endParaRPr lang="en-US" altLang="en-US" sz="1600" dirty="0"/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Full Bridge Rectifier Simulation</a:t>
            </a:r>
            <a:endParaRPr lang="en-US" altLang="en-US" sz="1600" dirty="0"/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	Table 1</a:t>
            </a:r>
            <a:endParaRPr lang="en-US" altLang="en-US" sz="1600" dirty="0"/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Full Bridge Rectifier I</a:t>
            </a:r>
            <a:r>
              <a:rPr lang="en-US" altLang="en-US" dirty="0" bmk="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mplementation</a:t>
            </a:r>
            <a:endParaRPr lang="en-US" altLang="en-US" sz="1600" dirty="0"/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	Steps 1-7</a:t>
            </a:r>
            <a:endParaRPr lang="en-US" altLang="en-US" sz="1600" dirty="0"/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	Table 1</a:t>
            </a:r>
            <a:endParaRPr lang="en-US" altLang="en-US" sz="1600" dirty="0"/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	Oscilloscope trace with 100Ω and 470Ω load</a:t>
            </a:r>
            <a:endParaRPr lang="en-US" altLang="en-US" sz="1600" dirty="0"/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Buck Converter Theory</a:t>
            </a:r>
            <a:endParaRPr lang="en-US" altLang="en-US" sz="1600" dirty="0"/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	PWM High Steps 1-5</a:t>
            </a:r>
            <a:endParaRPr lang="en-US" altLang="en-US" sz="1600" dirty="0"/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	PWM Low Steps 1-4</a:t>
            </a:r>
            <a:endParaRPr lang="en-US" altLang="en-US" sz="1600" dirty="0"/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Buck Converter Simulation</a:t>
            </a:r>
            <a:endParaRPr lang="en-US" altLang="en-US" sz="1600" dirty="0"/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	Steps 1-6</a:t>
            </a:r>
            <a:endParaRPr lang="en-US" altLang="en-US" sz="1600" dirty="0"/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	Table 3			</a:t>
            </a:r>
            <a:endParaRPr lang="en-US" altLang="en-US" sz="1600" dirty="0"/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Buck Converter Implementation</a:t>
            </a:r>
            <a:endParaRPr lang="en-US" altLang="en-US" sz="1600" dirty="0"/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	Steps 1-4</a:t>
            </a:r>
            <a:endParaRPr lang="en-US" altLang="en-US" sz="1600" dirty="0"/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	Complete Table 4</a:t>
            </a:r>
            <a:endParaRPr lang="en-US" altLang="en-US" sz="1600" dirty="0"/>
          </a:p>
          <a:p>
            <a:pPr marL="0" lvl="0" indent="460375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ea typeface="Cambria" panose="02040503050406030204" pitchFamily="18" charset="0"/>
                <a:cs typeface="Cambria" panose="02040503050406030204" pitchFamily="18" charset="0"/>
              </a:rPr>
              <a:t>Relationships 1-4</a:t>
            </a:r>
            <a:endParaRPr lang="en-US" altLang="en-US" sz="4400" dirty="0"/>
          </a:p>
          <a:p>
            <a:pPr marL="0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571273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3328</TotalTime>
  <Words>369</Words>
  <Application>Microsoft Office PowerPoint</Application>
  <PresentationFormat>Widescreen</PresentationFormat>
  <Paragraphs>84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Cambria</vt:lpstr>
      <vt:lpstr>Gotham</vt:lpstr>
      <vt:lpstr>Gotham Book</vt:lpstr>
      <vt:lpstr>Office Theme</vt:lpstr>
      <vt:lpstr>EENG 385 Full Bridge Rectifier with Buck Converter</vt:lpstr>
      <vt:lpstr>Lab Objectives</vt:lpstr>
      <vt:lpstr>Power Conversion PCB</vt:lpstr>
      <vt:lpstr>Full Bridge Rectifier</vt:lpstr>
      <vt:lpstr>Full Bridge Rectifier</vt:lpstr>
      <vt:lpstr>Mains Step-down transformer</vt:lpstr>
      <vt:lpstr>Full Bridge Rectifier</vt:lpstr>
      <vt:lpstr>Buck Converter</vt:lpstr>
      <vt:lpstr>Buck Converter</vt:lpstr>
      <vt:lpstr>Buck Converter</vt:lpstr>
      <vt:lpstr>Turn In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/>
  <cp:lastModifiedBy>Christopher Coulston</cp:lastModifiedBy>
  <cp:revision>96</cp:revision>
  <dcterms:created xsi:type="dcterms:W3CDTF">2017-08-01T15:06:47Z</dcterms:created>
  <dcterms:modified xsi:type="dcterms:W3CDTF">2026-07-21T19:45:31Z</dcterms:modified>
  <cp:category/>
</cp:coreProperties>
</file>